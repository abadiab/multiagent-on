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0.svg" ContentType="image/svg+xml"/>
  <Override PartName="/ppt/media/image15.svg" ContentType="image/svg+xml"/>
  <Override PartName="/ppt/media/image18.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Lst>
  <p:notesMasterIdLst>
    <p:notesMasterId r:id="rId28"/>
  </p:notesMasterIdLst>
  <p:sldIdLst>
    <p:sldId id="256" r:id="rId3"/>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22110A-4115-EF80-CDC0-C9DC37733169}" name="Nisanur Camuzcu" initials="" userId="S::10902638@polimi.it::4203e3cf-c7bc-4bb4-b079-d58d7a3f1ae5" providerId="AD"/>
  <p188:author id="{6F282F78-9642-E7C8-73D3-5792CD18C0DE}" name="Mëmëdhe Ibrahimi" initials="" userId="S::10563102@polimi.it::378daa95-eeca-4dfa-ac7e-b4832e2f7206" providerId="AD"/>
  <p188:author id="{66DF34EE-6A81-1782-FA05-8415B55127A9}" name="Qiaolun Zhang" initials="" userId="S::10653427@polimi.it::08ce0c54-1845-4dc2-a643-121fe94b02dc" providerId="AD"/>
  <p188:author id="{7FEFF0EF-9BFE-1E48-26D5-52603F9472F8}" name="Nisanur Camuzcu (RIT Student)" initials="" userId="S::nc1138@rit.edu::c819597a-af46-4717-8e3f-12e7ab89c5c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2C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5132CB-B303-0345-BDFA-5C26E3CCADC1}" v="131" dt="2024-11-04T08:52:0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60"/>
    <p:restoredTop sz="80323"/>
  </p:normalViewPr>
  <p:slideViewPr>
    <p:cSldViewPr snapToGrid="0">
      <p:cViewPr varScale="1">
        <p:scale>
          <a:sx n="89" d="100"/>
          <a:sy n="89" d="100"/>
        </p:scale>
        <p:origin x="872" y="168"/>
      </p:cViewPr>
      <p:guideLst/>
    </p:cSldViewPr>
  </p:slideViewPr>
  <p:notesTextViewPr>
    <p:cViewPr>
      <p:scale>
        <a:sx n="130" d="100"/>
        <a:sy n="13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5/10/relationships/revisionInfo" Target="revisionInfo.xml"/><Relationship Id="rId3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EF429E-CBA6-3343-A179-B8F59B0A268B}" type="datetimeFigureOut">
              <a:rPr lang="en-IT" smtClean="0"/>
              <a:t>8/22/26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47C247-8423-E14C-86C4-1D9F3D231954}" type="slidenum">
              <a:rPr lang="en-IT" smtClean="0"/>
              <a:t>‹#›</a:t>
            </a:fld>
            <a:endParaRPr lang="en-IT"/>
          </a:p>
        </p:txBody>
      </p:sp>
    </p:spTree>
    <p:extLst>
      <p:ext uri="{BB962C8B-B14F-4D97-AF65-F5344CB8AC3E}">
        <p14:creationId xmlns:p14="http://schemas.microsoft.com/office/powerpoint/2010/main" val="3753923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[Estimated Time]: 30s</a:t>
            </a:r>
          </a:p>
          <a:p>
            <a:r>
              <a:t>[Key Message]: Welcome the committee and state the thesis research focus.</a:t>
            </a:r>
          </a:p>
          <a:p>
            <a:r>
              <a:t>[Spoken Script]: Good morning members of the committee and Professor Tornatore. Today I present my Master's thesis entitled "Risk-Adaptive Neurosymbolic Intent Planning for Optical Networks: A Pre-Deployment Decision Mechanism with Joint Semantic and QoT Assessment". In this work, we address the challenge of translating high-level operator intent into physically feasible optical configurations using a fail-fast, neurosymbolic pre-deployment pipeline.</a:t>
            </a:r>
          </a:p>
          <a:p>
            <a:r>
              <a:t>[Bridge to Next Slide]: Let us begin with the specific roadmap of problems and solutions covered in this presentation.</a:t>
            </a:r>
          </a:p>
        </p:txBody>
      </p:sp>
      <p:sp>
        <p:nvSpPr>
          <p:cNvPr id="4" name="Slide Number Placeholder 3"/>
          <p:cNvSpPr>
            <a:spLocks noGrp="1"/>
          </p:cNvSpPr>
          <p:nvPr>
            <p:ph type="sldNum" sz="quarter" idx="5"/>
          </p:nvPr>
        </p:nvSpPr>
        <p:spPr/>
        <p:txBody>
          <a:bodyPr/>
          <a:lstStyle/>
          <a:p>
            <a:fld id="{ED47C247-8423-E14C-86C4-1D9F3D231954}" type="slidenum">
              <a:rPr lang="en-IT" smtClean="0"/>
              <a:t>1</a:t>
            </a:fld>
            <a:endParaRPr lang="en-IT"/>
          </a:p>
        </p:txBody>
      </p:sp>
    </p:spTree>
    <p:extLst>
      <p:ext uri="{BB962C8B-B14F-4D97-AF65-F5344CB8AC3E}">
        <p14:creationId xmlns:p14="http://schemas.microsoft.com/office/powerpoint/2010/main" val="2518709942"/>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50s</a:t>
            </a:r>
          </a:p>
          <a:p>
            <a:r>
              <a:t>[Key Message]: Present a thesis-specific narrative rather than a generic table of contents.</a:t>
            </a:r>
          </a:p>
          <a:p>
            <a:r>
              <a:t>[Spoken Script]: Rather than a generic agenda, our presentation directly tracks the engineering challenges of autonomous optical networking. We begin by examining why general-purpose LLMs fail when controlling optical backbones. Next, we present our neurosymbolic architecture that cleanly separates natural language reasoning from optical physics. We then delve into the pre-deployment risk gates that protect the physical network before showing experimental validation on a 17-node optical topology and concluding with our primary takeaways.</a:t>
            </a:r>
          </a:p>
          <a:p>
            <a:r>
              <a:t>[Bridge to Next Slide]: Let us examine the motivation behind Intent-Based Networking in optical infrastructures.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The promise of autonomous IBN is compelling, but optical networks impose strict physical constraints.</a:t>
            </a:r>
          </a:p>
          <a:p>
            <a:r>
              <a:t>[Spoken Script]: Optical networks form the backbone of modern telecommunications, carrying terabits of traffic across core routes. Traditionally, provisioning lightpaths requires expert network operators to manually write vendor-specific RESTConf payloads or CLI scripts. Intent-Based Networking promises to revolutionize this by allowing operators to express high-level operational goals in natural language. While this vision is promising, direct deployment of Large Language Models to optical control planes exposes critical vulnerabilities.</a:t>
            </a:r>
          </a:p>
          <a:p>
            <a:r>
              <a:t>[Bridge to Next Slide]: Let us look at a concrete illustrative failure example to see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Standard LLMs cannot calculate optical physics and choke on massive topology payloads.</a:t>
            </a:r>
          </a:p>
          <a:p>
            <a:r>
              <a:t>[Spoken Script]: Consider what happens if an operator asks a standard LLM to provision a 400G demand. First, we face Token Budget Saturation: dumping full topology states with hundreds of ROADMs and EDFA amplifier parameters degrades the LLM's attention, causing it to drop explicit constraints like link exclusions. Second, and more dangerously, LLMs suffer from Hallucinated Physics. Because they predict text probabilities rather than calculating nonlinear optical impairments, they will confidently propose routes that drop light below the required GSNR threshold, leading to service disruption.</a:t>
            </a:r>
          </a:p>
          <a:p>
            <a:r>
              <a:t>[Bridge to Next Slide]: This fundamental gap defines our formal problem statement.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Formally state the problem across three distinct pillars: inputs, constraints, and objectives.</a:t>
            </a:r>
          </a:p>
          <a:p>
            <a:r>
              <a:t>[Spoken Script]: To tackle this challenge rigorously, we formalize the problem into three concrete pillars. Our system receives an unstructured operator intent, the physical topology graph G(V, E), and optical layer parameters. It must satisfy two orthogonal constraint classes: semantic consistency to prevent intent drift, and deterministic optical physics, specifically GSNR and receiver power thresholds. Our core objective is simple yet strict: ensure zero physically unfeasible configurations ever reach the network controller, while engaging the operator only when genuine ambiguity exists.</a:t>
            </a:r>
          </a:p>
          <a:p>
            <a:r>
              <a:t>[Bridge to Next Slide]: To achieve this, we introduce our core neurosymbolic architectural philosophy.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State the thesis contributions explicitly: decoupling probabilistic reasoning from deterministic calculations.</a:t>
            </a:r>
          </a:p>
          <a:p>
            <a:r>
              <a:t>[Spoken Script]: Our core architectural principle is: 'LLMs reason, deterministic tools calculate'. We forbid the LLM from performing math or path exploration. Instead, the LLM acts solely as a semantic translator, converting natural language into formal Planning Domain Definition Language, or PDDL. This enables our four key contributions: a neurosymbolic pipeline, a scoped Optical GraphRAG mechanism, sequential pre-deployment risk gates, and an auditable LangGraph state machine.</a:t>
            </a:r>
          </a:p>
          <a:p>
            <a:r>
              <a:t>[Bridge to Next Slide]: Let us trace the execution of this pipeline from end to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Walk through the clean 7-phase pipeline, highlighting the sequential fail-fast flow.</a:t>
            </a:r>
          </a:p>
          <a:p>
            <a:r>
              <a:t>[Spoken Script]: Here we see the complete 7-phase execution pipeline. The operator's intent enters Phase 1 where it is enriched with optical standards. In Phase 2, the LLM generates PDDL constraints. Crucially, before running heavy graph solvers or physics tools, Phase 3 evaluates semantic uncertainty. If semantically sound, Phase 4 extracts candidate routes via symbolic graph algorithms. Phase 5 evaluates physical feasibility using a deterministic GN-model. Finally, the Risk-Adaptive Decision Gate verifies physical safety before synthesizing the final auditable report.</a:t>
            </a:r>
          </a:p>
          <a:p>
            <a:r>
              <a:t>[Bridge to Next Slide]: Let us inspect how Phase 4 solves the token saturation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50s</a:t>
            </a:r>
          </a:p>
          <a:p>
            <a:r>
              <a:t>[Key Message]: Scoped GraphRAG extracts only relevant k-hop subtopologies, eliminating attention degradation.</a:t>
            </a:r>
          </a:p>
          <a:p>
            <a:r>
              <a:t>[Spoken Script]: To solve token budget saturation, we implement Scoped Optical GraphRAG. Instead of flooding the LLM context with hundreds of network nodes and links, our deterministic graph engine extracts only the k-hop neighborhood bounding the source and destination. This reduces the prompt token footprint by over 75 percent, completely eliminating lost-in-the-middle phenomena while keeping the graph search computationally light.</a:t>
            </a:r>
          </a:p>
          <a:p>
            <a:r>
              <a:t>[Bridge to Next Slide]: Now let us examine how we eliminate semantic drift before any physics calculations occur.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The semantic gate prevents unverified assumptions from entering downstream tools.</a:t>
            </a:r>
          </a:p>
          <a:p>
            <a:r>
              <a:t>[Spoken Script]: To eliminate semantic drift, we introduce a dual-layer Semantic Uncertainty Gate, U_sem. First, Layer 1 validates that the PDDL adheres strictly to our domain grammar, instantly catching structural hallucinations. Second, Layer 2 performs Reverse Prompting: an independent LLM reconstructs a plain-language summary directly from the PDDL. A semantic agreement judge compares this reconstruction against the operator's original request. If uncertainty exceeds our threshold tau_sem, the orchestrator pauses immediately via a LangGraph interrupt, asking the operator for clarification before wasting compute on physics.</a:t>
            </a:r>
          </a:p>
          <a:p>
            <a:r>
              <a:t>[Bridge to Next Slide]: Once semantic validity is established, how do we make the final pre-deployment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The RADG function mathematically maps semantic and physical signals to optimal actions.</a:t>
            </a:r>
          </a:p>
          <a:p>
            <a:r>
              <a:t>[Spoken Script]: The cornerstone of our pre-deployment safety is the Risk-Adaptive Decision Gate, or RADG. We formalize this as a piecewise decision function, D. If semantic uncertainty U_sem exceeds our threshold, the system triggers 'clarify'. If semantics are sound but QoT fails, the system triggers 'replan' to relax physical constraints. Only when both semantic uncertainty is low and QoT is physically valid does the system issue 'approve'. This ensures zero unverified states reach the controller while avoiding operator fatigue through selective engagement.</a:t>
            </a:r>
          </a:p>
          <a:p>
            <a:r>
              <a:t>[Bridge to Next Slide]: Let us examine the physical calculation engine powering QoT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Pure Python GN-model computes real GSNR and receiver power deterministically in milliseconds.</a:t>
            </a:r>
          </a:p>
          <a:p>
            <a:r>
              <a:t>[Spoken Script]: In Phase 5, candidate paths produced by the symbolic solver are validated against the physical layer. We port the analytical Gaussian Noise model into pure Python. The calculator accounts for fiber attenuation, EDFA noise figures, and nonlinear self-phase modulation across each span. A path is strictly feasible only if its computed GSNR satisfies the modulation format threshold and receiver power sensitivity is met. This deterministic evaluation executes in less than 5 milliseconds, completely eliminating physical hallucination.</a:t>
            </a:r>
          </a:p>
          <a:p>
            <a:r>
              <a:t>[Bridge to Next Slide]: Let us see how this entire system is deployed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50s</a:t>
            </a:r>
          </a:p>
          <a:p>
            <a:r>
              <a:t>[Key Message]: Realistic evaluation using the standard 17-node German optical topology and RESTConf testbed.</a:t>
            </a:r>
          </a:p>
          <a:p>
            <a:r>
              <a:t>[Spoken Script]: We validate our architecture on the 17-node German backbone network, a standard benchmark in optical research consisting of 26 bidirectional fiber spans. All spans model standard SMF-28 fiber with realistic attenuation, dispersion, and EDFA noise figures. The orchestrator is implemented in Python using LangGraph, interfacing with the optical testbed via RESTConf APIs, and benchmarked using state-of-the-art LLMs as semantic translators.</a:t>
            </a:r>
          </a:p>
          <a:p>
            <a:r>
              <a:t>[Bridge to Next Slide]: What scenarios and metrics do we use to evaluate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Rigorous benchmarking across 100 diverse intent scenarios against LLM-only and rule-based baselines.</a:t>
            </a:r>
          </a:p>
          <a:p>
            <a:r>
              <a:t>[Spoken Script]: Our evaluation framework tests 100 diverse intent requests across four operational categories: nominal intents, ambiguous intents with missing constraints, physically unfeasible demands, and adversarial prompts designed to induce hallucinations. We compare our neurosymbolic architecture against two baselines: an unconstrained LLM-only pipeline, and a rigid rule-based system. We measure three core dimensions: safety against unfeasible deployments, reduction in operator fatigue, and end-to-end execution latency.</a:t>
            </a:r>
          </a:p>
          <a:p>
            <a:r>
              <a:t>[Bridge to Next Slide]: Let us analyze the key findings and trade-offs.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100% pre-deployment safety, 70% reduction in operator fatigue, and sub-second deterministic compute.</a:t>
            </a:r>
          </a:p>
          <a:p>
            <a:r>
              <a:t>[Spoken Script]: The experimental results validate our core hypothesis. Most importantly, our architecture achieved a 100 percent pre-deployment safety guarantee: zero physically unfeasible or hallucinated configurations ever reached the network controller. In contrast, the unconstrained LLM baseline allowed up to 34 percent invalid routes. Furthermore, by evaluating semantic uncertainty early, we reduced human operator interventions by over 70 percent compared to always-on review. Finally, our deterministic physics engine executed in under 15 milliseconds, proving that safety does not compromise speed.</a:t>
            </a:r>
          </a:p>
          <a:p>
            <a:r>
              <a:t>[Bridge to Next Slide]: Let us summarize the primary conclusions of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Summarize the four core engineering takeaways of the thesis.</a:t>
            </a:r>
          </a:p>
          <a:p>
            <a:r>
              <a:t>[Spoken Script]: In conclusion, this thesis demonstrates that neurosymbolic decoupling is essential for deploying AI in optical networks. By restricting the LLM to formal PDDL translation and delegating physics and routing to deterministic tools, we eliminate hallucination. Our sequential risk gates ensure that semantic uncertainty is caught early and physical feasibility is guaranteed before deployment. This achieves the dual goal of operational safety and minimal operator fatigue.</a:t>
            </a:r>
          </a:p>
          <a:p>
            <a:r>
              <a:t>[Bridge to Next Slide]: Finally, let us review future research avenues and conclude.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45s</a:t>
            </a:r>
          </a:p>
          <a:p>
            <a:r>
              <a:t>[Key Message]: Thank the committee, outline future research directions (joint compute scheduling), and open Q&amp;A.</a:t>
            </a:r>
          </a:p>
          <a:p>
            <a:r>
              <a:t>[Spoken Script]: Looking forward, our immediate next step is extending this PDDL framework to joint routing and compute scheduling, coordinating optical lightpaths with distributed data center GPU workloads. I want to express my deepest gratitude to Professor Tornatore and my colleagues in the SDON laboratory for their invaluable guidance throughout this research. Thank you very much for your time and attention.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E1A2D-A28B-8DCE-F8CD-3A36614722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481941FA-6233-C929-4A35-3015D7BF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E37D4518-85E3-B4E3-4E04-D41647C72430}"/>
              </a:ext>
            </a:extLst>
          </p:cNvPr>
          <p:cNvSpPr>
            <a:spLocks noGrp="1"/>
          </p:cNvSpPr>
          <p:nvPr>
            <p:ph type="dt" sz="half" idx="10"/>
          </p:nvPr>
        </p:nvSpPr>
        <p:spPr>
          <a:xfrm>
            <a:off x="838200" y="6356350"/>
            <a:ext cx="2743200" cy="365125"/>
          </a:xfrm>
          <a:prstGeom prst="rect">
            <a:avLst/>
          </a:prstGeom>
        </p:spPr>
        <p:txBody>
          <a:bodyPr/>
          <a:lstStyle/>
          <a:p>
            <a:fld id="{62252261-78BC-174D-9E4D-3C7C23CF6EA8}" type="datetime1">
              <a:rPr lang="it-IT" smtClean="0"/>
              <a:t>22/08/26</a:t>
            </a:fld>
            <a:endParaRPr lang="en-IT"/>
          </a:p>
        </p:txBody>
      </p:sp>
      <p:sp>
        <p:nvSpPr>
          <p:cNvPr id="5" name="Footer Placeholder 4">
            <a:extLst>
              <a:ext uri="{FF2B5EF4-FFF2-40B4-BE49-F238E27FC236}">
                <a16:creationId xmlns:a16="http://schemas.microsoft.com/office/drawing/2014/main" id="{71D10096-CCFB-C510-280F-7BCF6714F999}"/>
              </a:ext>
            </a:extLst>
          </p:cNvPr>
          <p:cNvSpPr>
            <a:spLocks noGrp="1"/>
          </p:cNvSpPr>
          <p:nvPr>
            <p:ph type="ftr" sz="quarter" idx="11"/>
          </p:nvPr>
        </p:nvSpPr>
        <p:spPr>
          <a:xfrm>
            <a:off x="3450770" y="6356350"/>
            <a:ext cx="5315857" cy="365125"/>
          </a:xfrm>
        </p:spPr>
        <p:txBody>
          <a:body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C71417EC-0760-A06D-A31C-77EECA89C2C9}"/>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Tree>
    <p:extLst>
      <p:ext uri="{BB962C8B-B14F-4D97-AF65-F5344CB8AC3E}">
        <p14:creationId xmlns:p14="http://schemas.microsoft.com/office/powerpoint/2010/main" val="4175781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45A3-DB53-7232-DCE6-48C997AC266D}"/>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54E711CE-2751-D8C8-01C1-3F4D3650A92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C3DEAE9-8797-C5E2-7A43-1B78189A9F07}"/>
              </a:ext>
            </a:extLst>
          </p:cNvPr>
          <p:cNvSpPr>
            <a:spLocks noGrp="1"/>
          </p:cNvSpPr>
          <p:nvPr>
            <p:ph type="dt" sz="half" idx="10"/>
          </p:nvPr>
        </p:nvSpPr>
        <p:spPr>
          <a:xfrm>
            <a:off x="8610600" y="6356349"/>
            <a:ext cx="2743200" cy="365125"/>
          </a:xfrm>
          <a:prstGeom prst="rect">
            <a:avLst/>
          </a:prstGeom>
        </p:spPr>
        <p:txBody>
          <a:bodyPr/>
          <a:lstStyle/>
          <a:p>
            <a:fld id="{006CDE73-ABFC-9542-A114-3996260FB034}" type="datetime1">
              <a:rPr lang="it-IT" smtClean="0"/>
              <a:t>22/08/26</a:t>
            </a:fld>
            <a:endParaRPr lang="en-IT" dirty="0"/>
          </a:p>
        </p:txBody>
      </p:sp>
      <p:sp>
        <p:nvSpPr>
          <p:cNvPr id="5" name="Footer Placeholder 4">
            <a:extLst>
              <a:ext uri="{FF2B5EF4-FFF2-40B4-BE49-F238E27FC236}">
                <a16:creationId xmlns:a16="http://schemas.microsoft.com/office/drawing/2014/main" id="{FF98E46E-DD16-DABF-9446-63C548C05A22}"/>
              </a:ext>
            </a:extLst>
          </p:cNvPr>
          <p:cNvSpPr>
            <a:spLocks noGrp="1"/>
          </p:cNvSpPr>
          <p:nvPr>
            <p:ph type="ftr" sz="quarter" idx="11"/>
          </p:nvPr>
        </p:nvSpPr>
        <p:spPr>
          <a:xfrm>
            <a:off x="2981959" y="6356350"/>
            <a:ext cx="5479869" cy="365125"/>
          </a:xfrm>
        </p:spPr>
        <p:txBody>
          <a:body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DB0D4DF4-B7F8-945A-A82C-2BDD96B8DB7F}"/>
              </a:ext>
            </a:extLst>
          </p:cNvPr>
          <p:cNvSpPr>
            <a:spLocks noGrp="1"/>
          </p:cNvSpPr>
          <p:nvPr>
            <p:ph type="sldNum" sz="quarter" idx="12"/>
          </p:nvPr>
        </p:nvSpPr>
        <p:spPr>
          <a:xfrm>
            <a:off x="238760" y="6492875"/>
            <a:ext cx="2743200" cy="365125"/>
          </a:xfrm>
          <a:prstGeom prst="rect">
            <a:avLst/>
          </a:prstGeom>
        </p:spPr>
        <p:txBody>
          <a:bodyPr/>
          <a:lstStyle>
            <a:lvl1pPr algn="l">
              <a:defRPr/>
            </a:lvl1pPr>
          </a:lstStyle>
          <a:p>
            <a:fld id="{A5A6EFC7-8735-7E44-BFA7-969B9F5B451D}" type="slidenum">
              <a:rPr lang="en-IT" smtClean="0"/>
              <a:pPr/>
              <a:t>‹#›</a:t>
            </a:fld>
            <a:endParaRPr lang="en-IT" dirty="0"/>
          </a:p>
        </p:txBody>
      </p:sp>
    </p:spTree>
    <p:extLst>
      <p:ext uri="{BB962C8B-B14F-4D97-AF65-F5344CB8AC3E}">
        <p14:creationId xmlns:p14="http://schemas.microsoft.com/office/powerpoint/2010/main" val="727437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15FE4-7615-7053-C87D-7B3EAD191E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583361DA-7CFD-4E8A-B29D-1E5EBA865B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11AA7B8-6A0A-484B-DB20-3672E9E6FE2F}"/>
              </a:ext>
            </a:extLst>
          </p:cNvPr>
          <p:cNvSpPr>
            <a:spLocks noGrp="1"/>
          </p:cNvSpPr>
          <p:nvPr>
            <p:ph type="dt" sz="half" idx="10"/>
          </p:nvPr>
        </p:nvSpPr>
        <p:spPr>
          <a:xfrm>
            <a:off x="838200" y="6356350"/>
            <a:ext cx="2743200" cy="365125"/>
          </a:xfrm>
          <a:prstGeom prst="rect">
            <a:avLst/>
          </a:prstGeom>
        </p:spPr>
        <p:txBody>
          <a:bodyPr/>
          <a:lstStyle/>
          <a:p>
            <a:fld id="{8A5D7195-E216-0243-9A25-979556D8AFAD}" type="datetime1">
              <a:rPr lang="it-IT" smtClean="0"/>
              <a:t>22/08/26</a:t>
            </a:fld>
            <a:endParaRPr lang="en-IT"/>
          </a:p>
        </p:txBody>
      </p:sp>
      <p:sp>
        <p:nvSpPr>
          <p:cNvPr id="5" name="Footer Placeholder 4">
            <a:extLst>
              <a:ext uri="{FF2B5EF4-FFF2-40B4-BE49-F238E27FC236}">
                <a16:creationId xmlns:a16="http://schemas.microsoft.com/office/drawing/2014/main" id="{98B35D1B-417F-0FAB-832D-8ED8027D0772}"/>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11723421-4487-F481-EC62-866FB11B26FF}"/>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Tree>
    <p:extLst>
      <p:ext uri="{BB962C8B-B14F-4D97-AF65-F5344CB8AC3E}">
        <p14:creationId xmlns:p14="http://schemas.microsoft.com/office/powerpoint/2010/main" val="2099170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D058-E209-763C-1074-27BC88329552}"/>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763427EA-AE02-BF1A-395C-9CA850AF077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3452AE9C-0C65-E9F1-A117-0627F27303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29935120-6ADD-54F3-FF72-92572B12F19F}"/>
              </a:ext>
            </a:extLst>
          </p:cNvPr>
          <p:cNvSpPr>
            <a:spLocks noGrp="1"/>
          </p:cNvSpPr>
          <p:nvPr>
            <p:ph type="dt" sz="half" idx="10"/>
          </p:nvPr>
        </p:nvSpPr>
        <p:spPr>
          <a:xfrm>
            <a:off x="838200" y="6356350"/>
            <a:ext cx="2743200" cy="365125"/>
          </a:xfrm>
          <a:prstGeom prst="rect">
            <a:avLst/>
          </a:prstGeom>
        </p:spPr>
        <p:txBody>
          <a:bodyPr/>
          <a:lstStyle/>
          <a:p>
            <a:fld id="{A9D17A0B-D512-024B-9B08-1CA57F07905B}" type="datetime1">
              <a:rPr lang="it-IT" smtClean="0"/>
              <a:t>22/08/26</a:t>
            </a:fld>
            <a:endParaRPr lang="en-IT"/>
          </a:p>
        </p:txBody>
      </p:sp>
      <p:sp>
        <p:nvSpPr>
          <p:cNvPr id="7" name="Slide Number Placeholder 6">
            <a:extLst>
              <a:ext uri="{FF2B5EF4-FFF2-40B4-BE49-F238E27FC236}">
                <a16:creationId xmlns:a16="http://schemas.microsoft.com/office/drawing/2014/main" id="{0908AA54-77B7-55EC-45A2-DBCF2B33F4BE}"/>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8" name="Footer Placeholder 4">
            <a:extLst>
              <a:ext uri="{FF2B5EF4-FFF2-40B4-BE49-F238E27FC236}">
                <a16:creationId xmlns:a16="http://schemas.microsoft.com/office/drawing/2014/main" id="{3F278F72-1D01-4D3D-7611-B0D8025B72A7}"/>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542613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A41D-AE58-4283-9FE5-38E862BE035D}"/>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26C646FC-65AE-9540-AAE3-B6B6CD9582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8CBA447-66F8-A34A-B4CE-410DAC50DC8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B5285D13-3F53-7827-EAED-8E06DE38F7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1FFD454-1F8A-95A0-CF52-0CFD2DAED3E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0A9E2329-C618-562E-2A20-59EDBC75D5FD}"/>
              </a:ext>
            </a:extLst>
          </p:cNvPr>
          <p:cNvSpPr>
            <a:spLocks noGrp="1"/>
          </p:cNvSpPr>
          <p:nvPr>
            <p:ph type="dt" sz="half" idx="10"/>
          </p:nvPr>
        </p:nvSpPr>
        <p:spPr>
          <a:xfrm>
            <a:off x="838200" y="6356350"/>
            <a:ext cx="2743200" cy="365125"/>
          </a:xfrm>
          <a:prstGeom prst="rect">
            <a:avLst/>
          </a:prstGeom>
        </p:spPr>
        <p:txBody>
          <a:bodyPr/>
          <a:lstStyle/>
          <a:p>
            <a:fld id="{95EDCAF1-B061-6943-9C47-57949C20D532}" type="datetime1">
              <a:rPr lang="it-IT" smtClean="0"/>
              <a:t>22/08/26</a:t>
            </a:fld>
            <a:endParaRPr lang="en-IT"/>
          </a:p>
        </p:txBody>
      </p:sp>
      <p:sp>
        <p:nvSpPr>
          <p:cNvPr id="9" name="Slide Number Placeholder 8">
            <a:extLst>
              <a:ext uri="{FF2B5EF4-FFF2-40B4-BE49-F238E27FC236}">
                <a16:creationId xmlns:a16="http://schemas.microsoft.com/office/drawing/2014/main" id="{F757708F-3711-3F7E-9E02-BEDC205AAFB8}"/>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10" name="Footer Placeholder 4">
            <a:extLst>
              <a:ext uri="{FF2B5EF4-FFF2-40B4-BE49-F238E27FC236}">
                <a16:creationId xmlns:a16="http://schemas.microsoft.com/office/drawing/2014/main" id="{83E3912A-2D33-7851-1F0D-11E8BEC55286}"/>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17903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AD59E-DED0-94B6-7942-B6F374AA8488}"/>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E52467CD-2DC2-6366-45D6-2CCDB518BA88}"/>
              </a:ext>
            </a:extLst>
          </p:cNvPr>
          <p:cNvSpPr>
            <a:spLocks noGrp="1"/>
          </p:cNvSpPr>
          <p:nvPr>
            <p:ph type="dt" sz="half" idx="10"/>
          </p:nvPr>
        </p:nvSpPr>
        <p:spPr>
          <a:xfrm>
            <a:off x="838200" y="6356350"/>
            <a:ext cx="2743200" cy="365125"/>
          </a:xfrm>
          <a:prstGeom prst="rect">
            <a:avLst/>
          </a:prstGeom>
        </p:spPr>
        <p:txBody>
          <a:bodyPr/>
          <a:lstStyle/>
          <a:p>
            <a:fld id="{EEE5C188-2720-9C44-9A77-56CA9B44ACEC}" type="datetime1">
              <a:rPr lang="it-IT" smtClean="0"/>
              <a:t>22/08/26</a:t>
            </a:fld>
            <a:endParaRPr lang="en-IT"/>
          </a:p>
        </p:txBody>
      </p:sp>
      <p:sp>
        <p:nvSpPr>
          <p:cNvPr id="5" name="Slide Number Placeholder 4">
            <a:extLst>
              <a:ext uri="{FF2B5EF4-FFF2-40B4-BE49-F238E27FC236}">
                <a16:creationId xmlns:a16="http://schemas.microsoft.com/office/drawing/2014/main" id="{DA139705-E059-F9C6-09CD-4B4883ADE63C}"/>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6" name="Footer Placeholder 4">
            <a:extLst>
              <a:ext uri="{FF2B5EF4-FFF2-40B4-BE49-F238E27FC236}">
                <a16:creationId xmlns:a16="http://schemas.microsoft.com/office/drawing/2014/main" id="{3F46C72A-1265-C865-3881-B139F1F4A07D}"/>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178888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37F2F6-9A71-F78A-E34E-A7407A26FBBE}"/>
              </a:ext>
            </a:extLst>
          </p:cNvPr>
          <p:cNvSpPr>
            <a:spLocks noGrp="1"/>
          </p:cNvSpPr>
          <p:nvPr>
            <p:ph type="dt" sz="half" idx="10"/>
          </p:nvPr>
        </p:nvSpPr>
        <p:spPr>
          <a:xfrm>
            <a:off x="838200" y="6356350"/>
            <a:ext cx="2743200" cy="365125"/>
          </a:xfrm>
          <a:prstGeom prst="rect">
            <a:avLst/>
          </a:prstGeom>
        </p:spPr>
        <p:txBody>
          <a:bodyPr/>
          <a:lstStyle/>
          <a:p>
            <a:fld id="{776EEC19-AC26-7944-89E8-2338C684BFDA}" type="datetime1">
              <a:rPr lang="it-IT" smtClean="0"/>
              <a:t>22/08/26</a:t>
            </a:fld>
            <a:endParaRPr lang="en-IT"/>
          </a:p>
        </p:txBody>
      </p:sp>
      <p:sp>
        <p:nvSpPr>
          <p:cNvPr id="4" name="Slide Number Placeholder 3">
            <a:extLst>
              <a:ext uri="{FF2B5EF4-FFF2-40B4-BE49-F238E27FC236}">
                <a16:creationId xmlns:a16="http://schemas.microsoft.com/office/drawing/2014/main" id="{D37EE5DE-19B5-9906-BCEB-3C29D0EFD4A5}"/>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5" name="Footer Placeholder 4">
            <a:extLst>
              <a:ext uri="{FF2B5EF4-FFF2-40B4-BE49-F238E27FC236}">
                <a16:creationId xmlns:a16="http://schemas.microsoft.com/office/drawing/2014/main" id="{1A9EC518-9367-34F2-5D3B-E1F451C770B3}"/>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1642830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739B0-3D54-1487-E4CA-3697B8C81C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58608E19-D8E6-1FA9-E143-37620ABC17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66A41659-0DF5-30DF-4E75-897B35082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DA7FC6-A339-D605-800D-AB501AB8E237}"/>
              </a:ext>
            </a:extLst>
          </p:cNvPr>
          <p:cNvSpPr>
            <a:spLocks noGrp="1"/>
          </p:cNvSpPr>
          <p:nvPr>
            <p:ph type="dt" sz="half" idx="10"/>
          </p:nvPr>
        </p:nvSpPr>
        <p:spPr>
          <a:xfrm>
            <a:off x="838200" y="6356350"/>
            <a:ext cx="2743200" cy="365125"/>
          </a:xfrm>
          <a:prstGeom prst="rect">
            <a:avLst/>
          </a:prstGeom>
        </p:spPr>
        <p:txBody>
          <a:bodyPr/>
          <a:lstStyle/>
          <a:p>
            <a:fld id="{613104F7-4FAA-A745-88CD-DCDF4F2A4B12}" type="datetime1">
              <a:rPr lang="it-IT" smtClean="0"/>
              <a:t>22/08/26</a:t>
            </a:fld>
            <a:endParaRPr lang="en-IT"/>
          </a:p>
        </p:txBody>
      </p:sp>
      <p:sp>
        <p:nvSpPr>
          <p:cNvPr id="7" name="Slide Number Placeholder 6">
            <a:extLst>
              <a:ext uri="{FF2B5EF4-FFF2-40B4-BE49-F238E27FC236}">
                <a16:creationId xmlns:a16="http://schemas.microsoft.com/office/drawing/2014/main" id="{718E942D-4B1F-ED75-AE8B-F9BD5DCEA5B9}"/>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8" name="Footer Placeholder 4">
            <a:extLst>
              <a:ext uri="{FF2B5EF4-FFF2-40B4-BE49-F238E27FC236}">
                <a16:creationId xmlns:a16="http://schemas.microsoft.com/office/drawing/2014/main" id="{19A6D227-1513-F093-3E45-E53F91D851AC}"/>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2586914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EF85-63B8-9971-2219-6017CE8033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58CA7183-DD42-C215-876D-0F0184CD3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247EEB28-6818-7251-B7EB-DB3B1CE706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04FDCE-E9E1-5CD0-F177-B2172C0E4810}"/>
              </a:ext>
            </a:extLst>
          </p:cNvPr>
          <p:cNvSpPr>
            <a:spLocks noGrp="1"/>
          </p:cNvSpPr>
          <p:nvPr>
            <p:ph type="dt" sz="half" idx="10"/>
          </p:nvPr>
        </p:nvSpPr>
        <p:spPr>
          <a:xfrm>
            <a:off x="838200" y="6356350"/>
            <a:ext cx="2743200" cy="365125"/>
          </a:xfrm>
          <a:prstGeom prst="rect">
            <a:avLst/>
          </a:prstGeom>
        </p:spPr>
        <p:txBody>
          <a:bodyPr/>
          <a:lstStyle/>
          <a:p>
            <a:fld id="{7C8D58A7-0DEC-544E-993C-AFFBCEE6AD8C}" type="datetime1">
              <a:rPr lang="it-IT" smtClean="0"/>
              <a:t>22/08/26</a:t>
            </a:fld>
            <a:endParaRPr lang="en-IT"/>
          </a:p>
        </p:txBody>
      </p:sp>
      <p:sp>
        <p:nvSpPr>
          <p:cNvPr id="7" name="Slide Number Placeholder 6">
            <a:extLst>
              <a:ext uri="{FF2B5EF4-FFF2-40B4-BE49-F238E27FC236}">
                <a16:creationId xmlns:a16="http://schemas.microsoft.com/office/drawing/2014/main" id="{B99B9D2A-F1F9-4801-9581-9D2C9983435D}"/>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8" name="Footer Placeholder 4">
            <a:extLst>
              <a:ext uri="{FF2B5EF4-FFF2-40B4-BE49-F238E27FC236}">
                <a16:creationId xmlns:a16="http://schemas.microsoft.com/office/drawing/2014/main" id="{9C59E5F1-54C6-6BC1-CCB9-2090DAE5254E}"/>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385183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28ED-19A6-5713-2EDB-85B45D159DF6}"/>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AA0012C7-8481-28BF-2D59-AD779B2C88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BAD4752-9552-3601-95FE-2F50896840F8}"/>
              </a:ext>
            </a:extLst>
          </p:cNvPr>
          <p:cNvSpPr>
            <a:spLocks noGrp="1"/>
          </p:cNvSpPr>
          <p:nvPr>
            <p:ph type="dt" sz="half" idx="10"/>
          </p:nvPr>
        </p:nvSpPr>
        <p:spPr>
          <a:xfrm>
            <a:off x="838200" y="6356350"/>
            <a:ext cx="2743200" cy="365125"/>
          </a:xfrm>
          <a:prstGeom prst="rect">
            <a:avLst/>
          </a:prstGeom>
        </p:spPr>
        <p:txBody>
          <a:bodyPr/>
          <a:lstStyle/>
          <a:p>
            <a:fld id="{C032C417-D84C-8940-ABEE-FD81EA567FCD}" type="datetime1">
              <a:rPr lang="it-IT" smtClean="0"/>
              <a:t>22/08/26</a:t>
            </a:fld>
            <a:endParaRPr lang="en-IT"/>
          </a:p>
        </p:txBody>
      </p:sp>
      <p:sp>
        <p:nvSpPr>
          <p:cNvPr id="6" name="Slide Number Placeholder 5">
            <a:extLst>
              <a:ext uri="{FF2B5EF4-FFF2-40B4-BE49-F238E27FC236}">
                <a16:creationId xmlns:a16="http://schemas.microsoft.com/office/drawing/2014/main" id="{1ACE12AA-4F19-116B-7C36-9D954CDDB804}"/>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7" name="Footer Placeholder 4">
            <a:extLst>
              <a:ext uri="{FF2B5EF4-FFF2-40B4-BE49-F238E27FC236}">
                <a16:creationId xmlns:a16="http://schemas.microsoft.com/office/drawing/2014/main" id="{85C2FBC6-CA8F-5D38-BE75-7AC6C11EF33D}"/>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122304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96AE1-B22B-990F-6CA8-76950F8F9D8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48524D0D-06F1-F5E7-552A-BE0E14435A3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84DDF309-C3D0-9C11-4F9F-01FDDDD14D37}"/>
              </a:ext>
            </a:extLst>
          </p:cNvPr>
          <p:cNvSpPr>
            <a:spLocks noGrp="1"/>
          </p:cNvSpPr>
          <p:nvPr>
            <p:ph type="dt" sz="half" idx="10"/>
          </p:nvPr>
        </p:nvSpPr>
        <p:spPr>
          <a:xfrm>
            <a:off x="838200" y="6356350"/>
            <a:ext cx="2743200" cy="365125"/>
          </a:xfrm>
          <a:prstGeom prst="rect">
            <a:avLst/>
          </a:prstGeom>
        </p:spPr>
        <p:txBody>
          <a:bodyPr/>
          <a:lstStyle/>
          <a:p>
            <a:fld id="{13ECEAFF-2F00-4F47-BAD2-CBF52B38C442}" type="datetime1">
              <a:rPr lang="it-IT" smtClean="0"/>
              <a:t>22/08/26</a:t>
            </a:fld>
            <a:endParaRPr lang="en-IT"/>
          </a:p>
        </p:txBody>
      </p:sp>
      <p:sp>
        <p:nvSpPr>
          <p:cNvPr id="6" name="Slide Number Placeholder 5">
            <a:extLst>
              <a:ext uri="{FF2B5EF4-FFF2-40B4-BE49-F238E27FC236}">
                <a16:creationId xmlns:a16="http://schemas.microsoft.com/office/drawing/2014/main" id="{7C635D93-F89D-6E84-5C3E-D3528BAECD11}"/>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7" name="Footer Placeholder 4">
            <a:extLst>
              <a:ext uri="{FF2B5EF4-FFF2-40B4-BE49-F238E27FC236}">
                <a16:creationId xmlns:a16="http://schemas.microsoft.com/office/drawing/2014/main" id="{7CFB9469-1EE1-4BD4-D5DD-26B86E540C0A}"/>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866072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1 - Blank">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2CC8E39-9A4E-A4DF-F50E-11E2BDCAFF74}"/>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14CF9C37-2B4F-1A48-2665-689E781E5996}"/>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DA0E344A-9637-F773-3C9D-C304FA60FF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4182050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4" name="TextBox 13">
            <a:extLst>
              <a:ext uri="{FF2B5EF4-FFF2-40B4-BE49-F238E27FC236}">
                <a16:creationId xmlns:a16="http://schemas.microsoft.com/office/drawing/2014/main" id="{B4AE9558-F65E-E57A-5394-E3FBBB881C0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9E8EEFE7-691A-EB22-8F90-26B2CF96E1A9}"/>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7D1C557-9AB1-1320-8365-E9EE69B4A6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673394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tx2"/>
                </a:solidFill>
              </a:defRPr>
            </a:lvl1pPr>
            <a:lvl2pPr marL="239994" indent="0">
              <a:lnSpc>
                <a:spcPct val="100000"/>
              </a:lnSpc>
              <a:spcBef>
                <a:spcPts val="0"/>
              </a:spcBef>
              <a:spcAft>
                <a:spcPts val="800"/>
              </a:spcAft>
              <a:buSzPct val="70000"/>
              <a:buNone/>
              <a:defRPr sz="1600">
                <a:solidFill>
                  <a:schemeClr val="tx2"/>
                </a:solidFill>
              </a:defRPr>
            </a:lvl2pPr>
            <a:lvl3pPr marL="479988" indent="0">
              <a:lnSpc>
                <a:spcPct val="100000"/>
              </a:lnSpc>
              <a:spcBef>
                <a:spcPts val="0"/>
              </a:spcBef>
              <a:spcAft>
                <a:spcPts val="800"/>
              </a:spcAft>
              <a:buSzPct val="70000"/>
              <a:buNone/>
              <a:defRPr sz="1600">
                <a:solidFill>
                  <a:schemeClr val="tx2"/>
                </a:solidFill>
              </a:defRPr>
            </a:lvl3pPr>
            <a:lvl4pPr marL="719982" indent="0">
              <a:lnSpc>
                <a:spcPct val="100000"/>
              </a:lnSpc>
              <a:spcBef>
                <a:spcPts val="0"/>
              </a:spcBef>
              <a:spcAft>
                <a:spcPts val="800"/>
              </a:spcAft>
              <a:buSzPct val="70000"/>
              <a:buNone/>
              <a:defRPr sz="1600">
                <a:solidFill>
                  <a:schemeClr val="tx2"/>
                </a:solidFill>
              </a:defRPr>
            </a:lvl4pPr>
            <a:lvl5pPr marL="959976" indent="0">
              <a:lnSpc>
                <a:spcPct val="100000"/>
              </a:lnSpc>
              <a:spcBef>
                <a:spcPts val="0"/>
              </a:spcBef>
              <a:spcAft>
                <a:spcPts val="800"/>
              </a:spcAft>
              <a:buSzPct val="70000"/>
              <a:buNone/>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Box 14">
            <a:extLst>
              <a:ext uri="{FF2B5EF4-FFF2-40B4-BE49-F238E27FC236}">
                <a16:creationId xmlns:a16="http://schemas.microsoft.com/office/drawing/2014/main" id="{31A68076-E163-16F0-6643-612506DC25C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E90EBC0-49DE-3234-6D8A-7B5E88E2D97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A9F5E732-6447-299C-75E4-C99261D7483C}"/>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D63D485-13CC-9C0A-3170-F4CA3E92E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3958019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4 - 1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Box 14">
            <a:extLst>
              <a:ext uri="{FF2B5EF4-FFF2-40B4-BE49-F238E27FC236}">
                <a16:creationId xmlns:a16="http://schemas.microsoft.com/office/drawing/2014/main" id="{D5C5286A-148E-6CAC-4953-28CEC8A7AC6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7A0A6C3E-06F7-E899-9995-0ED37EE6CC41}"/>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9E39556-3958-D06D-B5BB-705F5725C6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785941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6211552"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76D7398D-CEE7-3079-FB86-A89C992F31A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7" name="Straight Connector 6">
            <a:extLst>
              <a:ext uri="{FF2B5EF4-FFF2-40B4-BE49-F238E27FC236}">
                <a16:creationId xmlns:a16="http://schemas.microsoft.com/office/drawing/2014/main" id="{52491042-D5B7-4498-A1F0-5BEA78AF4EBD}"/>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8F7910F-6815-2B09-B597-8F9DAC6834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1558383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1.6 - 3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4296000"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8035550" y="1680000"/>
            <a:ext cx="3596877"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Box 16">
            <a:extLst>
              <a:ext uri="{FF2B5EF4-FFF2-40B4-BE49-F238E27FC236}">
                <a16:creationId xmlns:a16="http://schemas.microsoft.com/office/drawing/2014/main" id="{B3C89AA2-17C4-2311-08AF-1321E11749F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2713EB45-843B-9A1C-345B-468536A7E05D}"/>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C77A4B8F-49F4-2929-427A-DF7B92A561E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CF272607-9556-1864-23FC-E024D8740ED5}"/>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BA3E3EE-9C41-B47C-B4DF-F366979801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31592583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7 - 4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368443"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180435"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8992427"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Box 17">
            <a:extLst>
              <a:ext uri="{FF2B5EF4-FFF2-40B4-BE49-F238E27FC236}">
                <a16:creationId xmlns:a16="http://schemas.microsoft.com/office/drawing/2014/main" id="{77523A0E-155F-824D-4618-C556416C4B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3DCBE36C-4C66-1188-03D3-624F2E47A38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45644240-BAFF-42B5-1A7E-4A3EC1F84D9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7" name="Straight Connector 6">
            <a:extLst>
              <a:ext uri="{FF2B5EF4-FFF2-40B4-BE49-F238E27FC236}">
                <a16:creationId xmlns:a16="http://schemas.microsoft.com/office/drawing/2014/main" id="{4D9F31D8-D736-3F40-0CCB-F3477F42EB94}"/>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49A47FD-93B6-EB57-A70D-A0C3CAC53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981366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8 - Numbered">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556800" y="1680000"/>
            <a:ext cx="11078400" cy="4158640"/>
          </a:xfrm>
          <a:prstGeom prst="rect">
            <a:avLst/>
          </a:prstGeom>
        </p:spPr>
        <p:txBody>
          <a:bodyPr lIns="0" tIns="0" rIns="0" bIns="0"/>
          <a:lstStyle>
            <a:lvl1pPr marL="304792" indent="-304792">
              <a:lnSpc>
                <a:spcPct val="100000"/>
              </a:lnSpc>
              <a:spcBef>
                <a:spcPts val="0"/>
              </a:spcBef>
              <a:spcAft>
                <a:spcPts val="800"/>
              </a:spcAft>
              <a:buFont typeface="+mj-lt"/>
              <a:buAutoNum type="arabicPeriod"/>
              <a:defRPr sz="1600">
                <a:solidFill>
                  <a:schemeClr val="tx2"/>
                </a:solidFill>
              </a:defRPr>
            </a:lvl1pPr>
            <a:lvl2pPr marL="544786" indent="-304792">
              <a:lnSpc>
                <a:spcPct val="100000"/>
              </a:lnSpc>
              <a:spcBef>
                <a:spcPts val="0"/>
              </a:spcBef>
              <a:spcAft>
                <a:spcPts val="800"/>
              </a:spcAft>
              <a:buFont typeface="+mj-lt"/>
              <a:buAutoNum type="arabicPeriod" startAt="2"/>
              <a:defRPr sz="1600">
                <a:solidFill>
                  <a:schemeClr val="tx2"/>
                </a:solidFill>
              </a:defRPr>
            </a:lvl2pPr>
            <a:lvl3pPr marL="784780" indent="-304792">
              <a:lnSpc>
                <a:spcPct val="100000"/>
              </a:lnSpc>
              <a:spcBef>
                <a:spcPts val="0"/>
              </a:spcBef>
              <a:spcAft>
                <a:spcPts val="800"/>
              </a:spcAft>
              <a:buFont typeface="+mj-lt"/>
              <a:buAutoNum type="arabicPeriod" startAt="3"/>
              <a:defRPr sz="1600">
                <a:solidFill>
                  <a:schemeClr val="tx2"/>
                </a:solidFill>
              </a:defRPr>
            </a:lvl3pPr>
            <a:lvl4pPr marL="1024774" indent="-304792">
              <a:lnSpc>
                <a:spcPct val="100000"/>
              </a:lnSpc>
              <a:spcBef>
                <a:spcPts val="0"/>
              </a:spcBef>
              <a:spcAft>
                <a:spcPts val="800"/>
              </a:spcAft>
              <a:buFont typeface="+mj-lt"/>
              <a:buAutoNum type="arabicPeriod" startAt="4"/>
              <a:defRPr sz="1600">
                <a:solidFill>
                  <a:schemeClr val="tx2"/>
                </a:solidFill>
              </a:defRPr>
            </a:lvl4pPr>
            <a:lvl5pPr marL="1276168" indent="-304792">
              <a:lnSpc>
                <a:spcPct val="100000"/>
              </a:lnSpc>
              <a:spcBef>
                <a:spcPts val="0"/>
              </a:spcBef>
              <a:spcAft>
                <a:spcPts val="800"/>
              </a:spcAft>
              <a:buFont typeface="+mj-lt"/>
              <a:buAutoNum type="arabicPeriod" startAt="5"/>
              <a:defRPr sz="1600">
                <a:solidFill>
                  <a:schemeClr val="tx2"/>
                </a:solidFill>
              </a:defRPr>
            </a:lvl5pPr>
          </a:lstStyle>
          <a:p>
            <a:pPr lvl="0"/>
            <a:r>
              <a:rPr lang="en-US" dirty="0"/>
              <a:t>Text here</a:t>
            </a:r>
          </a:p>
          <a:p>
            <a:pPr lvl="1"/>
            <a:r>
              <a:rPr lang="en-US" dirty="0"/>
              <a:t>Text here</a:t>
            </a:r>
          </a:p>
          <a:p>
            <a:pPr lvl="2"/>
            <a:r>
              <a:rPr lang="en-US" dirty="0"/>
              <a:t>Text here</a:t>
            </a:r>
          </a:p>
          <a:p>
            <a:pPr lvl="3"/>
            <a:r>
              <a:rPr lang="en-US" dirty="0"/>
              <a:t>Text here</a:t>
            </a:r>
          </a:p>
          <a:p>
            <a:pPr marL="1276168" marR="0" lvl="4" indent="-304792" algn="l" defTabSz="914377" rtl="0" eaLnBrk="1" fontAlgn="auto" latinLnBrk="0" hangingPunct="1">
              <a:lnSpc>
                <a:spcPct val="100000"/>
              </a:lnSpc>
              <a:spcBef>
                <a:spcPts val="0"/>
              </a:spcBef>
              <a:spcAft>
                <a:spcPts val="400"/>
              </a:spcAft>
              <a:buClrTx/>
              <a:buSzTx/>
              <a:tabLst/>
              <a:defRPr/>
            </a:pPr>
            <a:r>
              <a:rPr lang="en-US" dirty="0"/>
              <a:t>Text here</a:t>
            </a:r>
          </a:p>
        </p:txBody>
      </p:sp>
      <p:sp>
        <p:nvSpPr>
          <p:cNvPr id="15" name="TextBox 14">
            <a:extLst>
              <a:ext uri="{FF2B5EF4-FFF2-40B4-BE49-F238E27FC236}">
                <a16:creationId xmlns:a16="http://schemas.microsoft.com/office/drawing/2014/main" id="{2138E23A-1A2B-4FC2-057E-864010EF96E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5417762A-54B1-36A8-F29E-69737B3F61FF}"/>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395D9105-CDC3-7AF1-1035-8F0BB27B989E}"/>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5" name="Straight Connector 4">
            <a:extLst>
              <a:ext uri="{FF2B5EF4-FFF2-40B4-BE49-F238E27FC236}">
                <a16:creationId xmlns:a16="http://schemas.microsoft.com/office/drawing/2014/main" id="{24ADFAB0-E92F-AF45-4455-844002CB37C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5B94D71-DD87-F678-64B4-D035E2C9D9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3869460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7200" baseline="0">
                <a:solidFill>
                  <a:schemeClr val="accent1"/>
                </a:solidFill>
                <a:latin typeface="Nokia Pure Headline Ultra Light" panose="020B0204020202020204" pitchFamily="34" charset="0"/>
              </a:defRPr>
            </a:lvl1pPr>
          </a:lstStyle>
          <a:p>
            <a:pPr lvl="0"/>
            <a:r>
              <a:rPr lang="en-US" dirty="0"/>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5CADB226-B627-BBD6-7EB8-1DA5C64DFCB0}"/>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F2BAE24-B30D-BC52-2097-B18B4F8D68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272804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1 - Bullet 1/2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799" y="527928"/>
            <a:ext cx="505186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799" y="1019360"/>
            <a:ext cx="505186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6096001" y="0"/>
            <a:ext cx="6096001" cy="6858000"/>
          </a:xfrm>
          <a:prstGeom prst="rect">
            <a:avLst/>
          </a:prstGeom>
          <a:solidFill>
            <a:schemeClr val="tx2"/>
          </a:solidFill>
        </p:spPr>
        <p:txBody>
          <a:bodyPr/>
          <a:lstStyle>
            <a:lvl1pPr marL="0" indent="0">
              <a:buNone/>
              <a:defRPr sz="1333">
                <a:solidFill>
                  <a:schemeClr val="bg1"/>
                </a:solidFill>
              </a:defRPr>
            </a:lvl1pPr>
          </a:lstStyle>
          <a:p>
            <a:r>
              <a:rPr lang="en-US" dirty="0"/>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556451" y="1680000"/>
            <a:ext cx="505186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Box 19">
            <a:extLst>
              <a:ext uri="{FF2B5EF4-FFF2-40B4-BE49-F238E27FC236}">
                <a16:creationId xmlns:a16="http://schemas.microsoft.com/office/drawing/2014/main" id="{972230E8-8C3E-FACC-BB83-0BEB16548E5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FFD06BD2-8C82-3A42-EA94-1DAD5F04366A}"/>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30DEAEC4-E0F3-9FCE-BAAF-FDB63BC5E69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5D565AE1-FFB9-F818-A049-8B78F88E1A7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A085E30A-61AE-B001-F7D8-D230C54937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424209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2 - Bullet 2/3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128000" y="0"/>
            <a:ext cx="8064000" cy="6858000"/>
          </a:xfrm>
          <a:prstGeom prst="rect">
            <a:avLst/>
          </a:prstGeom>
          <a:solidFill>
            <a:schemeClr val="tx2"/>
          </a:solidFill>
        </p:spPr>
        <p:txBody>
          <a:bodyPr/>
          <a:lstStyle>
            <a:lvl1pPr marL="0" indent="0">
              <a:buNone/>
              <a:defRPr sz="1333">
                <a:solidFill>
                  <a:schemeClr val="bg1"/>
                </a:solidFill>
              </a:defRPr>
            </a:lvl1pPr>
          </a:lstStyle>
          <a:p>
            <a:r>
              <a:rPr lang="en-US" dirty="0"/>
              <a:t>Click to add picture</a:t>
            </a:r>
          </a:p>
        </p:txBody>
      </p:sp>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556801" y="527928"/>
            <a:ext cx="320274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556801" y="1019360"/>
            <a:ext cx="320274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556453" y="1680000"/>
            <a:ext cx="320274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6A434747-CAC6-E3AB-43A2-737599B9350F}"/>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F408B049-B5A6-319C-6604-4CB974379CE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6BE57E5-418C-3CAD-E431-901873F5937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720F67F4-E179-4A8C-BB98-2D3CE7469D0E}"/>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CE52B735-4F48-8C73-12DC-5B71C0FDA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7493193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3 - Bullet 1/2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6096001" y="0"/>
            <a:ext cx="6095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algn="l">
              <a:spcAft>
                <a:spcPts val="400"/>
              </a:spcAft>
              <a:buSzPct val="100000"/>
            </a:pPr>
            <a:endParaRPr lang="en-US" sz="16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556799" y="527928"/>
            <a:ext cx="505186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556799" y="1019360"/>
            <a:ext cx="505186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556451" y="1680000"/>
            <a:ext cx="505186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81B2B362-2879-6819-D5A2-C7BE4DDA16A3}"/>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60008FED-F579-32FA-B396-B46F632C45F4}"/>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8639B8D9-7FD8-8F41-6E5A-1F2F111B9E5E}"/>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4" name="Straight Connector 3">
            <a:extLst>
              <a:ext uri="{FF2B5EF4-FFF2-40B4-BE49-F238E27FC236}">
                <a16:creationId xmlns:a16="http://schemas.microsoft.com/office/drawing/2014/main" id="{525477A2-00D4-A5D4-CE66-BD1565E0928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5CC64C8D-EF21-1A49-63EA-A66C43D915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795552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4 - Bullet 2/3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128000" y="0"/>
            <a:ext cx="806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algn="l">
              <a:spcAft>
                <a:spcPts val="400"/>
              </a:spcAft>
              <a:buSzPct val="100000"/>
            </a:pPr>
            <a:endParaRPr lang="en-US" sz="16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556801" y="527928"/>
            <a:ext cx="320274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556801" y="1019360"/>
            <a:ext cx="320274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556453" y="1680000"/>
            <a:ext cx="320274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92932C8D-B957-1CF9-AF0A-C66A4B80B16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EDFF5BE1-C27A-DAF6-539C-BE7CFB3D3139}"/>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2198C15-49FA-5DCF-088F-089A36BBE5B6}"/>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4" name="Straight Connector 3">
            <a:extLst>
              <a:ext uri="{FF2B5EF4-FFF2-40B4-BE49-F238E27FC236}">
                <a16:creationId xmlns:a16="http://schemas.microsoft.com/office/drawing/2014/main" id="{88FE076B-0F08-076B-2D80-BC2E2CCDC4CB}"/>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6060304C-36F3-CA03-DDC5-B93B755A47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031184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1 - Blank dark">
    <p:bg>
      <p:bgPr>
        <a:solidFill>
          <a:schemeClr val="tx2"/>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FADF482-1182-15C3-2090-EF4C2A8F787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B5714932-B041-C268-D37A-89265A6401E8}"/>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3D6BE398-80E2-C124-8939-1FA1DF0C1011}"/>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9EE35A5E-B623-913A-77BF-9891223ADE6A}"/>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D921197C-D09B-51FC-3273-F6E212949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728409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2 - Title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18" name="TextBox 17">
            <a:extLst>
              <a:ext uri="{FF2B5EF4-FFF2-40B4-BE49-F238E27FC236}">
                <a16:creationId xmlns:a16="http://schemas.microsoft.com/office/drawing/2014/main" id="{B4D6E92B-62A5-89F1-C025-9AFA6FCB3323}"/>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F2BA0AE1-3EC1-6929-E965-9C60516B99D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8CFFAAD9-97A5-7898-E5FF-36F481EB932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F327462C-4CAC-FE93-D4FD-2A9AB433C224}"/>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FFAF1E4B-4B33-2BA9-8211-C368D5BF44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1691461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3 - Tex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bg1"/>
                </a:solidFill>
              </a:defRPr>
            </a:lvl1pPr>
            <a:lvl2pPr marL="239994" indent="0">
              <a:lnSpc>
                <a:spcPct val="100000"/>
              </a:lnSpc>
              <a:spcBef>
                <a:spcPts val="0"/>
              </a:spcBef>
              <a:spcAft>
                <a:spcPts val="800"/>
              </a:spcAft>
              <a:buSzPct val="70000"/>
              <a:buNone/>
              <a:defRPr sz="1600">
                <a:solidFill>
                  <a:schemeClr val="bg1"/>
                </a:solidFill>
              </a:defRPr>
            </a:lvl2pPr>
            <a:lvl3pPr marL="479988" indent="0">
              <a:lnSpc>
                <a:spcPct val="100000"/>
              </a:lnSpc>
              <a:spcBef>
                <a:spcPts val="0"/>
              </a:spcBef>
              <a:spcAft>
                <a:spcPts val="800"/>
              </a:spcAft>
              <a:buSzPct val="70000"/>
              <a:buNone/>
              <a:defRPr sz="1600">
                <a:solidFill>
                  <a:schemeClr val="bg1"/>
                </a:solidFill>
              </a:defRPr>
            </a:lvl3pPr>
            <a:lvl4pPr marL="719982" indent="0">
              <a:lnSpc>
                <a:spcPct val="100000"/>
              </a:lnSpc>
              <a:spcBef>
                <a:spcPts val="0"/>
              </a:spcBef>
              <a:spcAft>
                <a:spcPts val="800"/>
              </a:spcAft>
              <a:buSzPct val="70000"/>
              <a:buNone/>
              <a:defRPr sz="1600">
                <a:solidFill>
                  <a:schemeClr val="bg1"/>
                </a:solidFill>
              </a:defRPr>
            </a:lvl4pPr>
            <a:lvl5pPr marL="959976" indent="0">
              <a:lnSpc>
                <a:spcPct val="100000"/>
              </a:lnSpc>
              <a:spcBef>
                <a:spcPts val="0"/>
              </a:spcBef>
              <a:spcAft>
                <a:spcPts val="800"/>
              </a:spcAft>
              <a:buSzPct val="70000"/>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Box 18">
            <a:extLst>
              <a:ext uri="{FF2B5EF4-FFF2-40B4-BE49-F238E27FC236}">
                <a16:creationId xmlns:a16="http://schemas.microsoft.com/office/drawing/2014/main" id="{6C224637-55EA-0423-7FB7-9D4C22E954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D086BFC4-A13A-A77F-C95D-F0B63E9FC799}"/>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8436AE6-E5BF-2964-DF91-27380150947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C2C2D673-25D4-2B6C-FAA2-5DC5ACD3DD27}"/>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4D5EF703-7CFE-DDB3-F595-5A8DF378FA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335586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4 - 1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Box 18">
            <a:extLst>
              <a:ext uri="{FF2B5EF4-FFF2-40B4-BE49-F238E27FC236}">
                <a16:creationId xmlns:a16="http://schemas.microsoft.com/office/drawing/2014/main" id="{F2203B3C-B7BE-B5F0-A84C-BF4A2D307F8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ED0C98DE-3A96-2DE1-E80F-30D10A98054F}"/>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9872479-176B-250D-7009-2FACC846C886}"/>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D0309984-EAE9-D958-8AA2-824142DEDD98}"/>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9A8979BA-9C98-FAA1-4051-0D094CF79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31474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5 - 2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6211552"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Box 19">
            <a:extLst>
              <a:ext uri="{FF2B5EF4-FFF2-40B4-BE49-F238E27FC236}">
                <a16:creationId xmlns:a16="http://schemas.microsoft.com/office/drawing/2014/main" id="{38BB2193-E2EE-013C-3734-26FE2B6F289C}"/>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94D6E453-33BB-3D1A-87F2-BF23E7DB064B}"/>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25631BE9-7C06-22AD-145E-78B1BD5F79B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0A2D64AD-CA51-6052-F8E8-9F2B58C6499D}"/>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Icon&#10;&#10;Description automatically generated">
            <a:extLst>
              <a:ext uri="{FF2B5EF4-FFF2-40B4-BE49-F238E27FC236}">
                <a16:creationId xmlns:a16="http://schemas.microsoft.com/office/drawing/2014/main" id="{FE826328-3B3B-6394-6345-C5090DEFE3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0012351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6 - 3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4296000"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8035550" y="1680000"/>
            <a:ext cx="3596877"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Box 20">
            <a:extLst>
              <a:ext uri="{FF2B5EF4-FFF2-40B4-BE49-F238E27FC236}">
                <a16:creationId xmlns:a16="http://schemas.microsoft.com/office/drawing/2014/main" id="{0B09C184-344B-3A37-4BC9-5F46DC81EA5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2" name="Slide Number Placeholder 5">
            <a:extLst>
              <a:ext uri="{FF2B5EF4-FFF2-40B4-BE49-F238E27FC236}">
                <a16:creationId xmlns:a16="http://schemas.microsoft.com/office/drawing/2014/main" id="{EA23E53E-BC8E-B2D9-8857-89A24EB07F95}"/>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3" name="Footer Placeholder 2">
            <a:extLst>
              <a:ext uri="{FF2B5EF4-FFF2-40B4-BE49-F238E27FC236}">
                <a16:creationId xmlns:a16="http://schemas.microsoft.com/office/drawing/2014/main" id="{E99784FE-D6A8-9580-1007-194EF43C8A2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8DE24107-2DCD-2619-7BC4-E45D28F1E65B}"/>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3DEE9466-49D5-5849-BE45-0581E94616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120176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7 - 4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368443"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180435"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8992427"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Box 21">
            <a:extLst>
              <a:ext uri="{FF2B5EF4-FFF2-40B4-BE49-F238E27FC236}">
                <a16:creationId xmlns:a16="http://schemas.microsoft.com/office/drawing/2014/main" id="{3F8C1C72-A585-7ED5-651B-B528B3970818}"/>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3" name="Slide Number Placeholder 5">
            <a:extLst>
              <a:ext uri="{FF2B5EF4-FFF2-40B4-BE49-F238E27FC236}">
                <a16:creationId xmlns:a16="http://schemas.microsoft.com/office/drawing/2014/main" id="{D3FAF429-6C3E-019C-0537-840220A5BF93}"/>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4" name="Footer Placeholder 2">
            <a:extLst>
              <a:ext uri="{FF2B5EF4-FFF2-40B4-BE49-F238E27FC236}">
                <a16:creationId xmlns:a16="http://schemas.microsoft.com/office/drawing/2014/main" id="{14C8B806-8FC3-E969-CBCA-FAFFE8971D2A}"/>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DF2582E6-5C26-0DFD-CCB0-AD1CB76443F7}"/>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descr="Icon&#10;&#10;Description automatically generated">
            <a:extLst>
              <a:ext uri="{FF2B5EF4-FFF2-40B4-BE49-F238E27FC236}">
                <a16:creationId xmlns:a16="http://schemas.microsoft.com/office/drawing/2014/main" id="{1732D478-B892-E3B8-8306-FE30FB6F97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5647563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8 - Numbered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556800" y="1680000"/>
            <a:ext cx="11078400" cy="4158640"/>
          </a:xfrm>
          <a:prstGeom prst="rect">
            <a:avLst/>
          </a:prstGeom>
        </p:spPr>
        <p:txBody>
          <a:bodyPr lIns="0" tIns="0" rIns="0" bIns="0"/>
          <a:lstStyle>
            <a:lvl1pPr marL="304792" indent="-304792">
              <a:lnSpc>
                <a:spcPct val="100000"/>
              </a:lnSpc>
              <a:spcBef>
                <a:spcPts val="0"/>
              </a:spcBef>
              <a:spcAft>
                <a:spcPts val="800"/>
              </a:spcAft>
              <a:buFont typeface="+mj-lt"/>
              <a:buAutoNum type="arabicPeriod"/>
              <a:defRPr sz="1600">
                <a:solidFill>
                  <a:schemeClr val="bg1"/>
                </a:solidFill>
              </a:defRPr>
            </a:lvl1pPr>
            <a:lvl2pPr marL="544786" indent="-304792">
              <a:lnSpc>
                <a:spcPct val="100000"/>
              </a:lnSpc>
              <a:spcBef>
                <a:spcPts val="0"/>
              </a:spcBef>
              <a:spcAft>
                <a:spcPts val="800"/>
              </a:spcAft>
              <a:buFont typeface="+mj-lt"/>
              <a:buAutoNum type="arabicPeriod" startAt="2"/>
              <a:defRPr sz="1600">
                <a:solidFill>
                  <a:schemeClr val="bg1"/>
                </a:solidFill>
              </a:defRPr>
            </a:lvl2pPr>
            <a:lvl3pPr marL="784780" indent="-304792">
              <a:lnSpc>
                <a:spcPct val="100000"/>
              </a:lnSpc>
              <a:spcBef>
                <a:spcPts val="0"/>
              </a:spcBef>
              <a:spcAft>
                <a:spcPts val="800"/>
              </a:spcAft>
              <a:buFont typeface="+mj-lt"/>
              <a:buAutoNum type="arabicPeriod" startAt="3"/>
              <a:defRPr sz="1600">
                <a:solidFill>
                  <a:schemeClr val="bg1"/>
                </a:solidFill>
              </a:defRPr>
            </a:lvl3pPr>
            <a:lvl4pPr marL="1024774" indent="-304792">
              <a:lnSpc>
                <a:spcPct val="100000"/>
              </a:lnSpc>
              <a:spcBef>
                <a:spcPts val="0"/>
              </a:spcBef>
              <a:spcAft>
                <a:spcPts val="800"/>
              </a:spcAft>
              <a:buFont typeface="+mj-lt"/>
              <a:buAutoNum type="arabicPeriod" startAt="4"/>
              <a:defRPr sz="1600">
                <a:solidFill>
                  <a:schemeClr val="bg1"/>
                </a:solidFill>
              </a:defRPr>
            </a:lvl4pPr>
            <a:lvl5pPr marL="1276168" indent="-304792">
              <a:lnSpc>
                <a:spcPct val="100000"/>
              </a:lnSpc>
              <a:spcBef>
                <a:spcPts val="0"/>
              </a:spcBef>
              <a:spcAft>
                <a:spcPts val="800"/>
              </a:spcAft>
              <a:buFont typeface="+mj-lt"/>
              <a:buAutoNum type="arabicPeriod" startAt="5"/>
              <a:defRPr sz="1600">
                <a:solidFill>
                  <a:schemeClr val="bg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1276168" marR="0" lvl="4" indent="-304792" algn="l" defTabSz="914377" rtl="0" eaLnBrk="1" fontAlgn="auto" latinLnBrk="0" hangingPunct="1">
              <a:lnSpc>
                <a:spcPct val="100000"/>
              </a:lnSpc>
              <a:spcBef>
                <a:spcPts val="0"/>
              </a:spcBef>
              <a:spcAft>
                <a:spcPts val="400"/>
              </a:spcAft>
              <a:buClrTx/>
              <a:buSzTx/>
              <a:tabLst/>
              <a:defRPr/>
            </a:pPr>
            <a:r>
              <a:rPr lang="en-US" dirty="0"/>
              <a:t>Text here</a:t>
            </a:r>
          </a:p>
        </p:txBody>
      </p:sp>
      <p:sp>
        <p:nvSpPr>
          <p:cNvPr id="19" name="TextBox 18">
            <a:extLst>
              <a:ext uri="{FF2B5EF4-FFF2-40B4-BE49-F238E27FC236}">
                <a16:creationId xmlns:a16="http://schemas.microsoft.com/office/drawing/2014/main" id="{128DC97F-4D64-0DED-88CD-EE02622DD1A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36AADFB0-EF58-B66F-9E2F-35B8CE845DFC}"/>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B5E01CE8-3A1A-97F6-CB42-2A7B7096CAA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298E151C-F446-3E79-0E84-BBC74FC37965}"/>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8FD43ABA-CFE9-679E-787F-A4F79F104C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168323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3.9 - Title dark">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p:nvPr>
        </p:nvSpPr>
        <p:spPr>
          <a:xfrm>
            <a:off x="556800" y="1440000"/>
            <a:ext cx="11078400" cy="2347335"/>
          </a:xfrm>
          <a:prstGeom prst="rect">
            <a:avLst/>
          </a:prstGeom>
        </p:spPr>
        <p:txBody>
          <a:bodyPr lIns="0" tIns="0" rIns="0" bIns="0"/>
          <a:lstStyle>
            <a:lvl1pPr marL="0" indent="0">
              <a:buNone/>
              <a:defRPr sz="7200" baseline="0">
                <a:solidFill>
                  <a:schemeClr val="bg1"/>
                </a:solidFill>
                <a:latin typeface="Nokia Pure Headline Ultra Light" panose="020B0204020202020204" pitchFamily="34" charset="0"/>
              </a:defRPr>
            </a:lvl1pPr>
          </a:lstStyle>
          <a:p>
            <a:pPr lvl="0"/>
            <a:r>
              <a:rPr lang="en-US"/>
              <a:t>Click to edit Master text styles</a:t>
            </a:r>
          </a:p>
        </p:txBody>
      </p:sp>
      <p:sp>
        <p:nvSpPr>
          <p:cNvPr id="17" name="TextBox 16">
            <a:extLst>
              <a:ext uri="{FF2B5EF4-FFF2-40B4-BE49-F238E27FC236}">
                <a16:creationId xmlns:a16="http://schemas.microsoft.com/office/drawing/2014/main" id="{3CFD536D-56F0-6B89-4E85-90A6E969D32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A2A18FDE-17E4-A96B-C3EE-A77EEBA83E23}"/>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A39C322E-4A8A-CA2E-DBCD-97DA4FDE15D2}"/>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21" name="Text Placeholder 42">
            <a:extLst>
              <a:ext uri="{FF2B5EF4-FFF2-40B4-BE49-F238E27FC236}">
                <a16:creationId xmlns:a16="http://schemas.microsoft.com/office/drawing/2014/main" id="{B3D3C671-29A5-6951-28E5-A58089FE5D4B}"/>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3" name="Straight Connector 2">
            <a:extLst>
              <a:ext uri="{FF2B5EF4-FFF2-40B4-BE49-F238E27FC236}">
                <a16:creationId xmlns:a16="http://schemas.microsoft.com/office/drawing/2014/main" id="{0D47294A-FF96-9958-42B7-7974F6EB5E8A}"/>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893C10E8-28DF-A5D6-11F0-698C34D0BB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8569608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4.1 - Cover N BlueGreen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6859200" cy="68592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3" name="TextBox 2">
            <a:extLst>
              <a:ext uri="{FF2B5EF4-FFF2-40B4-BE49-F238E27FC236}">
                <a16:creationId xmlns:a16="http://schemas.microsoft.com/office/drawing/2014/main" id="{659763D9-588F-2473-91CB-B8C347B72189}"/>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9" name="Straight Connector 8">
            <a:extLst>
              <a:ext uri="{FF2B5EF4-FFF2-40B4-BE49-F238E27FC236}">
                <a16:creationId xmlns:a16="http://schemas.microsoft.com/office/drawing/2014/main" id="{4DFDB4CE-CF8C-D627-64FF-06A1B9B67196}"/>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DD78EB01-E225-75C7-E601-2C140FA532B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6750134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2 - Cover N PurpleBlue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201"/>
            <a:ext cx="6859200" cy="68592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77E65701-8704-DC44-7F06-7957F6D50DDE}"/>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B0CCF65E-F2C0-F179-6CEF-6926AE13A1AD}"/>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4148E0E7-D605-6CB3-E2A2-9F865D08BD3D}"/>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01A4B502-0D47-648A-BA34-37A779D05B30}"/>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18AE701A-8C9D-3410-7D26-7EF18461D6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32415582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4.3 - Cover N Pink1">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6859200" cy="68592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9" name="TextBox 18">
            <a:extLst>
              <a:ext uri="{FF2B5EF4-FFF2-40B4-BE49-F238E27FC236}">
                <a16:creationId xmlns:a16="http://schemas.microsoft.com/office/drawing/2014/main" id="{3B531529-C0C1-501F-B90B-E578B26E0D98}"/>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40C94059-F7F6-293D-88B1-A0CCDDB75575}"/>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98343E1B-0BDB-6D7F-D5F6-35E72B8B2568}"/>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E2FB8053-9F09-3C2A-B9CD-24AAEAF3D84E}"/>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7306076A-3983-0540-D820-0E49053ABD7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21666503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6859200" cy="68592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sz="2400"/>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6859200" cy="68592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sz="2400"/>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4" name="TextBox 23">
            <a:extLst>
              <a:ext uri="{FF2B5EF4-FFF2-40B4-BE49-F238E27FC236}">
                <a16:creationId xmlns:a16="http://schemas.microsoft.com/office/drawing/2014/main" id="{EE447E57-9E3B-2030-9902-A8BA6E7583E4}"/>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6" name="Footer Placeholder 2">
            <a:extLst>
              <a:ext uri="{FF2B5EF4-FFF2-40B4-BE49-F238E27FC236}">
                <a16:creationId xmlns:a16="http://schemas.microsoft.com/office/drawing/2014/main" id="{AD544843-BF44-8F0F-4D23-F80C60F60B55}"/>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6" name="Straight Connector 5">
            <a:extLst>
              <a:ext uri="{FF2B5EF4-FFF2-40B4-BE49-F238E27FC236}">
                <a16:creationId xmlns:a16="http://schemas.microsoft.com/office/drawing/2014/main" id="{5AD29DC4-2C23-651D-9C15-EFF2A0DCC1B7}"/>
              </a:ext>
            </a:extLst>
          </p:cNvPr>
          <p:cNvCxnSpPr>
            <a:cxnSpLocks/>
          </p:cNvCxnSpPr>
          <p:nvPr userDrawn="1"/>
        </p:nvCxnSpPr>
        <p:spPr>
          <a:xfrm>
            <a:off x="8371345"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Logo, icon&#10;&#10;Description automatically generated">
            <a:extLst>
              <a:ext uri="{FF2B5EF4-FFF2-40B4-BE49-F238E27FC236}">
                <a16:creationId xmlns:a16="http://schemas.microsoft.com/office/drawing/2014/main" id="{A246F6C7-83D5-BFEE-0EE8-9CC09AAD48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18168047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5.1 - Cover O BlueGreen2">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6835701" y="-6395"/>
            <a:ext cx="5356300" cy="68592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6" name="TextBox 15">
            <a:extLst>
              <a:ext uri="{FF2B5EF4-FFF2-40B4-BE49-F238E27FC236}">
                <a16:creationId xmlns:a16="http://schemas.microsoft.com/office/drawing/2014/main" id="{CC8B88A2-C8A9-A342-E8B5-C91DF5E71FF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9EC2290D-5934-145E-499C-1CB0349E5FA0}"/>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BD471F30-B344-A63E-287D-45299C34768C}"/>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4B546994-6297-B34D-7D3F-FEAAF99F39B2}"/>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550A4A4D-1A2B-7E5F-7823-2719F8EF15F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59577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5.2 - Cover O BluePink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6835701" y="-6395"/>
            <a:ext cx="5356300" cy="68592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3B132D8A-9E85-B335-C2FD-9D2508FEAF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5D1F556C-703D-0EB9-35BD-0A7DE6122BF2}"/>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F61D5928-67F7-A4E5-2767-E072B8F67A2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0BAF7AE3-4CA8-632D-9971-72776B7D43D5}"/>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831B8EEB-24AC-5795-13AA-2A8F1779C51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12307860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5.3 - Cover O BlueGreen3">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6835701" y="-6395"/>
            <a:ext cx="5356300" cy="68592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720759C7-94BC-8FC1-9A43-A40A4BE7AC1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83D4680A-11B6-A841-EC68-FFF11409500E}"/>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AE485A1C-8A6A-5C51-5E3F-5685AAA904F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34C74111-FD50-7C19-C9ED-B5ACBA2EC074}"/>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155F03A1-AAAC-2AD3-EFE6-257BC0F3D6C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12256480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5.4 - Cover O Whit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6835701" y="-6395"/>
            <a:ext cx="5356300" cy="6858000"/>
          </a:xfrm>
          <a:prstGeom prst="rect">
            <a:avLst/>
          </a:prstGeom>
        </p:spPr>
      </p:pic>
      <p:sp>
        <p:nvSpPr>
          <p:cNvPr id="16" name="TextBox 15">
            <a:extLst>
              <a:ext uri="{FF2B5EF4-FFF2-40B4-BE49-F238E27FC236}">
                <a16:creationId xmlns:a16="http://schemas.microsoft.com/office/drawing/2014/main" id="{8D94EDB0-D38F-0FE8-27C1-80BAE2455A1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EFAF1A61-3518-0ABC-1BC0-5990D5EF88DE}"/>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496FB4B1-7F2F-CF04-74B8-D3A7467B0EDC}"/>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FD7602F8-4BD9-B6B1-C7A6-FD4801224633}"/>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Picture 3" descr="Logo, icon&#10;&#10;Description automatically generated">
            <a:extLst>
              <a:ext uri="{FF2B5EF4-FFF2-40B4-BE49-F238E27FC236}">
                <a16:creationId xmlns:a16="http://schemas.microsoft.com/office/drawing/2014/main" id="{EC77C1F8-BB9C-3828-A548-A2507A3DF0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05173" y="3009205"/>
            <a:ext cx="1984139" cy="945600"/>
          </a:xfrm>
          <a:prstGeom prst="rect">
            <a:avLst/>
          </a:prstGeom>
        </p:spPr>
      </p:pic>
    </p:spTree>
    <p:extLst>
      <p:ext uri="{BB962C8B-B14F-4D97-AF65-F5344CB8AC3E}">
        <p14:creationId xmlns:p14="http://schemas.microsoft.com/office/powerpoint/2010/main" val="26680062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6.1 - Cover K Orange1">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6623541" y="0"/>
            <a:ext cx="5568459" cy="68592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801FC38E-29E5-B44A-FE96-F713B08050E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7AAAD9DC-C952-84F6-32BA-CE8084E916D9}"/>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B603A7C0-7450-F57A-CF86-135B131E63C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4D81CA0E-B5D2-6BEA-A531-1C416A10C98E}"/>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75DEA05F-B223-816A-CC61-2EF92B5073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33148707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6.2 - Cover K BlueGreen4">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6623541" y="0"/>
            <a:ext cx="5568459" cy="68592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7" name="TextBox 16">
            <a:extLst>
              <a:ext uri="{FF2B5EF4-FFF2-40B4-BE49-F238E27FC236}">
                <a16:creationId xmlns:a16="http://schemas.microsoft.com/office/drawing/2014/main" id="{D9CCAE72-315B-6DC4-6ED3-6C32104BB037}"/>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9F6B1C01-19BD-7D67-4E40-88818E2139B8}"/>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7C973916-701B-92E4-FA4C-28A5746F5C0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C9EC7BAF-A22F-6738-77B4-F51F884ED11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09B52E8E-3458-89EB-4F51-F878723BC94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14272598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6.3 - Cover K Pink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6623541" y="0"/>
            <a:ext cx="5568459" cy="68592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8" name="TextBox 17">
            <a:extLst>
              <a:ext uri="{FF2B5EF4-FFF2-40B4-BE49-F238E27FC236}">
                <a16:creationId xmlns:a16="http://schemas.microsoft.com/office/drawing/2014/main" id="{5AE80B1C-FD35-F288-8BFD-2F827D4C51A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0B17E72F-0CE2-D4D0-F696-BEA9F83EF5AA}"/>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AB4C8BF7-D6EA-CCEB-F116-FF8F674A1D0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5" name="Straight Connector 4">
            <a:extLst>
              <a:ext uri="{FF2B5EF4-FFF2-40B4-BE49-F238E27FC236}">
                <a16:creationId xmlns:a16="http://schemas.microsoft.com/office/drawing/2014/main" id="{E9AF91A8-961C-A189-FE31-F20EC310BEBD}"/>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8A738E76-8413-40D6-063B-2820F6CFF9A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23229597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6.4 - Cover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798"/>
          <a:stretch/>
        </p:blipFill>
        <p:spPr>
          <a:xfrm>
            <a:off x="6622168" y="0"/>
            <a:ext cx="5569832" cy="68592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9" name="TextBox 18">
            <a:extLst>
              <a:ext uri="{FF2B5EF4-FFF2-40B4-BE49-F238E27FC236}">
                <a16:creationId xmlns:a16="http://schemas.microsoft.com/office/drawing/2014/main" id="{685118FE-3A69-7878-D9BB-1A3313720C8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0F609D8D-5CB0-9FB7-12C3-CB2F81E54A60}"/>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A6A581A3-9568-ADAA-C577-D08AD5F13852}"/>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4" name="Straight Connector 3">
            <a:extLst>
              <a:ext uri="{FF2B5EF4-FFF2-40B4-BE49-F238E27FC236}">
                <a16:creationId xmlns:a16="http://schemas.microsoft.com/office/drawing/2014/main" id="{D145F5C9-B0D7-A853-4611-85FEFFB68BA0}"/>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4" descr="Logo, icon&#10;&#10;Description automatically generated">
            <a:extLst>
              <a:ext uri="{FF2B5EF4-FFF2-40B4-BE49-F238E27FC236}">
                <a16:creationId xmlns:a16="http://schemas.microsoft.com/office/drawing/2014/main" id="{BA046007-1DC4-1745-E53F-44DBA02352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5173" y="3009205"/>
            <a:ext cx="1984139" cy="945600"/>
          </a:xfrm>
          <a:prstGeom prst="rect">
            <a:avLst/>
          </a:prstGeom>
        </p:spPr>
      </p:pic>
    </p:spTree>
    <p:extLst>
      <p:ext uri="{BB962C8B-B14F-4D97-AF65-F5344CB8AC3E}">
        <p14:creationId xmlns:p14="http://schemas.microsoft.com/office/powerpoint/2010/main" val="23476322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7.1 - Divider BlueGreen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A3AA9E6A-3B54-EBA8-25AB-52211D52F5EA}"/>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0FC82D3C-5CAB-DDEA-5BAD-0CE49311B44C}"/>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F275CFF-10A6-01B8-606D-73D7A564226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5" name="Text Placeholder 42">
            <a:extLst>
              <a:ext uri="{FF2B5EF4-FFF2-40B4-BE49-F238E27FC236}">
                <a16:creationId xmlns:a16="http://schemas.microsoft.com/office/drawing/2014/main" id="{56D07526-2E9D-2AAD-EE94-167EEE1536FF}"/>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A1FCC02C-AA09-DFA8-8A6A-D41F93450812}"/>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D866DE3A-281D-02D9-50A0-99ED34A25C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9467005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7.2 - Divider BlueGreen3">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4FBBDEB0-7315-4214-F9C8-48DBCC502C8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3976F6A6-5835-91B8-5B94-A197DCCF65D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146445DD-AC0A-C4BA-03CB-A346CF3E9279}"/>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5ED3C240-0F31-AD4B-E3D6-E9E2DFC4EB67}"/>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486B89F7-9432-082D-BED0-08937C3ACD3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5BE6BFC3-C804-C0C6-5C51-BE68C6F4228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843714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7.3 - Divider BlueGreen5">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BC0FACD4-71CC-9E35-CDCC-22C146E52E9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823572DF-299F-8B6C-1E42-1A659F393240}"/>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F374EA10-DD32-7823-1E8C-8A5B6454CCCB}"/>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4" name="Text Placeholder 42">
            <a:extLst>
              <a:ext uri="{FF2B5EF4-FFF2-40B4-BE49-F238E27FC236}">
                <a16:creationId xmlns:a16="http://schemas.microsoft.com/office/drawing/2014/main" id="{B4CCFE40-D40E-A7E0-E99F-0E9E3E7CA3B1}"/>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01BDB6A4-726E-6BA2-355D-D90953F3B74B}"/>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5F3E4E5B-ADBB-7BA4-987C-43F00755E1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8755017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7.4 - Divider PurpleBlue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06758511-3EE8-4852-763C-F4F1187FA97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486F512-1927-A0E0-A1C2-79941992D99A}"/>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8DEF3F3-5CAD-FC0C-F7DD-4A913E71BD3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4" name="Text Placeholder 42">
            <a:extLst>
              <a:ext uri="{FF2B5EF4-FFF2-40B4-BE49-F238E27FC236}">
                <a16:creationId xmlns:a16="http://schemas.microsoft.com/office/drawing/2014/main" id="{E790325F-8E1D-1D8F-9BC9-63324BDA4002}"/>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B20D065A-4A42-3865-710B-715654120A92}"/>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95C23879-9F0A-CFAC-879C-4C43FD8682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8297105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7.5 - Divider BluePink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35665458-1735-3CFE-DB60-E654932058A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B8EAC92C-19BC-5473-42AE-69A4371F2861}"/>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E2C85D8-A3A9-A261-1BCF-70106685644F}"/>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521CF4E5-14D0-7A0E-3B20-BC1F539D9BFE}"/>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BE794429-E1E5-FB82-7B63-0A97C77621D6}"/>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C49BC0B2-8B2B-3EBB-CDB6-0EAE64E0E7C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714400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7.6 - Divider Pink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C4C0B05D-F0F7-15F3-4C17-EED0899C7AF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9857B24-CF63-C1F9-6FBA-114618B4AAB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9CB5136-AC36-0B5E-A3A9-2D5B7B13CF9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4" name="Text Placeholder 42">
            <a:extLst>
              <a:ext uri="{FF2B5EF4-FFF2-40B4-BE49-F238E27FC236}">
                <a16:creationId xmlns:a16="http://schemas.microsoft.com/office/drawing/2014/main" id="{45165F11-ACDF-2F83-0960-B38B3A16DAD5}"/>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2EB5D894-EDB4-4163-1A2E-B13CED147E53}"/>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285EBC4A-70BE-D7C6-A8B6-A6C85F11F9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950839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7.7 - Divider Orange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849B4D71-50D7-0502-EF7E-5AAF38E8659C}"/>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256B84B-A641-FF3B-04A5-7875DE216F3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B5AF0F0-B002-CB3B-6A1E-945904E802D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BFB53FB7-1753-80D0-CDCE-10664D914FBD}"/>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314D2010-F695-A04D-EBC0-D0464C30EF46}"/>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C8C803A5-93F7-94B2-027A-41E534EBF9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40531363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8.1 - End BlueGreen2">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6C29765E-7F2C-B17B-0281-56F38BFCD18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10687387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8.3 - End BlueGreen5">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ECEC9323-964A-6961-8E6A-B60A79C0C2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12387575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8.4 - End PurpleBlue2">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316DE3BF-7777-0490-C2A7-5AFB00C6E1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662853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8.5 - End BluePink1">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D9A120A1-103E-9D5F-7D1D-6423CDFF9D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18422697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8.6 - End Pink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1EE57701-5D93-7321-C659-BD0776DA8E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38495502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8.7 - Divider Orange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E4CD636C-50BC-813D-8C70-C021A3721E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31661065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8.2 - End BlueGreen3">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8C930ED2-8DA8-EDDB-F5FC-06193DCAC9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25529657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pic>
        <p:nvPicPr>
          <p:cNvPr id="2" name="Picture 1" descr="Logo, icon&#10;&#10;Description automatically generated">
            <a:extLst>
              <a:ext uri="{FF2B5EF4-FFF2-40B4-BE49-F238E27FC236}">
                <a16:creationId xmlns:a16="http://schemas.microsoft.com/office/drawing/2014/main" id="{B06A5004-39BB-9DF5-83D9-F6646DB51C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32682826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slideLayout" Target="../slideLayouts/slideLayout46.xml"/><Relationship Id="rId36" Type="http://schemas.openxmlformats.org/officeDocument/2006/relationships/slideLayout" Target="../slideLayouts/slideLayout47.xml"/><Relationship Id="rId37" Type="http://schemas.openxmlformats.org/officeDocument/2006/relationships/slideLayout" Target="../slideLayouts/slideLayout48.xml"/><Relationship Id="rId38" Type="http://schemas.openxmlformats.org/officeDocument/2006/relationships/slideLayout" Target="../slideLayouts/slideLayout49.xml"/><Relationship Id="rId39" Type="http://schemas.openxmlformats.org/officeDocument/2006/relationships/slideLayout" Target="../slideLayouts/slideLayout50.xml"/><Relationship Id="rId40" Type="http://schemas.openxmlformats.org/officeDocument/2006/relationships/slideLayout" Target="../slideLayouts/slideLayout51.xml"/><Relationship Id="rId41" Type="http://schemas.openxmlformats.org/officeDocument/2006/relationships/slideLayout" Target="../slideLayouts/slideLayout52.xml"/><Relationship Id="rId42" Type="http://schemas.openxmlformats.org/officeDocument/2006/relationships/slideLayout" Target="../slideLayouts/slideLayout53.xml"/><Relationship Id="rId43" Type="http://schemas.openxmlformats.org/officeDocument/2006/relationships/slideLayout" Target="../slideLayouts/slideLayout54.xml"/><Relationship Id="rId44" Type="http://schemas.openxmlformats.org/officeDocument/2006/relationships/slideLayout" Target="../slideLayouts/slideLayout55.xml"/><Relationship Id="rId45" Type="http://schemas.openxmlformats.org/officeDocument/2006/relationships/slideLayout" Target="../slideLayouts/slideLayout56.xml"/><Relationship Id="rId46" Type="http://schemas.openxmlformats.org/officeDocument/2006/relationships/slideLayout" Target="../slideLayouts/slideLayout57.xml"/><Relationship Id="rId47" Type="http://schemas.openxmlformats.org/officeDocument/2006/relationships/slideLayout" Target="../slideLayouts/slideLayout58.xml"/><Relationship Id="rId48" Type="http://schemas.openxmlformats.org/officeDocument/2006/relationships/slideLayout" Target="../slideLayouts/slideLayout59.xml"/><Relationship Id="rId49" Type="http://schemas.openxmlformats.org/officeDocument/2006/relationships/slideLayout" Target="../slideLayouts/slideLayout60.xml"/><Relationship Id="rId5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756DB1-1893-2588-3EB8-FB8AEC9810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9E5CE88F-CAB3-40A4-697A-C1BC74A6BF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22056322-A1B2-D5AA-9535-70C236EA1527}"/>
              </a:ext>
            </a:extLst>
          </p:cNvPr>
          <p:cNvSpPr>
            <a:spLocks noGrp="1"/>
          </p:cNvSpPr>
          <p:nvPr>
            <p:ph type="dt" sz="half" idx="2"/>
          </p:nvPr>
        </p:nvSpPr>
        <p:spPr>
          <a:xfrm>
            <a:off x="8610600" y="6356349"/>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42A8EC-065D-994A-8D55-A1E577DFD1A3}" type="datetime1">
              <a:rPr lang="it-IT" smtClean="0"/>
              <a:t>22/08/26</a:t>
            </a:fld>
            <a:endParaRPr lang="en-IT"/>
          </a:p>
        </p:txBody>
      </p:sp>
      <p:sp>
        <p:nvSpPr>
          <p:cNvPr id="5" name="Footer Placeholder 4">
            <a:extLst>
              <a:ext uri="{FF2B5EF4-FFF2-40B4-BE49-F238E27FC236}">
                <a16:creationId xmlns:a16="http://schemas.microsoft.com/office/drawing/2014/main" id="{1017BD14-B613-799B-7CE1-EAF8F54683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7D8D6CF9-F404-7790-F601-47A49BD79627}"/>
              </a:ext>
            </a:extLst>
          </p:cNvPr>
          <p:cNvSpPr>
            <a:spLocks noGrp="1"/>
          </p:cNvSpPr>
          <p:nvPr>
            <p:ph type="sldNum" sz="quarter" idx="4"/>
          </p:nvPr>
        </p:nvSpPr>
        <p:spPr>
          <a:xfrm>
            <a:off x="0" y="6492875"/>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l"/>
            <a:fld id="{A5A6EFC7-8735-7E44-BFA7-969B9F5B451D}" type="slidenum">
              <a:rPr lang="en-IT" smtClean="0"/>
              <a:pPr algn="l"/>
              <a:t>‹#›</a:t>
            </a:fld>
            <a:endParaRPr lang="en-IT" dirty="0"/>
          </a:p>
        </p:txBody>
      </p:sp>
    </p:spTree>
    <p:extLst>
      <p:ext uri="{BB962C8B-B14F-4D97-AF65-F5344CB8AC3E}">
        <p14:creationId xmlns:p14="http://schemas.microsoft.com/office/powerpoint/2010/main" val="347374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9021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png"/><Relationship Id="rId7" Type="http://schemas.microsoft.com/office/2007/relationships/hdphoto" Target="../media/hdphoto2.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p13">
            <a:extLst>
              <a:ext uri="{FF2B5EF4-FFF2-40B4-BE49-F238E27FC236}">
                <a16:creationId xmlns:a16="http://schemas.microsoft.com/office/drawing/2014/main" id="{A35DDA13-8241-05A3-C923-0BBF4F839A5C}"/>
              </a:ext>
            </a:extLst>
          </p:cNvPr>
          <p:cNvSpPr txBox="1">
            <a:spLocks/>
          </p:cNvSpPr>
          <p:nvPr/>
        </p:nvSpPr>
        <p:spPr>
          <a:xfrm>
            <a:off x="415600" y="1080647"/>
            <a:ext cx="11360800" cy="193084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p:txBody>
      </p:sp>
      <p:pic>
        <p:nvPicPr>
          <p:cNvPr id="6" name="Google Shape;56;p13">
            <a:extLst>
              <a:ext uri="{FF2B5EF4-FFF2-40B4-BE49-F238E27FC236}">
                <a16:creationId xmlns:a16="http://schemas.microsoft.com/office/drawing/2014/main" id="{8BA00BCC-45DB-91CE-DF96-CEC4B49F424B}"/>
              </a:ext>
            </a:extLst>
          </p:cNvPr>
          <p:cNvPicPr preferRelativeResize="0"/>
          <p:nvPr/>
        </p:nvPicPr>
        <p:blipFill>
          <a:blip r:embed="rId3">
            <a:alphaModFix/>
          </a:blip>
          <a:stretch>
            <a:fillRect/>
          </a:stretch>
        </p:blipFill>
        <p:spPr>
          <a:xfrm>
            <a:off x="0" y="0"/>
            <a:ext cx="12192000" cy="1056800"/>
          </a:xfrm>
          <a:prstGeom prst="rect">
            <a:avLst/>
          </a:prstGeom>
          <a:noFill/>
          <a:ln>
            <a:noFill/>
          </a:ln>
        </p:spPr>
      </p:pic>
      <p:pic>
        <p:nvPicPr>
          <p:cNvPr id="7" name="Google Shape;58;p13">
            <a:extLst>
              <a:ext uri="{FF2B5EF4-FFF2-40B4-BE49-F238E27FC236}">
                <a16:creationId xmlns:a16="http://schemas.microsoft.com/office/drawing/2014/main" id="{3E80D904-D97B-158A-561E-FD0FD0F8D4E1}"/>
              </a:ext>
            </a:extLst>
          </p:cNvPr>
          <p:cNvPicPr preferRelativeResize="0"/>
          <p:nvPr/>
        </p:nvPicPr>
        <p:blipFill>
          <a:blip r:embed="rId3">
            <a:alphaModFix/>
          </a:blip>
          <a:stretch>
            <a:fillRect/>
          </a:stretch>
        </p:blipFill>
        <p:spPr>
          <a:xfrm>
            <a:off x="0" y="6329200"/>
            <a:ext cx="12192000" cy="528800"/>
          </a:xfrm>
          <a:prstGeom prst="rect">
            <a:avLst/>
          </a:prstGeom>
          <a:noFill/>
          <a:ln>
            <a:noFill/>
          </a:ln>
        </p:spPr>
      </p:pic>
      <p:sp>
        <p:nvSpPr>
          <p:cNvPr id="8" name="Google Shape;59;p13">
            <a:extLst>
              <a:ext uri="{FF2B5EF4-FFF2-40B4-BE49-F238E27FC236}">
                <a16:creationId xmlns:a16="http://schemas.microsoft.com/office/drawing/2014/main" id="{6380BA05-8101-1416-1C7B-621656F337EF}"/>
              </a:ext>
            </a:extLst>
          </p:cNvPr>
          <p:cNvSpPr txBox="1"/>
          <p:nvPr/>
        </p:nvSpPr>
        <p:spPr>
          <a:xfrm>
            <a:off x="520504" y="4956291"/>
            <a:ext cx="11360800" cy="989974"/>
          </a:xfrm>
          <a:prstGeom prst="rect">
            <a:avLst/>
          </a:prstGeom>
          <a:noFill/>
          <a:ln>
            <a:noFill/>
          </a:ln>
        </p:spPr>
        <p:txBody>
          <a:bodyPr spcFirstLastPara="1" wrap="square" lIns="121900" tIns="121900" rIns="121900" bIns="121900" numCol="1" anchor="t" anchorCtr="0">
            <a:spAutoFit/>
          </a:bodyPr>
          <a:lstStyle/>
          <a:p/>
        </p:txBody>
      </p:sp>
      <p:sp>
        <p:nvSpPr>
          <p:cNvPr id="9" name="Google Shape;60;p13">
            <a:extLst>
              <a:ext uri="{FF2B5EF4-FFF2-40B4-BE49-F238E27FC236}">
                <a16:creationId xmlns:a16="http://schemas.microsoft.com/office/drawing/2014/main" id="{4D143047-4F4D-CBE4-149B-59898FF003CA}"/>
              </a:ext>
            </a:extLst>
          </p:cNvPr>
          <p:cNvSpPr txBox="1"/>
          <p:nvPr/>
        </p:nvSpPr>
        <p:spPr>
          <a:xfrm>
            <a:off x="5247000" y="6329200"/>
            <a:ext cx="1698000" cy="492402"/>
          </a:xfrm>
          <a:prstGeom prst="rect">
            <a:avLst/>
          </a:prstGeom>
          <a:noFill/>
          <a:ln>
            <a:noFill/>
          </a:ln>
        </p:spPr>
        <p:txBody>
          <a:bodyPr spcFirstLastPara="1" wrap="square" lIns="121900" tIns="121900" rIns="121900" bIns="121900" anchor="t" anchorCtr="0">
            <a:spAutoFit/>
          </a:bodyPr>
          <a:lstStyle/>
          <a:p>
            <a:pPr algn="ctr">
              <a:defRPr sz="1400" b="1">
                <a:solidFill>
                  <a:srgbClr val="FFFFFF"/>
                </a:solidFill>
                <a:latin typeface="Arial"/>
              </a:defRPr>
            </a:pPr>
            <a:r>
              <a:t>September 2026</a:t>
            </a:r>
          </a:p>
        </p:txBody>
      </p:sp>
      <p:pic>
        <p:nvPicPr>
          <p:cNvPr id="10" name="Picture 4" descr="ccsiec | IEC">
            <a:extLst>
              <a:ext uri="{FF2B5EF4-FFF2-40B4-BE49-F238E27FC236}">
                <a16:creationId xmlns:a16="http://schemas.microsoft.com/office/drawing/2014/main" id="{2826A1DA-C070-4BFE-DA57-DFDBCFCA10B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trans="0"/>
                    </a14:imgEffect>
                  </a14:imgLayer>
                </a14:imgProps>
              </a:ext>
              <a:ext uri="{28A0092B-C50C-407E-A947-70E740481C1C}">
                <a14:useLocalDpi xmlns:a14="http://schemas.microsoft.com/office/drawing/2010/main" val="0"/>
              </a:ext>
            </a:extLst>
          </a:blip>
          <a:srcRect/>
          <a:stretch>
            <a:fillRect/>
          </a:stretch>
        </p:blipFill>
        <p:spPr bwMode="auto">
          <a:xfrm>
            <a:off x="415600" y="118907"/>
            <a:ext cx="3473753" cy="81898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1FAD4C78-B2D7-F092-3028-AA3A913DA2E3}"/>
              </a:ext>
            </a:extLst>
          </p:cNvPr>
          <p:cNvCxnSpPr>
            <a:cxnSpLocks/>
          </p:cNvCxnSpPr>
          <p:nvPr/>
        </p:nvCxnSpPr>
        <p:spPr>
          <a:xfrm>
            <a:off x="3097877" y="3111515"/>
            <a:ext cx="5996247" cy="0"/>
          </a:xfrm>
          <a:prstGeom prst="line">
            <a:avLst/>
          </a:prstGeom>
          <a:ln w="38100">
            <a:solidFill>
              <a:srgbClr val="0F2C53"/>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F01073B-477C-AB84-4671-1F596BAA2C96}"/>
              </a:ext>
            </a:extLst>
          </p:cNvPr>
          <p:cNvSpPr txBox="1"/>
          <p:nvPr/>
        </p:nvSpPr>
        <p:spPr>
          <a:xfrm>
            <a:off x="6316173" y="266789"/>
            <a:ext cx="5875827" cy="523220"/>
          </a:xfrm>
          <a:prstGeom prst="rect">
            <a:avLst/>
          </a:prstGeom>
          <a:noFill/>
        </p:spPr>
        <p:txBody>
          <a:bodyPr wrap="square" rtlCol="0">
            <a:spAutoFit/>
          </a:bodyPr>
          <a:lstStyle/>
          <a:p>
            <a:pPr algn="ctr"/>
            <a:r>
              <a:rPr lang="it-IT" altLang="en-US" sz="1400" dirty="0">
                <a:solidFill>
                  <a:schemeClr val="bg1"/>
                </a:solidFill>
              </a:rPr>
              <a:t>Dipartimento di Elettronica, Informazione e Bioingegneria</a:t>
            </a:r>
          </a:p>
          <a:p>
            <a:pPr algn="ctr"/>
            <a:r>
              <a:rPr lang="en-US" altLang="en-US" sz="1400" dirty="0" err="1">
                <a:solidFill>
                  <a:schemeClr val="bg1"/>
                </a:solidFill>
              </a:rPr>
              <a:t>Politecnico</a:t>
            </a:r>
            <a:r>
              <a:rPr lang="en-US" altLang="en-US" sz="1400" dirty="0">
                <a:solidFill>
                  <a:schemeClr val="bg1"/>
                </a:solidFill>
              </a:rPr>
              <a:t> </a:t>
            </a:r>
            <a:r>
              <a:rPr lang="en-US" altLang="en-US" sz="1400">
                <a:solidFill>
                  <a:schemeClr val="bg1"/>
                </a:solidFill>
              </a:rPr>
              <a:t>di Milano</a:t>
            </a:r>
            <a:endParaRPr lang="it-IT" altLang="en-US" sz="1400" dirty="0">
              <a:solidFill>
                <a:schemeClr val="bg1"/>
              </a:solidFill>
            </a:endParaRPr>
          </a:p>
        </p:txBody>
      </p:sp>
      <p:sp>
        <p:nvSpPr>
          <p:cNvPr id="13" name="TextBox 12"/>
          <p:cNvSpPr txBox="1"/>
          <p:nvPr/>
        </p:nvSpPr>
        <p:spPr>
          <a:xfrm>
            <a:off x="731520" y="1371600"/>
            <a:ext cx="10698480" cy="2011680"/>
          </a:xfrm>
          <a:prstGeom prst="rect">
            <a:avLst/>
          </a:prstGeom>
          <a:noFill/>
        </p:spPr>
        <p:txBody>
          <a:bodyPr wrap="square">
            <a:spAutoFit/>
          </a:bodyPr>
          <a:lstStyle/>
          <a:p>
            <a:pPr algn="ctr">
              <a:defRPr sz="3600" b="1">
                <a:solidFill>
                  <a:srgbClr val="85200C"/>
                </a:solidFill>
                <a:latin typeface="Titillium Web SemiBold"/>
              </a:defRPr>
            </a:pPr>
            <a:r>
              <a:t>Risk-Adaptive Neurosymbolic Intent Planning</a:t>
            </a:r>
            <a:br/>
            <a:r>
              <a:t>for Optical Networks</a:t>
            </a:r>
          </a:p>
          <a:p>
            <a:pPr algn="ctr">
              <a:defRPr sz="2000" b="1">
                <a:solidFill>
                  <a:srgbClr val="0F2C53"/>
                </a:solidFill>
                <a:latin typeface="Arial"/>
              </a:defRPr>
            </a:pPr>
            <a:r>
              <a:t>A Pre-Deployment Decision Mechanism with Joint Semantic and QoT Assessment</a:t>
            </a:r>
          </a:p>
        </p:txBody>
      </p:sp>
      <p:sp>
        <p:nvSpPr>
          <p:cNvPr id="14" name="TextBox 13"/>
          <p:cNvSpPr txBox="1"/>
          <p:nvPr/>
        </p:nvSpPr>
        <p:spPr>
          <a:xfrm>
            <a:off x="914400" y="3931920"/>
            <a:ext cx="10332720" cy="1828800"/>
          </a:xfrm>
          <a:prstGeom prst="rect">
            <a:avLst/>
          </a:prstGeom>
          <a:noFill/>
        </p:spPr>
        <p:txBody>
          <a:bodyPr wrap="square">
            <a:spAutoFit/>
          </a:bodyPr>
          <a:lstStyle/>
          <a:p>
            <a:pPr algn="ctr">
              <a:defRPr sz="2200" b="1">
                <a:solidFill>
                  <a:srgbClr val="0F2C53"/>
                </a:solidFill>
                <a:latin typeface="Arial"/>
              </a:defRPr>
            </a:pPr>
            <a:r>
              <a:t>Candidate: Felipe Abadía</a:t>
            </a:r>
          </a:p>
          <a:p>
            <a:pPr algn="ctr">
              <a:defRPr sz="1900" b="0">
                <a:solidFill>
                  <a:srgbClr val="222222"/>
                </a:solidFill>
                <a:latin typeface="Arial"/>
              </a:defRPr>
            </a:pPr>
            <a:r>
              <a:t>Academic Advisor: Prof. Massimo Tornatore</a:t>
            </a:r>
          </a:p>
          <a:p>
            <a:pPr algn="ctr">
              <a:defRPr sz="1500">
                <a:solidFill>
                  <a:srgbClr val="5A6B82"/>
                </a:solidFill>
                <a:latin typeface="Arial"/>
              </a:defRPr>
            </a:pPr>
            <a:r>
              <a:t>Dipartimento di Elettronica, Informazione e Bioingegneria — Politecnico di Milano</a:t>
            </a:r>
          </a:p>
        </p:txBody>
      </p:sp>
    </p:spTree>
    <p:extLst>
      <p:ext uri="{BB962C8B-B14F-4D97-AF65-F5344CB8AC3E}">
        <p14:creationId xmlns:p14="http://schemas.microsoft.com/office/powerpoint/2010/main" val="3934854283"/>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2</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OUTLINE</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8720"/>
            <a:ext cx="10789920" cy="907084"/>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600" b="1">
                <a:solidFill>
                  <a:srgbClr val="85200C"/>
                </a:solidFill>
                <a:latin typeface="Arial"/>
              </a:rPr>
              <a:t>[Problem 1] </a:t>
            </a:r>
            <a:r>
              <a:rPr sz="1600" b="1">
                <a:solidFill>
                  <a:srgbClr val="0F2C53"/>
                </a:solidFill>
                <a:latin typeface="Arial"/>
              </a:rPr>
              <a:t>The Optical Intent Planning Bottleneck</a:t>
            </a:r>
          </a:p>
          <a:p>
            <a:pPr>
              <a:defRPr sz="1300">
                <a:solidFill>
                  <a:srgbClr val="222222"/>
                </a:solidFill>
                <a:latin typeface="Arial"/>
              </a:defRPr>
            </a:pPr>
            <a:r>
              <a:t>Physical-layer constraints, token saturation, and hallucinated routing in optical backbones</a:t>
            </a:r>
          </a:p>
        </p:txBody>
      </p:sp>
      <p:sp>
        <p:nvSpPr>
          <p:cNvPr id="8" name="Rounded Rectangle 7"/>
          <p:cNvSpPr/>
          <p:nvPr/>
        </p:nvSpPr>
        <p:spPr>
          <a:xfrm>
            <a:off x="640080" y="2242108"/>
            <a:ext cx="10789920" cy="907084"/>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600" b="1">
                <a:solidFill>
                  <a:srgbClr val="85200C"/>
                </a:solidFill>
                <a:latin typeface="Arial"/>
              </a:rPr>
              <a:t>[Architecture] </a:t>
            </a:r>
            <a:r>
              <a:rPr sz="1600" b="1">
                <a:solidFill>
                  <a:srgbClr val="0F2C53"/>
                </a:solidFill>
                <a:latin typeface="Arial"/>
              </a:rPr>
              <a:t>Neurosymbolic Intent Planning Pipeline</a:t>
            </a:r>
          </a:p>
          <a:p>
            <a:pPr>
              <a:defRPr sz="1300">
                <a:solidFill>
                  <a:srgbClr val="222222"/>
                </a:solidFill>
                <a:latin typeface="Arial"/>
              </a:defRPr>
            </a:pPr>
            <a:r>
              <a:t>Decoupling probabilistic reasoning (NL to PDDL) from deterministic solvers and physics tools</a:t>
            </a:r>
          </a:p>
        </p:txBody>
      </p:sp>
      <p:sp>
        <p:nvSpPr>
          <p:cNvPr id="9" name="Rounded Rectangle 8"/>
          <p:cNvSpPr/>
          <p:nvPr/>
        </p:nvSpPr>
        <p:spPr>
          <a:xfrm>
            <a:off x="640080" y="3295497"/>
            <a:ext cx="10789920" cy="907084"/>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600" b="1">
                <a:solidFill>
                  <a:srgbClr val="85200C"/>
                </a:solidFill>
                <a:latin typeface="Arial"/>
              </a:rPr>
              <a:t>[Mechanism] </a:t>
            </a:r>
            <a:r>
              <a:rPr sz="1600" b="1">
                <a:solidFill>
                  <a:srgbClr val="0F2C53"/>
                </a:solidFill>
                <a:latin typeface="Arial"/>
              </a:rPr>
              <a:t>Pre-Deployment Risk Gates: Semantic &amp; Physical Validation</a:t>
            </a:r>
          </a:p>
          <a:p>
            <a:pPr>
              <a:defRPr sz="1300">
                <a:solidFill>
                  <a:srgbClr val="222222"/>
                </a:solidFill>
                <a:latin typeface="Arial"/>
              </a:defRPr>
            </a:pPr>
            <a:r>
              <a:t>Sequential fail-fast decision via Layer 1/2 semantic gate (U_sem) and GN-model QoT gate</a:t>
            </a:r>
          </a:p>
        </p:txBody>
      </p:sp>
      <p:sp>
        <p:nvSpPr>
          <p:cNvPr id="10" name="Rounded Rectangle 9"/>
          <p:cNvSpPr/>
          <p:nvPr/>
        </p:nvSpPr>
        <p:spPr>
          <a:xfrm>
            <a:off x="640080" y="4348886"/>
            <a:ext cx="10789920" cy="907084"/>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600" b="1">
                <a:solidFill>
                  <a:srgbClr val="85200C"/>
                </a:solidFill>
                <a:latin typeface="Arial"/>
              </a:rPr>
              <a:t>[Evaluation] </a:t>
            </a:r>
            <a:r>
              <a:rPr sz="1600" b="1">
                <a:solidFill>
                  <a:srgbClr val="0F2C53"/>
                </a:solidFill>
                <a:latin typeface="Arial"/>
              </a:rPr>
              <a:t>Experimental Testbed Validation on 17-Node Optical Topology</a:t>
            </a:r>
          </a:p>
          <a:p>
            <a:pPr>
              <a:defRPr sz="1300">
                <a:solidFill>
                  <a:srgbClr val="222222"/>
                </a:solidFill>
                <a:latin typeface="Arial"/>
              </a:defRPr>
            </a:pPr>
            <a:r>
              <a:t>Benchmarking safety, human intervention reduction, and orchestration latency against baselines</a:t>
            </a:r>
          </a:p>
        </p:txBody>
      </p:sp>
      <p:sp>
        <p:nvSpPr>
          <p:cNvPr id="11" name="Rounded Rectangle 10"/>
          <p:cNvSpPr/>
          <p:nvPr/>
        </p:nvSpPr>
        <p:spPr>
          <a:xfrm>
            <a:off x="640080" y="5402275"/>
            <a:ext cx="10789920" cy="907084"/>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ctr"/>
            <a:r>
              <a:rPr sz="1600" b="1">
                <a:solidFill>
                  <a:srgbClr val="85200C"/>
                </a:solidFill>
                <a:latin typeface="Arial"/>
              </a:rPr>
              <a:t>[Outlook] </a:t>
            </a:r>
            <a:r>
              <a:rPr sz="1600" b="1">
                <a:solidFill>
                  <a:srgbClr val="0F2C53"/>
                </a:solidFill>
                <a:latin typeface="Arial"/>
              </a:rPr>
              <a:t>Key Takeaways, System Guarantees &amp; Future Directions</a:t>
            </a:r>
          </a:p>
          <a:p>
            <a:pPr>
              <a:defRPr sz="1300">
                <a:solidFill>
                  <a:srgbClr val="222222"/>
                </a:solidFill>
                <a:latin typeface="Arial"/>
              </a:defRPr>
            </a:pPr>
            <a:r>
              <a:t>Summary of thesis contributions, operational guarantees, and extension to joint compute scheduling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3</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Motivation: The Vision of Intent-Based Optical Networks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Operational Paradigm Shift</a:t>
            </a:r>
          </a:p>
          <a:p>
            <a:pPr>
              <a:spcAft>
                <a:spcPts val="1000"/>
              </a:spcAft>
              <a:defRPr sz="1500">
                <a:solidFill>
                  <a:srgbClr val="222222"/>
                </a:solidFill>
                <a:latin typeface="Arial"/>
              </a:defRPr>
            </a:pPr>
            <a:r>
              <a:t>• Optical backbones carry terabits of core traffic across ROADM networks</a:t>
            </a:r>
          </a:p>
          <a:p>
            <a:pPr>
              <a:spcAft>
                <a:spcPts val="1000"/>
              </a:spcAft>
              <a:defRPr sz="1500">
                <a:solidFill>
                  <a:srgbClr val="222222"/>
                </a:solidFill>
                <a:latin typeface="Arial"/>
              </a:defRPr>
            </a:pPr>
            <a:r>
              <a:t>• Traditional workflow: manual CLI scripts and complex RESTConf payloads</a:t>
            </a:r>
          </a:p>
          <a:p>
            <a:pPr>
              <a:spcAft>
                <a:spcPts val="1000"/>
              </a:spcAft>
              <a:defRPr sz="1500">
                <a:solidFill>
                  <a:srgbClr val="222222"/>
                </a:solidFill>
                <a:latin typeface="Arial"/>
              </a:defRPr>
            </a:pPr>
            <a:r>
              <a:t>• Human configuration delays lightpath provisioning by hours or days</a:t>
            </a:r>
          </a:p>
          <a:p>
            <a:pPr>
              <a:spcAft>
                <a:spcPts val="1000"/>
              </a:spcAft>
              <a:defRPr sz="1500">
                <a:solidFill>
                  <a:srgbClr val="222222"/>
                </a:solidFill>
                <a:latin typeface="Arial"/>
              </a:defRPr>
            </a:pPr>
            <a:r>
              <a:t>• Goal: Transition to autonomous Intent-Based Networking (IBN)</a:t>
            </a:r>
          </a:p>
          <a:p>
            <a:pPr>
              <a:spcAft>
                <a:spcPts val="1000"/>
              </a:spcAft>
              <a:defRPr sz="1500">
                <a:solidFill>
                  <a:srgbClr val="222222"/>
                </a:solidFill>
                <a:latin typeface="Arial"/>
              </a:defRPr>
            </a:pPr>
            <a:r>
              <a:t>• Allow network operators to express high-level operational goals naturally</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The Operational Promise</a:t>
            </a:r>
          </a:p>
          <a:p>
            <a:pPr>
              <a:spcAft>
                <a:spcPts val="1000"/>
              </a:spcAft>
              <a:defRPr sz="1500">
                <a:solidFill>
                  <a:srgbClr val="222222"/>
                </a:solidFill>
                <a:latin typeface="Arial"/>
              </a:defRPr>
            </a:pPr>
            <a:r>
              <a:t>• High-level abstraction: specify WHAT is needed, not HOW to configure it</a:t>
            </a:r>
          </a:p>
          <a:p>
            <a:pPr>
              <a:spcAft>
                <a:spcPts val="1000"/>
              </a:spcAft>
              <a:defRPr sz="1500">
                <a:solidFill>
                  <a:srgbClr val="222222"/>
                </a:solidFill>
                <a:latin typeface="Arial"/>
              </a:defRPr>
            </a:pPr>
            <a:r>
              <a:t>• Example: 'Establish a 400G lightpath between Milan and Rome avoiding L2'</a:t>
            </a:r>
          </a:p>
          <a:p>
            <a:pPr>
              <a:spcAft>
                <a:spcPts val="1000"/>
              </a:spcAft>
              <a:defRPr sz="1500">
                <a:solidFill>
                  <a:srgbClr val="222222"/>
                </a:solidFill>
                <a:latin typeface="Arial"/>
              </a:defRPr>
            </a:pPr>
            <a:r>
              <a:t>• Autonomous translation into validated physical lightpaths</a:t>
            </a:r>
          </a:p>
          <a:p>
            <a:pPr>
              <a:spcAft>
                <a:spcPts val="1000"/>
              </a:spcAft>
              <a:defRPr sz="1500">
                <a:solidFill>
                  <a:srgbClr val="222222"/>
                </a:solidFill>
                <a:latin typeface="Arial"/>
              </a:defRPr>
            </a:pPr>
            <a:r>
              <a:t>• Reduces human configuration error across multi-vendor optical links</a:t>
            </a:r>
          </a:p>
          <a:p>
            <a:pPr>
              <a:spcAft>
                <a:spcPts val="1000"/>
              </a:spcAft>
              <a:defRPr sz="1500">
                <a:solidFill>
                  <a:srgbClr val="222222"/>
                </a:solidFill>
                <a:latin typeface="Arial"/>
              </a:defRPr>
            </a:pPr>
            <a:r>
              <a:t>• Critical challenge: Optical networks do not tolerate probabilistic errors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4</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Illustrative Failure: Why Standard LLMs Break Optical Backbones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Challenge 1: Token Budget Saturation</a:t>
            </a:r>
          </a:p>
          <a:p>
            <a:pPr>
              <a:spcAft>
                <a:spcPts val="1000"/>
              </a:spcAft>
              <a:defRPr sz="1500">
                <a:solidFill>
                  <a:srgbClr val="222222"/>
                </a:solidFill>
                <a:latin typeface="Arial"/>
              </a:defRPr>
            </a:pPr>
            <a:r>
              <a:t>• Full optical topology payloads (RESTConf JSON) exceed LLM context budgets</a:t>
            </a:r>
          </a:p>
          <a:p>
            <a:pPr>
              <a:spcAft>
                <a:spcPts val="1000"/>
              </a:spcAft>
              <a:defRPr sz="1500">
                <a:solidFill>
                  <a:srgbClr val="222222"/>
                </a:solidFill>
                <a:latin typeface="Arial"/>
              </a:defRPr>
            </a:pPr>
            <a:r>
              <a:t>• In a 100-node core network, telemetry dumps consume tens of thousands of tokens</a:t>
            </a:r>
          </a:p>
          <a:p>
            <a:pPr>
              <a:spcAft>
                <a:spcPts val="1000"/>
              </a:spcAft>
              <a:defRPr sz="1500">
                <a:solidFill>
                  <a:srgbClr val="222222"/>
                </a:solidFill>
                <a:latin typeface="Arial"/>
              </a:defRPr>
            </a:pPr>
            <a:r>
              <a:t>• Induces severe 'lost-in-the-middle' attention degradation</a:t>
            </a:r>
          </a:p>
          <a:p>
            <a:pPr>
              <a:spcAft>
                <a:spcPts val="1000"/>
              </a:spcAft>
              <a:defRPr sz="1500">
                <a:solidFill>
                  <a:srgbClr val="222222"/>
                </a:solidFill>
                <a:latin typeface="Arial"/>
              </a:defRPr>
            </a:pPr>
            <a:r>
              <a:t>• Result: The LLM drops explicit user constraints such as link exclusion rules</a:t>
            </a:r>
          </a:p>
          <a:p>
            <a:pPr>
              <a:spcAft>
                <a:spcPts val="1000"/>
              </a:spcAft>
              <a:defRPr sz="1500">
                <a:solidFill>
                  <a:srgbClr val="222222"/>
                </a:solidFill>
                <a:latin typeface="Arial"/>
              </a:defRPr>
            </a:pPr>
            <a:r>
              <a:t>• High API token cost and unpredictable prompt execution times</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Challenge 2: Hallucinated Physics</a:t>
            </a:r>
          </a:p>
          <a:p>
            <a:pPr>
              <a:spcAft>
                <a:spcPts val="1000"/>
              </a:spcAft>
              <a:defRPr sz="1500">
                <a:solidFill>
                  <a:srgbClr val="222222"/>
                </a:solidFill>
                <a:latin typeface="Arial"/>
              </a:defRPr>
            </a:pPr>
            <a:r>
              <a:t>• LLMs are probabilistic text predictors, not optical physics calculators</a:t>
            </a:r>
          </a:p>
          <a:p>
            <a:pPr>
              <a:spcAft>
                <a:spcPts val="1000"/>
              </a:spcAft>
              <a:defRPr sz="1500">
                <a:solidFill>
                  <a:srgbClr val="222222"/>
                </a:solidFill>
                <a:latin typeface="Arial"/>
              </a:defRPr>
            </a:pPr>
            <a:r>
              <a:t>• Incapable of computing Generalized Signal-to-Noise Ratio (GSNR)</a:t>
            </a:r>
          </a:p>
          <a:p>
            <a:pPr>
              <a:spcAft>
                <a:spcPts val="1000"/>
              </a:spcAft>
              <a:defRPr sz="1500">
                <a:solidFill>
                  <a:srgbClr val="222222"/>
                </a:solidFill>
                <a:latin typeface="Arial"/>
              </a:defRPr>
            </a:pPr>
            <a:r>
              <a:t>• Ignore nonlinear fiber Kerr effects and EDFA noise accumulation</a:t>
            </a:r>
          </a:p>
          <a:p>
            <a:pPr>
              <a:spcAft>
                <a:spcPts val="1000"/>
              </a:spcAft>
              <a:defRPr sz="1500">
                <a:solidFill>
                  <a:srgbClr val="222222"/>
                </a:solidFill>
                <a:latin typeface="Arial"/>
              </a:defRPr>
            </a:pPr>
            <a:r>
              <a:t>• Result: Proposes lightpaths with unfeasible optical Quality of Transmission</a:t>
            </a:r>
          </a:p>
          <a:p>
            <a:pPr>
              <a:spcAft>
                <a:spcPts val="1000"/>
              </a:spcAft>
              <a:defRPr sz="1500">
                <a:solidFill>
                  <a:srgbClr val="222222"/>
                </a:solidFill>
                <a:latin typeface="Arial"/>
              </a:defRPr>
            </a:pPr>
            <a:r>
              <a:t>• Causes severe traffic drop or optical controller rejection upon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5</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Problem Statement: Inputs, Constraints &amp; Objectives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0F2C53"/>
                </a:solidFill>
                <a:latin typeface="Arial"/>
              </a:defRPr>
            </a:pPr>
            <a:r>
              <a:t>1. Given Inputs</a:t>
            </a:r>
          </a:p>
          <a:p>
            <a:pPr>
              <a:spcAft>
                <a:spcPts val="800"/>
              </a:spcAft>
              <a:defRPr sz="1400">
                <a:solidFill>
                  <a:srgbClr val="222222"/>
                </a:solidFill>
                <a:latin typeface="Arial"/>
              </a:defRPr>
            </a:pPr>
            <a:r>
              <a:t>• Unstructured Natural Language intent from operator</a:t>
            </a:r>
          </a:p>
          <a:p>
            <a:pPr>
              <a:spcAft>
                <a:spcPts val="800"/>
              </a:spcAft>
              <a:defRPr sz="1400">
                <a:solidFill>
                  <a:srgbClr val="222222"/>
                </a:solidFill>
                <a:latin typeface="Arial"/>
              </a:defRPr>
            </a:pPr>
            <a:r>
              <a:t>• Physical topology graph G(V, E) via RESTConf</a:t>
            </a:r>
          </a:p>
          <a:p>
            <a:pPr>
              <a:spcAft>
                <a:spcPts val="800"/>
              </a:spcAft>
              <a:defRPr sz="1400">
                <a:solidFill>
                  <a:srgbClr val="222222"/>
                </a:solidFill>
                <a:latin typeface="Arial"/>
              </a:defRPr>
            </a:pPr>
            <a:r>
              <a:t>• Link fiber parameters: span lengths, attenuation</a:t>
            </a:r>
          </a:p>
          <a:p>
            <a:pPr>
              <a:spcAft>
                <a:spcPts val="800"/>
              </a:spcAft>
              <a:defRPr sz="1400">
                <a:solidFill>
                  <a:srgbClr val="222222"/>
                </a:solidFill>
                <a:latin typeface="Arial"/>
              </a:defRPr>
            </a:pPr>
            <a:r>
              <a:t>• EDFA amplifier gains and noise figures</a:t>
            </a:r>
          </a:p>
          <a:p>
            <a:pPr>
              <a:spcAft>
                <a:spcPts val="800"/>
              </a:spcAft>
              <a:defRPr sz="1400">
                <a:solidFill>
                  <a:srgbClr val="222222"/>
                </a:solidFill>
                <a:latin typeface="Arial"/>
              </a:defRPr>
            </a:pPr>
            <a:r>
              <a:t>• Transponder specs: baud rates, modulation formats</a:t>
            </a:r>
          </a:p>
        </p:txBody>
      </p:sp>
      <p:sp>
        <p:nvSpPr>
          <p:cNvPr id="8" name="Rounded Rectangle 7"/>
          <p:cNvSpPr/>
          <p:nvPr/>
        </p:nvSpPr>
        <p:spPr>
          <a:xfrm>
            <a:off x="432816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85200C"/>
                </a:solidFill>
                <a:latin typeface="Arial"/>
              </a:defRPr>
            </a:pPr>
            <a:r>
              <a:t>2. Constraints</a:t>
            </a:r>
          </a:p>
          <a:p>
            <a:pPr>
              <a:spcAft>
                <a:spcPts val="800"/>
              </a:spcAft>
              <a:defRPr sz="1400">
                <a:solidFill>
                  <a:srgbClr val="222222"/>
                </a:solidFill>
                <a:latin typeface="Arial"/>
              </a:defRPr>
            </a:pPr>
            <a:r>
              <a:t>• Semantic alignment: formal model matches intent</a:t>
            </a:r>
          </a:p>
          <a:p>
            <a:pPr>
              <a:spcAft>
                <a:spcPts val="800"/>
              </a:spcAft>
              <a:defRPr sz="1400">
                <a:solidFill>
                  <a:srgbClr val="222222"/>
                </a:solidFill>
                <a:latin typeface="Arial"/>
              </a:defRPr>
            </a:pPr>
            <a:r>
              <a:t>• Uncertainty bounded: U_sem &lt;= tau_sem</a:t>
            </a:r>
          </a:p>
          <a:p>
            <a:pPr>
              <a:spcAft>
                <a:spcPts val="800"/>
              </a:spcAft>
              <a:defRPr sz="1400">
                <a:solidFill>
                  <a:srgbClr val="222222"/>
                </a:solidFill>
                <a:latin typeface="Arial"/>
              </a:defRPr>
            </a:pPr>
            <a:r>
              <a:t>• Optical GSNR exceeds modulation threshold</a:t>
            </a:r>
          </a:p>
          <a:p>
            <a:pPr>
              <a:spcAft>
                <a:spcPts val="800"/>
              </a:spcAft>
              <a:defRPr sz="1400">
                <a:solidFill>
                  <a:srgbClr val="222222"/>
                </a:solidFill>
                <a:latin typeface="Arial"/>
              </a:defRPr>
            </a:pPr>
            <a:r>
              <a:t>• Receiver power satisfies sensitivity: P_rx &gt;= P_min</a:t>
            </a:r>
          </a:p>
          <a:p>
            <a:pPr>
              <a:spcAft>
                <a:spcPts val="800"/>
              </a:spcAft>
              <a:defRPr sz="1400">
                <a:solidFill>
                  <a:srgbClr val="222222"/>
                </a:solidFill>
                <a:latin typeface="Arial"/>
              </a:defRPr>
            </a:pPr>
            <a:r>
              <a:t>• Zero spectral overlap and wavelength collision</a:t>
            </a:r>
          </a:p>
        </p:txBody>
      </p:sp>
      <p:sp>
        <p:nvSpPr>
          <p:cNvPr id="9" name="Rounded Rectangle 8"/>
          <p:cNvSpPr/>
          <p:nvPr/>
        </p:nvSpPr>
        <p:spPr>
          <a:xfrm>
            <a:off x="801624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1A7F37"/>
                </a:solidFill>
                <a:latin typeface="Arial"/>
              </a:defRPr>
            </a:pPr>
            <a:r>
              <a:t>3. Objectives</a:t>
            </a:r>
          </a:p>
          <a:p>
            <a:pPr>
              <a:spcAft>
                <a:spcPts val="800"/>
              </a:spcAft>
              <a:defRPr sz="1400">
                <a:solidFill>
                  <a:srgbClr val="222222"/>
                </a:solidFill>
                <a:latin typeface="Arial"/>
              </a:defRPr>
            </a:pPr>
            <a:r>
              <a:t>• Zero unfeasible routes reaching controller</a:t>
            </a:r>
          </a:p>
          <a:p>
            <a:pPr>
              <a:spcAft>
                <a:spcPts val="800"/>
              </a:spcAft>
              <a:defRPr sz="1400">
                <a:solidFill>
                  <a:srgbClr val="222222"/>
                </a:solidFill>
                <a:latin typeface="Arial"/>
              </a:defRPr>
            </a:pPr>
            <a:r>
              <a:t>• Fail-fast pre-deployment validation pipeline</a:t>
            </a:r>
          </a:p>
          <a:p>
            <a:pPr>
              <a:spcAft>
                <a:spcPts val="800"/>
              </a:spcAft>
              <a:defRPr sz="1400">
                <a:solidFill>
                  <a:srgbClr val="222222"/>
                </a:solidFill>
                <a:latin typeface="Arial"/>
              </a:defRPr>
            </a:pPr>
            <a:r>
              <a:t>• Selective, risk-proportional HITL engagement</a:t>
            </a:r>
          </a:p>
          <a:p>
            <a:pPr>
              <a:spcAft>
                <a:spcPts val="800"/>
              </a:spcAft>
              <a:defRPr sz="1400">
                <a:solidFill>
                  <a:srgbClr val="222222"/>
                </a:solidFill>
                <a:latin typeface="Arial"/>
              </a:defRPr>
            </a:pPr>
            <a:r>
              <a:t>• Sub-second deterministic computation time</a:t>
            </a:r>
          </a:p>
          <a:p>
            <a:pPr>
              <a:spcAft>
                <a:spcPts val="800"/>
              </a:spcAft>
              <a:defRPr sz="1400">
                <a:solidFill>
                  <a:srgbClr val="222222"/>
                </a:solidFill>
                <a:latin typeface="Arial"/>
              </a:defRPr>
            </a:pPr>
            <a:r>
              <a:t>• Auditable planning report for network engineers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6</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Proposed Solution: Neurosymbolic Decoupling</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Core Architectural Principle</a:t>
            </a:r>
          </a:p>
          <a:p>
            <a:pPr>
              <a:spcAft>
                <a:spcPts val="1000"/>
              </a:spcAft>
              <a:defRPr sz="1500">
                <a:solidFill>
                  <a:srgbClr val="222222"/>
                </a:solidFill>
                <a:latin typeface="Arial"/>
              </a:defRPr>
            </a:pPr>
            <a:r>
              <a:t>• LLMs Reason, Deterministic Tools Calculate</a:t>
            </a:r>
          </a:p>
          <a:p>
            <a:pPr>
              <a:spcAft>
                <a:spcPts val="1000"/>
              </a:spcAft>
              <a:defRPr sz="1500">
                <a:solidFill>
                  <a:srgbClr val="222222"/>
                </a:solidFill>
                <a:latin typeface="Arial"/>
              </a:defRPr>
            </a:pPr>
            <a:r>
              <a:t>• Prohibit LLMs from performing graph routing or arithmetic</a:t>
            </a:r>
          </a:p>
          <a:p>
            <a:pPr>
              <a:spcAft>
                <a:spcPts val="1000"/>
              </a:spcAft>
              <a:defRPr sz="1500">
                <a:solidFill>
                  <a:srgbClr val="222222"/>
                </a:solidFill>
                <a:latin typeface="Arial"/>
              </a:defRPr>
            </a:pPr>
            <a:r>
              <a:t>• Constrain the LLM strictly to formal linguistic translation</a:t>
            </a:r>
          </a:p>
          <a:p>
            <a:pPr>
              <a:spcAft>
                <a:spcPts val="1000"/>
              </a:spcAft>
              <a:defRPr sz="1500">
                <a:solidFill>
                  <a:srgbClr val="222222"/>
                </a:solidFill>
                <a:latin typeface="Arial"/>
              </a:defRPr>
            </a:pPr>
            <a:r>
              <a:t>• Natural Language is parsed into formal PDDL constraints</a:t>
            </a:r>
          </a:p>
          <a:p>
            <a:pPr>
              <a:spcAft>
                <a:spcPts val="1000"/>
              </a:spcAft>
              <a:defRPr sz="1500">
                <a:solidFill>
                  <a:srgbClr val="222222"/>
                </a:solidFill>
                <a:latin typeface="Arial"/>
              </a:defRPr>
            </a:pPr>
            <a:r>
              <a:t>• Path computation delegated to Yen's KSP graph algorithms</a:t>
            </a:r>
          </a:p>
          <a:p>
            <a:pPr>
              <a:spcAft>
                <a:spcPts val="1000"/>
              </a:spcAft>
              <a:defRPr sz="1500">
                <a:solidFill>
                  <a:srgbClr val="222222"/>
                </a:solidFill>
                <a:latin typeface="Arial"/>
              </a:defRPr>
            </a:pPr>
            <a:r>
              <a:t>• Physical validation delegated to analytical GN-model engine</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1A7F37"/>
                </a:solidFill>
                <a:latin typeface="Arial"/>
              </a:defRPr>
            </a:pPr>
            <a:r>
              <a:t>Four Core Contributions</a:t>
            </a:r>
          </a:p>
          <a:p>
            <a:pPr>
              <a:spcAft>
                <a:spcPts val="1000"/>
              </a:spcAft>
              <a:defRPr sz="1500">
                <a:solidFill>
                  <a:srgbClr val="222222"/>
                </a:solidFill>
                <a:latin typeface="Arial"/>
              </a:defRPr>
            </a:pPr>
            <a:r>
              <a:t>• 1. Neurosymbolic Pipeline: High-accuracy NL-to-PDDL translation</a:t>
            </a:r>
          </a:p>
          <a:p>
            <a:pPr>
              <a:spcAft>
                <a:spcPts val="1000"/>
              </a:spcAft>
              <a:defRPr sz="1500">
                <a:solidFill>
                  <a:srgbClr val="222222"/>
                </a:solidFill>
                <a:latin typeface="Arial"/>
              </a:defRPr>
            </a:pPr>
            <a:r>
              <a:t>• 2. Scoped Optical GraphRAG: k-hop neighborhood extraction</a:t>
            </a:r>
          </a:p>
          <a:p>
            <a:pPr>
              <a:spcAft>
                <a:spcPts val="1000"/>
              </a:spcAft>
              <a:defRPr sz="1500">
                <a:solidFill>
                  <a:srgbClr val="222222"/>
                </a:solidFill>
                <a:latin typeface="Arial"/>
              </a:defRPr>
            </a:pPr>
            <a:r>
              <a:t>• 3. Pre-Deployment Risk Gates: Joint U_sem and QoT validation</a:t>
            </a:r>
          </a:p>
          <a:p>
            <a:pPr>
              <a:spcAft>
                <a:spcPts val="1000"/>
              </a:spcAft>
              <a:defRPr sz="1500">
                <a:solidFill>
                  <a:srgbClr val="222222"/>
                </a:solidFill>
                <a:latin typeface="Arial"/>
              </a:defRPr>
            </a:pPr>
            <a:r>
              <a:t>• 4. Production Orchestration: LangGraph StateGraph engine</a:t>
            </a:r>
          </a:p>
          <a:p>
            <a:pPr>
              <a:spcAft>
                <a:spcPts val="1000"/>
              </a:spcAft>
              <a:defRPr sz="1500">
                <a:solidFill>
                  <a:srgbClr val="222222"/>
                </a:solidFill>
                <a:latin typeface="Arial"/>
              </a:defRPr>
            </a:pPr>
            <a:r>
              <a:t>• Guarantees provable physical safety before configuration push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7</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End-to-End System Architecture &amp; Pipeline Flow</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8720"/>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1 </a:t>
            </a:r>
            <a:r>
              <a:rPr sz="1400" b="1">
                <a:solidFill>
                  <a:srgbClr val="0F2C53"/>
                </a:solidFill>
                <a:latin typeface="Arial"/>
              </a:rPr>
              <a:t>Intent Ingest &amp; Optical RAG</a:t>
            </a:r>
          </a:p>
          <a:p>
            <a:pPr>
              <a:defRPr sz="1200">
                <a:solidFill>
                  <a:srgbClr val="222222"/>
                </a:solidFill>
                <a:latin typeface="Arial"/>
              </a:defRPr>
            </a:pPr>
            <a:r>
              <a:t>Enrich operator intent with ITU-T optical grid standards and transponder modes</a:t>
            </a:r>
          </a:p>
        </p:txBody>
      </p:sp>
      <p:sp>
        <p:nvSpPr>
          <p:cNvPr id="8" name="Rounded Rectangle 7"/>
          <p:cNvSpPr/>
          <p:nvPr/>
        </p:nvSpPr>
        <p:spPr>
          <a:xfrm>
            <a:off x="640080" y="1933302"/>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2 </a:t>
            </a:r>
            <a:r>
              <a:rPr sz="1400" b="1">
                <a:solidFill>
                  <a:srgbClr val="0F2C53"/>
                </a:solidFill>
                <a:latin typeface="Arial"/>
              </a:rPr>
              <a:t>PDDL Intent Parsing</a:t>
            </a:r>
          </a:p>
          <a:p>
            <a:pPr>
              <a:defRPr sz="1200">
                <a:solidFill>
                  <a:srgbClr val="222222"/>
                </a:solidFill>
                <a:latin typeface="Arial"/>
              </a:defRPr>
            </a:pPr>
            <a:r>
              <a:t>Translate enriched intent into formal Planning Domain Definition Language constraints</a:t>
            </a:r>
          </a:p>
        </p:txBody>
      </p:sp>
      <p:sp>
        <p:nvSpPr>
          <p:cNvPr id="9" name="Rounded Rectangle 8"/>
          <p:cNvSpPr/>
          <p:nvPr/>
        </p:nvSpPr>
        <p:spPr>
          <a:xfrm>
            <a:off x="640080" y="2677885"/>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3 </a:t>
            </a:r>
            <a:r>
              <a:rPr sz="1400" b="1">
                <a:solidFill>
                  <a:srgbClr val="0F2C53"/>
                </a:solidFill>
                <a:latin typeface="Arial"/>
              </a:rPr>
              <a:t>Semantic Gate (U_sem)</a:t>
            </a:r>
          </a:p>
          <a:p>
            <a:pPr>
              <a:defRPr sz="1200">
                <a:solidFill>
                  <a:srgbClr val="222222"/>
                </a:solidFill>
                <a:latin typeface="Arial"/>
              </a:defRPr>
            </a:pPr>
            <a:r>
              <a:t>Evaluate CFG regex syntax and Reverse Prompting disagreement to catch hallucinations early</a:t>
            </a:r>
          </a:p>
        </p:txBody>
      </p:sp>
      <p:sp>
        <p:nvSpPr>
          <p:cNvPr id="10" name="Rounded Rectangle 9"/>
          <p:cNvSpPr/>
          <p:nvPr/>
        </p:nvSpPr>
        <p:spPr>
          <a:xfrm>
            <a:off x="640080" y="3422468"/>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4 </a:t>
            </a:r>
            <a:r>
              <a:rPr sz="1400" b="1">
                <a:solidFill>
                  <a:srgbClr val="0F2C53"/>
                </a:solidFill>
                <a:latin typeface="Arial"/>
              </a:rPr>
              <a:t>Symbolic Solver &amp; GraphRAG</a:t>
            </a:r>
          </a:p>
          <a:p>
            <a:pPr>
              <a:defRPr sz="1200">
                <a:solidFill>
                  <a:srgbClr val="222222"/>
                </a:solidFill>
                <a:latin typeface="Arial"/>
              </a:defRPr>
            </a:pPr>
            <a:r>
              <a:t>Extract scoped k-hop subtopology and generate K-Shortest Paths via NetworkX</a:t>
            </a:r>
          </a:p>
        </p:txBody>
      </p:sp>
      <p:sp>
        <p:nvSpPr>
          <p:cNvPr id="11" name="Rounded Rectangle 10"/>
          <p:cNvSpPr/>
          <p:nvPr/>
        </p:nvSpPr>
        <p:spPr>
          <a:xfrm>
            <a:off x="640080" y="4167051"/>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5 </a:t>
            </a:r>
            <a:r>
              <a:rPr sz="1400" b="1">
                <a:solidFill>
                  <a:srgbClr val="0F2C53"/>
                </a:solidFill>
                <a:latin typeface="Arial"/>
              </a:rPr>
              <a:t>QoT Physics Validation</a:t>
            </a:r>
          </a:p>
          <a:p>
            <a:pPr>
              <a:defRPr sz="1200">
                <a:solidFill>
                  <a:srgbClr val="222222"/>
                </a:solidFill>
                <a:latin typeface="Arial"/>
              </a:defRPr>
            </a:pPr>
            <a:r>
              <a:t>Compute deterministic GSNR and receiver power P_rx using Python GN-model</a:t>
            </a:r>
          </a:p>
        </p:txBody>
      </p:sp>
      <p:sp>
        <p:nvSpPr>
          <p:cNvPr id="12" name="Rounded Rectangle 11"/>
          <p:cNvSpPr/>
          <p:nvPr/>
        </p:nvSpPr>
        <p:spPr>
          <a:xfrm>
            <a:off x="640080" y="4911634"/>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6 </a:t>
            </a:r>
            <a:r>
              <a:rPr sz="1400" b="1">
                <a:solidFill>
                  <a:srgbClr val="0F2C53"/>
                </a:solidFill>
                <a:latin typeface="Arial"/>
              </a:rPr>
              <a:t>Risk-Adaptive Decision Gate (RADG)</a:t>
            </a:r>
          </a:p>
          <a:p>
            <a:pPr>
              <a:defRPr sz="1200">
                <a:solidFill>
                  <a:srgbClr val="222222"/>
                </a:solidFill>
                <a:latin typeface="Arial"/>
              </a:defRPr>
            </a:pPr>
            <a:r>
              <a:t>Execute piecewise decision function D(U_sem, QoT_valid) -&gt; Auto-Approve / Replan / Clarify</a:t>
            </a:r>
          </a:p>
        </p:txBody>
      </p:sp>
      <p:sp>
        <p:nvSpPr>
          <p:cNvPr id="13" name="Rounded Rectangle 12"/>
          <p:cNvSpPr/>
          <p:nvPr/>
        </p:nvSpPr>
        <p:spPr>
          <a:xfrm>
            <a:off x="640080" y="5656217"/>
            <a:ext cx="10789920" cy="653142"/>
          </a:xfrm>
          <a:prstGeom prst="roundRect">
            <a:avLst/>
          </a:prstGeom>
          <a:solidFill>
            <a:srgbClr val="F4F6F9"/>
          </a:solidFill>
          <a:ln w="1524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54864" bIns="54864"/>
          <a:lstStyle/>
          <a:p>
            <a:pPr algn="ctr"/>
            <a:r>
              <a:rPr sz="1400" b="1">
                <a:solidFill>
                  <a:srgbClr val="85200C"/>
                </a:solidFill>
                <a:latin typeface="Arial"/>
              </a:rPr>
              <a:t>Phase 7 </a:t>
            </a:r>
            <a:r>
              <a:rPr sz="1400" b="1">
                <a:solidFill>
                  <a:srgbClr val="0F2C53"/>
                </a:solidFill>
                <a:latin typeface="Arial"/>
              </a:rPr>
              <a:t>Plan Synthesizer</a:t>
            </a:r>
          </a:p>
          <a:p>
            <a:pPr>
              <a:defRPr sz="1200">
                <a:solidFill>
                  <a:srgbClr val="222222"/>
                </a:solidFill>
                <a:latin typeface="Arial"/>
              </a:defRPr>
            </a:pPr>
            <a:r>
              <a:t>Generate auditable planning report with verification traces and testbed deployment commands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8</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Overcoming Token Saturation: Scoped Optical GraphRAG</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The Problem: Topology Bloat</a:t>
            </a:r>
          </a:p>
          <a:p>
            <a:pPr>
              <a:spcAft>
                <a:spcPts val="1000"/>
              </a:spcAft>
              <a:defRPr sz="1500">
                <a:solidFill>
                  <a:srgbClr val="222222"/>
                </a:solidFill>
                <a:latin typeface="Arial"/>
              </a:defRPr>
            </a:pPr>
            <a:r>
              <a:t>• Full topology dumps overwhelm LLM context windows</a:t>
            </a:r>
          </a:p>
          <a:p>
            <a:pPr>
              <a:spcAft>
                <a:spcPts val="1000"/>
              </a:spcAft>
              <a:defRPr sz="1500">
                <a:solidFill>
                  <a:srgbClr val="222222"/>
                </a:solidFill>
                <a:latin typeface="Arial"/>
              </a:defRPr>
            </a:pPr>
            <a:r>
              <a:t>• Raw JSON contains excessive telemetry: ROADM ports, EDFAs, fibers</a:t>
            </a:r>
          </a:p>
          <a:p>
            <a:pPr>
              <a:spcAft>
                <a:spcPts val="1000"/>
              </a:spcAft>
              <a:defRPr sz="1500">
                <a:solidFill>
                  <a:srgbClr val="222222"/>
                </a:solidFill>
                <a:latin typeface="Arial"/>
              </a:defRPr>
            </a:pPr>
            <a:r>
              <a:t>• Causes severe attention degradation on key operational constraints</a:t>
            </a:r>
          </a:p>
          <a:p>
            <a:pPr>
              <a:spcAft>
                <a:spcPts val="1000"/>
              </a:spcAft>
              <a:defRPr sz="1500">
                <a:solidFill>
                  <a:srgbClr val="222222"/>
                </a:solidFill>
                <a:latin typeface="Arial"/>
              </a:defRPr>
            </a:pPr>
            <a:r>
              <a:t>• Linear increase in inference latency and financial token cost</a:t>
            </a:r>
          </a:p>
          <a:p>
            <a:pPr>
              <a:spcAft>
                <a:spcPts val="1000"/>
              </a:spcAft>
              <a:defRPr sz="1500">
                <a:solidFill>
                  <a:srgbClr val="222222"/>
                </a:solidFill>
                <a:latin typeface="Arial"/>
              </a:defRPr>
            </a:pPr>
            <a:r>
              <a:t>• Fragile prompt structures prone to truncation and context loss</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Deterministic k-hop Subtopology Scoping</a:t>
            </a:r>
          </a:p>
          <a:p>
            <a:pPr>
              <a:spcAft>
                <a:spcPts val="1000"/>
              </a:spcAft>
              <a:defRPr sz="1500">
                <a:solidFill>
                  <a:srgbClr val="222222"/>
                </a:solidFill>
                <a:latin typeface="Arial"/>
              </a:defRPr>
            </a:pPr>
            <a:r>
              <a:t>• Graph engine extracts only the k-hop neighborhood between endpoints</a:t>
            </a:r>
          </a:p>
          <a:p>
            <a:pPr>
              <a:spcAft>
                <a:spcPts val="1000"/>
              </a:spcAft>
              <a:defRPr sz="1500">
                <a:solidFill>
                  <a:srgbClr val="222222"/>
                </a:solidFill>
                <a:latin typeface="Arial"/>
              </a:defRPr>
            </a:pPr>
            <a:r>
              <a:t>• Filters out irrelevant core subnets, links, and unused transponders</a:t>
            </a:r>
          </a:p>
          <a:p>
            <a:pPr>
              <a:spcAft>
                <a:spcPts val="1000"/>
              </a:spcAft>
              <a:defRPr sz="1500">
                <a:solidFill>
                  <a:srgbClr val="222222"/>
                </a:solidFill>
                <a:latin typeface="Arial"/>
              </a:defRPr>
            </a:pPr>
            <a:r>
              <a:t>• Reduces prompt token payload by over 75%</a:t>
            </a:r>
          </a:p>
          <a:p>
            <a:pPr>
              <a:spcAft>
                <a:spcPts val="1000"/>
              </a:spcAft>
              <a:defRPr sz="1500">
                <a:solidFill>
                  <a:srgbClr val="222222"/>
                </a:solidFill>
                <a:latin typeface="Arial"/>
              </a:defRPr>
            </a:pPr>
            <a:r>
              <a:t>• O(V + E) graph traversal executes in sub-millisecond Python code</a:t>
            </a:r>
          </a:p>
          <a:p>
            <a:pPr>
              <a:spcAft>
                <a:spcPts val="1000"/>
              </a:spcAft>
              <a:defRPr sz="1500">
                <a:solidFill>
                  <a:srgbClr val="222222"/>
                </a:solidFill>
                <a:latin typeface="Arial"/>
              </a:defRPr>
            </a:pPr>
            <a:r>
              <a:t>• Guarantees sharp LLM attention focus on active optical constraints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9</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Overcoming Semantic Drift: Reverse Prompting &amp; HITL</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Two-Layer Semantic Uncertainty (U_sem)</a:t>
            </a:r>
          </a:p>
          <a:p>
            <a:pPr>
              <a:spcAft>
                <a:spcPts val="1000"/>
              </a:spcAft>
              <a:defRPr sz="1500">
                <a:solidFill>
                  <a:srgbClr val="222222"/>
                </a:solidFill>
                <a:latin typeface="Arial"/>
              </a:defRPr>
            </a:pPr>
            <a:r>
              <a:t>• Layer 1 (Structural): Context-Free Grammar (CFG) regex validator</a:t>
            </a:r>
          </a:p>
          <a:p>
            <a:pPr>
              <a:spcAft>
                <a:spcPts val="1000"/>
              </a:spcAft>
              <a:defRPr sz="1500">
                <a:solidFill>
                  <a:srgbClr val="222222"/>
                </a:solidFill>
                <a:latin typeface="Arial"/>
              </a:defRPr>
            </a:pPr>
            <a:r>
              <a:t>• Instantly rejects hallucinated predicates or malformed PDDL syntax</a:t>
            </a:r>
          </a:p>
          <a:p>
            <a:pPr>
              <a:spcAft>
                <a:spcPts val="1000"/>
              </a:spcAft>
              <a:defRPr sz="1500">
                <a:solidFill>
                  <a:srgbClr val="222222"/>
                </a:solidFill>
                <a:latin typeface="Arial"/>
              </a:defRPr>
            </a:pPr>
            <a:r>
              <a:t>• Layer 2 (Semantic): Reverse Prompting reconstructs NL from PDDL</a:t>
            </a:r>
          </a:p>
          <a:p>
            <a:pPr>
              <a:spcAft>
                <a:spcPts val="1000"/>
              </a:spcAft>
              <a:defRPr sz="1500">
                <a:solidFill>
                  <a:srgbClr val="222222"/>
                </a:solidFill>
                <a:latin typeface="Arial"/>
              </a:defRPr>
            </a:pPr>
            <a:r>
              <a:t>• Independent LLM judge measures semantic divergence d_sem in [0, 1]</a:t>
            </a:r>
          </a:p>
          <a:p>
            <a:pPr>
              <a:spcAft>
                <a:spcPts val="1000"/>
              </a:spcAft>
              <a:defRPr sz="1500">
                <a:solidFill>
                  <a:srgbClr val="222222"/>
                </a:solidFill>
                <a:latin typeface="Arial"/>
              </a:defRPr>
            </a:pPr>
            <a:r>
              <a:t>• Formal metric: U_sem = 1 if syntax invalid, else U_sem = d_sem</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Fail-Fast HITL Clarification Loop</a:t>
            </a:r>
          </a:p>
          <a:p>
            <a:pPr>
              <a:spcAft>
                <a:spcPts val="1000"/>
              </a:spcAft>
              <a:defRPr sz="1500">
                <a:solidFill>
                  <a:srgbClr val="222222"/>
                </a:solidFill>
                <a:latin typeface="Arial"/>
              </a:defRPr>
            </a:pPr>
            <a:r>
              <a:t>• Evaluated BEFORE invoking graph solvers or physical tools</a:t>
            </a:r>
          </a:p>
          <a:p>
            <a:pPr>
              <a:spcAft>
                <a:spcPts val="1000"/>
              </a:spcAft>
              <a:defRPr sz="1500">
                <a:solidFill>
                  <a:srgbClr val="222222"/>
                </a:solidFill>
                <a:latin typeface="Arial"/>
              </a:defRPr>
            </a:pPr>
            <a:r>
              <a:t>• If U_sem &gt; tau_sem: Pipeline pauses via LangGraph interrupt()</a:t>
            </a:r>
          </a:p>
          <a:p>
            <a:pPr>
              <a:spcAft>
                <a:spcPts val="1000"/>
              </a:spcAft>
              <a:defRPr sz="1500">
                <a:solidFill>
                  <a:srgbClr val="222222"/>
                </a:solidFill>
                <a:latin typeface="Arial"/>
              </a:defRPr>
            </a:pPr>
            <a:r>
              <a:t>• Prompts operator to clarify ambiguous parameters or missing nodes</a:t>
            </a:r>
          </a:p>
          <a:p>
            <a:pPr>
              <a:spcAft>
                <a:spcPts val="1000"/>
              </a:spcAft>
              <a:defRPr sz="1500">
                <a:solidFill>
                  <a:srgbClr val="222222"/>
                </a:solidFill>
                <a:latin typeface="Arial"/>
              </a:defRPr>
            </a:pPr>
            <a:r>
              <a:t>• Eliminates infinite trial-and-error conversational loops</a:t>
            </a:r>
          </a:p>
          <a:p>
            <a:pPr>
              <a:spcAft>
                <a:spcPts val="1000"/>
              </a:spcAft>
              <a:defRPr sz="1500">
                <a:solidFill>
                  <a:srgbClr val="222222"/>
                </a:solidFill>
                <a:latin typeface="Arial"/>
              </a:defRPr>
            </a:pPr>
            <a:r>
              <a:t>• Guarantees that downstream tools receive mathematically verified intent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10</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Pre-Deployment Risk Gate: The RADG Decision Function</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0F2C53"/>
                </a:solidFill>
                <a:latin typeface="Arial"/>
              </a:defRPr>
            </a:pPr>
            <a:r>
              <a:t>1. State Space &amp; Inputs</a:t>
            </a:r>
          </a:p>
          <a:p>
            <a:pPr>
              <a:spcAft>
                <a:spcPts val="800"/>
              </a:spcAft>
              <a:defRPr sz="1400">
                <a:solidFill>
                  <a:srgbClr val="222222"/>
                </a:solidFill>
                <a:latin typeface="Arial"/>
              </a:defRPr>
            </a:pPr>
            <a:r>
              <a:t>• Sequential pre-deployment risk evaluation</a:t>
            </a:r>
          </a:p>
          <a:p>
            <a:pPr>
              <a:spcAft>
                <a:spcPts val="800"/>
              </a:spcAft>
              <a:defRPr sz="1400">
                <a:solidFill>
                  <a:srgbClr val="222222"/>
                </a:solidFill>
                <a:latin typeface="Arial"/>
              </a:defRPr>
            </a:pPr>
            <a:r>
              <a:t>• Signal 1: Semantic Uncertainty U_sem in [0, 1]</a:t>
            </a:r>
          </a:p>
          <a:p>
            <a:pPr>
              <a:spcAft>
                <a:spcPts val="800"/>
              </a:spcAft>
              <a:defRPr sz="1400">
                <a:solidFill>
                  <a:srgbClr val="222222"/>
                </a:solidFill>
                <a:latin typeface="Arial"/>
              </a:defRPr>
            </a:pPr>
            <a:r>
              <a:t>• Signal 2: Binary QoT feasibility QoT_valid</a:t>
            </a:r>
          </a:p>
          <a:p>
            <a:pPr>
              <a:spcAft>
                <a:spcPts val="800"/>
              </a:spcAft>
              <a:defRPr sz="1400">
                <a:solidFill>
                  <a:srgbClr val="222222"/>
                </a:solidFill>
                <a:latin typeface="Arial"/>
              </a:defRPr>
            </a:pPr>
            <a:r>
              <a:t>• Action space A = {approve, clarify, replan}</a:t>
            </a:r>
          </a:p>
          <a:p>
            <a:pPr>
              <a:spcAft>
                <a:spcPts val="800"/>
              </a:spcAft>
              <a:defRPr sz="1400">
                <a:solidFill>
                  <a:srgbClr val="222222"/>
                </a:solidFill>
                <a:latin typeface="Arial"/>
              </a:defRPr>
            </a:pPr>
            <a:r>
              <a:t>• Prevents deployment of unverified network plans</a:t>
            </a:r>
          </a:p>
        </p:txBody>
      </p:sp>
      <p:sp>
        <p:nvSpPr>
          <p:cNvPr id="8" name="Rounded Rectangle 7"/>
          <p:cNvSpPr/>
          <p:nvPr/>
        </p:nvSpPr>
        <p:spPr>
          <a:xfrm>
            <a:off x="432816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85200C"/>
                </a:solidFill>
                <a:latin typeface="Arial"/>
              </a:defRPr>
            </a:pPr>
            <a:r>
              <a:t>2. Piecewise Formulation</a:t>
            </a:r>
          </a:p>
          <a:p>
            <a:pPr>
              <a:spcAft>
                <a:spcPts val="800"/>
              </a:spcAft>
              <a:defRPr sz="1400">
                <a:solidFill>
                  <a:srgbClr val="222222"/>
                </a:solidFill>
                <a:latin typeface="Arial"/>
              </a:defRPr>
            </a:pPr>
            <a:r>
              <a:t>• D = clarify   IF U_sem &gt; tau_sem</a:t>
            </a:r>
          </a:p>
          <a:p>
            <a:pPr>
              <a:spcAft>
                <a:spcPts val="800"/>
              </a:spcAft>
              <a:defRPr sz="1400">
                <a:solidFill>
                  <a:srgbClr val="222222"/>
                </a:solidFill>
                <a:latin typeface="Arial"/>
              </a:defRPr>
            </a:pPr>
            <a:r>
              <a:t>• D = replan   IF U_sem &lt;= tau_sem AND QoT_valid = 0</a:t>
            </a:r>
          </a:p>
          <a:p>
            <a:pPr>
              <a:spcAft>
                <a:spcPts val="800"/>
              </a:spcAft>
              <a:defRPr sz="1400">
                <a:solidFill>
                  <a:srgbClr val="222222"/>
                </a:solidFill>
                <a:latin typeface="Arial"/>
              </a:defRPr>
            </a:pPr>
            <a:r>
              <a:t>• D = approve IF U_sem &lt;= tau_sem AND QoT_valid = 1</a:t>
            </a:r>
          </a:p>
          <a:p>
            <a:pPr>
              <a:spcAft>
                <a:spcPts val="800"/>
              </a:spcAft>
              <a:defRPr sz="1400">
                <a:solidFill>
                  <a:srgbClr val="222222"/>
                </a:solidFill>
                <a:latin typeface="Arial"/>
              </a:defRPr>
            </a:pPr>
            <a:r>
              <a:t>• Enforces fail-fast sequential decision tree</a:t>
            </a:r>
          </a:p>
          <a:p>
            <a:pPr>
              <a:spcAft>
                <a:spcPts val="800"/>
              </a:spcAft>
              <a:defRPr sz="1400">
                <a:solidFill>
                  <a:srgbClr val="222222"/>
                </a:solidFill>
                <a:latin typeface="Arial"/>
              </a:defRPr>
            </a:pPr>
            <a:r>
              <a:t>• Physics never evaluated if semantics fail</a:t>
            </a:r>
          </a:p>
        </p:txBody>
      </p:sp>
      <p:sp>
        <p:nvSpPr>
          <p:cNvPr id="9" name="Rounded Rectangle 8"/>
          <p:cNvSpPr/>
          <p:nvPr/>
        </p:nvSpPr>
        <p:spPr>
          <a:xfrm>
            <a:off x="801624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1A7F37"/>
                </a:solidFill>
                <a:latin typeface="Arial"/>
              </a:defRPr>
            </a:pPr>
            <a:r>
              <a:t>3. Action Guarantees</a:t>
            </a:r>
          </a:p>
          <a:p>
            <a:pPr>
              <a:spcAft>
                <a:spcPts val="800"/>
              </a:spcAft>
              <a:defRPr sz="1400">
                <a:solidFill>
                  <a:srgbClr val="222222"/>
                </a:solidFill>
                <a:latin typeface="Arial"/>
              </a:defRPr>
            </a:pPr>
            <a:r>
              <a:t>• Auto-Approve: Autonomous zero-touch deployment</a:t>
            </a:r>
          </a:p>
          <a:p>
            <a:pPr>
              <a:spcAft>
                <a:spcPts val="800"/>
              </a:spcAft>
              <a:defRPr sz="1400">
                <a:solidFill>
                  <a:srgbClr val="222222"/>
                </a:solidFill>
                <a:latin typeface="Arial"/>
              </a:defRPr>
            </a:pPr>
            <a:r>
              <a:t>• Suggest Replan: Prompts operator to relax constraints</a:t>
            </a:r>
          </a:p>
          <a:p>
            <a:pPr>
              <a:spcAft>
                <a:spcPts val="800"/>
              </a:spcAft>
              <a:defRPr sz="1400">
                <a:solidFill>
                  <a:srgbClr val="222222"/>
                </a:solidFill>
                <a:latin typeface="Arial"/>
              </a:defRPr>
            </a:pPr>
            <a:r>
              <a:t>• Clarify: Resolves missing intent parameters early</a:t>
            </a:r>
          </a:p>
          <a:p>
            <a:pPr>
              <a:spcAft>
                <a:spcPts val="800"/>
              </a:spcAft>
              <a:defRPr sz="1400">
                <a:solidFill>
                  <a:srgbClr val="222222"/>
                </a:solidFill>
                <a:latin typeface="Arial"/>
              </a:defRPr>
            </a:pPr>
            <a:r>
              <a:t>• Zero unverified configurations reach controller</a:t>
            </a:r>
          </a:p>
          <a:p>
            <a:pPr>
              <a:spcAft>
                <a:spcPts val="800"/>
              </a:spcAft>
              <a:defRPr sz="1400">
                <a:solidFill>
                  <a:srgbClr val="222222"/>
                </a:solidFill>
                <a:latin typeface="Arial"/>
              </a:defRPr>
            </a:pPr>
            <a:r>
              <a:t>• Drastically cuts human operator fatigue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11</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Deterministic Physical Layer: GN-Model QoT Validation</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Gaussian Noise (GN) Physical Engine</a:t>
            </a:r>
          </a:p>
          <a:p>
            <a:pPr>
              <a:spcAft>
                <a:spcPts val="1000"/>
              </a:spcAft>
              <a:defRPr sz="1500">
                <a:solidFill>
                  <a:srgbClr val="222222"/>
                </a:solidFill>
                <a:latin typeface="Arial"/>
              </a:defRPr>
            </a:pPr>
            <a:r>
              <a:t>• Pure Python implementation: zero LLM arithmetic involvement</a:t>
            </a:r>
          </a:p>
          <a:p>
            <a:pPr>
              <a:spcAft>
                <a:spcPts val="1000"/>
              </a:spcAft>
              <a:defRPr sz="1500">
                <a:solidFill>
                  <a:srgbClr val="222222"/>
                </a:solidFill>
                <a:latin typeface="Arial"/>
              </a:defRPr>
            </a:pPr>
            <a:r>
              <a:t>• Accumulated Amplified Spontaneous Emission (ASE) noise:</a:t>
            </a:r>
          </a:p>
          <a:p>
            <a:pPr>
              <a:spcAft>
                <a:spcPts val="1000"/>
              </a:spcAft>
              <a:defRPr sz="1500">
                <a:solidFill>
                  <a:srgbClr val="222222"/>
                </a:solidFill>
                <a:latin typeface="Arial"/>
              </a:defRPr>
            </a:pPr>
            <a:r>
              <a:t>•   P_ASE = (G - 1) * h * nu * F * B_ref</a:t>
            </a:r>
          </a:p>
          <a:p>
            <a:pPr>
              <a:spcAft>
                <a:spcPts val="1000"/>
              </a:spcAft>
              <a:defRPr sz="1500">
                <a:solidFill>
                  <a:srgbClr val="222222"/>
                </a:solidFill>
                <a:latin typeface="Arial"/>
              </a:defRPr>
            </a:pPr>
            <a:r>
              <a:t>• Nonlinear Interference (NLI) noise power per span:</a:t>
            </a:r>
          </a:p>
          <a:p>
            <a:pPr>
              <a:spcAft>
                <a:spcPts val="1000"/>
              </a:spcAft>
              <a:defRPr sz="1500">
                <a:solidFill>
                  <a:srgbClr val="222222"/>
                </a:solidFill>
                <a:latin typeface="Arial"/>
              </a:defRPr>
            </a:pPr>
            <a:r>
              <a:t>•   P_NLI ~ eta * P_ch^3</a:t>
            </a:r>
          </a:p>
          <a:p>
            <a:pPr>
              <a:spcAft>
                <a:spcPts val="1000"/>
              </a:spcAft>
              <a:defRPr sz="1500">
                <a:solidFill>
                  <a:srgbClr val="222222"/>
                </a:solidFill>
                <a:latin typeface="Arial"/>
              </a:defRPr>
            </a:pPr>
            <a:r>
              <a:t>• Models fiber dispersion, Kerr nonlinearity, and EDFA noise</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1A7F37"/>
                </a:solidFill>
                <a:latin typeface="Arial"/>
              </a:defRPr>
            </a:pPr>
            <a:r>
              <a:t>Feasibility &amp; Performance Criteria</a:t>
            </a:r>
          </a:p>
          <a:p>
            <a:pPr>
              <a:spcAft>
                <a:spcPts val="1000"/>
              </a:spcAft>
              <a:defRPr sz="1500">
                <a:solidFill>
                  <a:srgbClr val="222222"/>
                </a:solidFill>
                <a:latin typeface="Arial"/>
              </a:defRPr>
            </a:pPr>
            <a:r>
              <a:t>• Generalized Signal-to-Noise Ratio (GSNR):</a:t>
            </a:r>
          </a:p>
          <a:p>
            <a:pPr>
              <a:spcAft>
                <a:spcPts val="1000"/>
              </a:spcAft>
              <a:defRPr sz="1500">
                <a:solidFill>
                  <a:srgbClr val="222222"/>
                </a:solidFill>
                <a:latin typeface="Arial"/>
              </a:defRPr>
            </a:pPr>
            <a:r>
              <a:t>•   GSNR = P_ch / (P_ASE + P_NLI) &gt;= GSNR_threshold</a:t>
            </a:r>
          </a:p>
          <a:p>
            <a:pPr>
              <a:spcAft>
                <a:spcPts val="1000"/>
              </a:spcAft>
              <a:defRPr sz="1500">
                <a:solidFill>
                  <a:srgbClr val="222222"/>
                </a:solidFill>
                <a:latin typeface="Arial"/>
              </a:defRPr>
            </a:pPr>
            <a:r>
              <a:t>• Receiver power budget check:</a:t>
            </a:r>
          </a:p>
          <a:p>
            <a:pPr>
              <a:spcAft>
                <a:spcPts val="1000"/>
              </a:spcAft>
              <a:defRPr sz="1500">
                <a:solidFill>
                  <a:srgbClr val="222222"/>
                </a:solidFill>
                <a:latin typeface="Arial"/>
              </a:defRPr>
            </a:pPr>
            <a:r>
              <a:t>•   P_rx = P_launch - A_total + G_total &gt;= P_rx,min</a:t>
            </a:r>
          </a:p>
          <a:p>
            <a:pPr>
              <a:spcAft>
                <a:spcPts val="1000"/>
              </a:spcAft>
              <a:defRPr sz="1500">
                <a:solidFill>
                  <a:srgbClr val="222222"/>
                </a:solidFill>
                <a:latin typeface="Arial"/>
              </a:defRPr>
            </a:pPr>
            <a:r>
              <a:t>• Execution speed: under 5 milliseconds per candidate route</a:t>
            </a:r>
          </a:p>
          <a:p>
            <a:pPr>
              <a:spcAft>
                <a:spcPts val="1000"/>
              </a:spcAft>
              <a:defRPr sz="1500">
                <a:solidFill>
                  <a:srgbClr val="222222"/>
                </a:solidFill>
                <a:latin typeface="Arial"/>
              </a:defRPr>
            </a:pPr>
            <a:r>
              <a:t>• 100% deterministic reproducibility across physical spans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12</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Experimental Setup &amp; Testbed Environment</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17-Node German Core Network</a:t>
            </a:r>
          </a:p>
          <a:p>
            <a:pPr>
              <a:spcAft>
                <a:spcPts val="1000"/>
              </a:spcAft>
              <a:defRPr sz="1500">
                <a:solidFill>
                  <a:srgbClr val="222222"/>
                </a:solidFill>
                <a:latin typeface="Arial"/>
              </a:defRPr>
            </a:pPr>
            <a:r>
              <a:t>• Realistic telecom benchmark: 17 ROADMs and 26 fiber links</a:t>
            </a:r>
          </a:p>
          <a:p>
            <a:pPr>
              <a:spcAft>
                <a:spcPts val="1000"/>
              </a:spcAft>
              <a:defRPr sz="1500">
                <a:solidFill>
                  <a:srgbClr val="222222"/>
                </a:solidFill>
                <a:latin typeface="Arial"/>
              </a:defRPr>
            </a:pPr>
            <a:r>
              <a:t>• Standard Single-Mode Fiber (SMF-28): alpha = 0.2 dB/km</a:t>
            </a:r>
          </a:p>
          <a:p>
            <a:pPr>
              <a:spcAft>
                <a:spcPts val="1000"/>
              </a:spcAft>
              <a:defRPr sz="1500">
                <a:solidFill>
                  <a:srgbClr val="222222"/>
                </a:solidFill>
                <a:latin typeface="Arial"/>
              </a:defRPr>
            </a:pPr>
            <a:r>
              <a:t>• Dispersion parameter D = 16.7 ps/(nm*km), gamma = 1.2 / (W*km)</a:t>
            </a:r>
          </a:p>
          <a:p>
            <a:pPr>
              <a:spcAft>
                <a:spcPts val="1000"/>
              </a:spcAft>
              <a:defRPr sz="1500">
                <a:solidFill>
                  <a:srgbClr val="222222"/>
                </a:solidFill>
                <a:latin typeface="Arial"/>
              </a:defRPr>
            </a:pPr>
            <a:r>
              <a:t>• Amplified spans: dual-stage EDFAs with noise figure F = 5.5 dB</a:t>
            </a:r>
          </a:p>
          <a:p>
            <a:pPr>
              <a:spcAft>
                <a:spcPts val="1000"/>
              </a:spcAft>
              <a:defRPr sz="1500">
                <a:solidFill>
                  <a:srgbClr val="222222"/>
                </a:solidFill>
                <a:latin typeface="Arial"/>
              </a:defRPr>
            </a:pPr>
            <a:r>
              <a:t>• Dynamic link lengths ranging from 45 km to 350 km per span</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Software Stack &amp; Orchestration</a:t>
            </a:r>
          </a:p>
          <a:p>
            <a:pPr>
              <a:spcAft>
                <a:spcPts val="1000"/>
              </a:spcAft>
              <a:defRPr sz="1500">
                <a:solidFill>
                  <a:srgbClr val="222222"/>
                </a:solidFill>
                <a:latin typeface="Arial"/>
              </a:defRPr>
            </a:pPr>
            <a:r>
              <a:t>• Orchestrator: LangGraph StateGraph with memory persistence</a:t>
            </a:r>
          </a:p>
          <a:p>
            <a:pPr>
              <a:spcAft>
                <a:spcPts val="1000"/>
              </a:spcAft>
              <a:defRPr sz="1500">
                <a:solidFill>
                  <a:srgbClr val="222222"/>
                </a:solidFill>
                <a:latin typeface="Arial"/>
              </a:defRPr>
            </a:pPr>
            <a:r>
              <a:t>• Physics Engine: Deterministic Python GN-model validator</a:t>
            </a:r>
          </a:p>
          <a:p>
            <a:pPr>
              <a:spcAft>
                <a:spcPts val="1000"/>
              </a:spcAft>
              <a:defRPr sz="1500">
                <a:solidFill>
                  <a:srgbClr val="222222"/>
                </a:solidFill>
                <a:latin typeface="Arial"/>
              </a:defRPr>
            </a:pPr>
            <a:r>
              <a:t>• Symbolic Solver: NetworkX Yen's KSP path generation</a:t>
            </a:r>
          </a:p>
          <a:p>
            <a:pPr>
              <a:spcAft>
                <a:spcPts val="1000"/>
              </a:spcAft>
              <a:defRPr sz="1500">
                <a:solidFill>
                  <a:srgbClr val="222222"/>
                </a:solidFill>
                <a:latin typeface="Arial"/>
              </a:defRPr>
            </a:pPr>
            <a:r>
              <a:t>• Testbed Interface: RESTConf and Mock SDON testbed adapters</a:t>
            </a:r>
          </a:p>
          <a:p>
            <a:pPr>
              <a:spcAft>
                <a:spcPts val="1000"/>
              </a:spcAft>
              <a:defRPr sz="1500">
                <a:solidFill>
                  <a:srgbClr val="222222"/>
                </a:solidFill>
                <a:latin typeface="Arial"/>
              </a:defRPr>
            </a:pPr>
            <a:r>
              <a:t>• Evaluated LLMs: Claude 3.5 Sonnet and GPT-4o via API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13</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Evaluation Framework &amp; Benchmark Scenarios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0F2C53"/>
                </a:solidFill>
                <a:latin typeface="Arial"/>
              </a:defRPr>
            </a:pPr>
            <a:r>
              <a:t>Comparative Baselines</a:t>
            </a:r>
          </a:p>
          <a:p>
            <a:pPr>
              <a:spcAft>
                <a:spcPts val="800"/>
              </a:spcAft>
              <a:defRPr sz="1400">
                <a:solidFill>
                  <a:srgbClr val="222222"/>
                </a:solidFill>
                <a:latin typeface="Arial"/>
              </a:defRPr>
            </a:pPr>
            <a:r>
              <a:t>• Baseline A (LLM-Only): Direct prompt-to-JSON generation</a:t>
            </a:r>
          </a:p>
          <a:p>
            <a:pPr>
              <a:spcAft>
                <a:spcPts val="800"/>
              </a:spcAft>
              <a:defRPr sz="1400">
                <a:solidFill>
                  <a:srgbClr val="222222"/>
                </a:solidFill>
                <a:latin typeface="Arial"/>
              </a:defRPr>
            </a:pPr>
            <a:r>
              <a:t>• Baseline B (Static Rule-Based): Strict regex + Always-on HITL</a:t>
            </a:r>
          </a:p>
          <a:p>
            <a:pPr>
              <a:spcAft>
                <a:spcPts val="800"/>
              </a:spcAft>
              <a:defRPr sz="1400">
                <a:solidFill>
                  <a:srgbClr val="222222"/>
                </a:solidFill>
                <a:latin typeface="Arial"/>
              </a:defRPr>
            </a:pPr>
            <a:r>
              <a:t>• Proposed: Neurosymbolic RADG with sequential gates</a:t>
            </a:r>
          </a:p>
        </p:txBody>
      </p:sp>
      <p:sp>
        <p:nvSpPr>
          <p:cNvPr id="8" name="Rounded Rectangle 7"/>
          <p:cNvSpPr/>
          <p:nvPr/>
        </p:nvSpPr>
        <p:spPr>
          <a:xfrm>
            <a:off x="432816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85200C"/>
                </a:solidFill>
                <a:latin typeface="Arial"/>
              </a:defRPr>
            </a:pPr>
            <a:r>
              <a:t>Test Scenarios (100 Demands)</a:t>
            </a:r>
          </a:p>
          <a:p>
            <a:pPr>
              <a:spcAft>
                <a:spcPts val="800"/>
              </a:spcAft>
              <a:defRPr sz="1400">
                <a:solidFill>
                  <a:srgbClr val="222222"/>
                </a:solidFill>
                <a:latin typeface="Arial"/>
              </a:defRPr>
            </a:pPr>
            <a:r>
              <a:t>• Nominal: Unambiguous requests with feasible routes</a:t>
            </a:r>
          </a:p>
          <a:p>
            <a:pPr>
              <a:spcAft>
                <a:spcPts val="800"/>
              </a:spcAft>
              <a:defRPr sz="1400">
                <a:solidFill>
                  <a:srgbClr val="222222"/>
                </a:solidFill>
                <a:latin typeface="Arial"/>
              </a:defRPr>
            </a:pPr>
            <a:r>
              <a:t>• Ambiguous: Missing constraints triggering U_sem</a:t>
            </a:r>
          </a:p>
          <a:p>
            <a:pPr>
              <a:spcAft>
                <a:spcPts val="800"/>
              </a:spcAft>
              <a:defRPr sz="1400">
                <a:solidFill>
                  <a:srgbClr val="222222"/>
                </a:solidFill>
                <a:latin typeface="Arial"/>
              </a:defRPr>
            </a:pPr>
            <a:r>
              <a:t>• Unfeasible: Long reaches violating GSNR thresholds</a:t>
            </a:r>
          </a:p>
          <a:p>
            <a:pPr>
              <a:spcAft>
                <a:spcPts val="800"/>
              </a:spcAft>
              <a:defRPr sz="1400">
                <a:solidFill>
                  <a:srgbClr val="222222"/>
                </a:solidFill>
                <a:latin typeface="Arial"/>
              </a:defRPr>
            </a:pPr>
            <a:r>
              <a:t>• Adversarial: Prompts designed to induce hallucinations</a:t>
            </a:r>
          </a:p>
        </p:txBody>
      </p:sp>
      <p:sp>
        <p:nvSpPr>
          <p:cNvPr id="9" name="Rounded Rectangle 8"/>
          <p:cNvSpPr/>
          <p:nvPr/>
        </p:nvSpPr>
        <p:spPr>
          <a:xfrm>
            <a:off x="8016240" y="1234440"/>
            <a:ext cx="341376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1A7F37"/>
                </a:solidFill>
                <a:latin typeface="Arial"/>
              </a:defRPr>
            </a:pPr>
            <a:r>
              <a:t>Evaluation Metrics</a:t>
            </a:r>
          </a:p>
          <a:p>
            <a:pPr>
              <a:spcAft>
                <a:spcPts val="800"/>
              </a:spcAft>
              <a:defRPr sz="1400">
                <a:solidFill>
                  <a:srgbClr val="222222"/>
                </a:solidFill>
                <a:latin typeface="Arial"/>
              </a:defRPr>
            </a:pPr>
            <a:r>
              <a:t>• Pre-deployment safety: Unfeasible route leakage %</a:t>
            </a:r>
          </a:p>
          <a:p>
            <a:pPr>
              <a:spcAft>
                <a:spcPts val="800"/>
              </a:spcAft>
              <a:defRPr sz="1400">
                <a:solidFill>
                  <a:srgbClr val="222222"/>
                </a:solidFill>
                <a:latin typeface="Arial"/>
              </a:defRPr>
            </a:pPr>
            <a:r>
              <a:t>• Operator fatigue: Human intervention reduction %</a:t>
            </a:r>
          </a:p>
          <a:p>
            <a:pPr>
              <a:spcAft>
                <a:spcPts val="800"/>
              </a:spcAft>
              <a:defRPr sz="1400">
                <a:solidFill>
                  <a:srgbClr val="222222"/>
                </a:solidFill>
                <a:latin typeface="Arial"/>
              </a:defRPr>
            </a:pPr>
            <a:r>
              <a:t>• Orchestration speed: End-to-end planning latency</a:t>
            </a:r>
          </a:p>
          <a:p>
            <a:pPr>
              <a:spcAft>
                <a:spcPts val="800"/>
              </a:spcAft>
              <a:defRPr sz="1400">
                <a:solidFill>
                  <a:srgbClr val="222222"/>
                </a:solidFill>
                <a:latin typeface="Arial"/>
              </a:defRPr>
            </a:pPr>
            <a:r>
              <a:t>• Solver efficiency: Graph search time vs topology scale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14</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Key Findings &amp; Pre-Deployment Guarantees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1A7F37"/>
                </a:solidFill>
                <a:latin typeface="Arial"/>
              </a:defRPr>
            </a:pPr>
            <a:r>
              <a:t>Pre-Deployment Safety Guarantee</a:t>
            </a:r>
          </a:p>
          <a:p>
            <a:pPr>
              <a:spcAft>
                <a:spcPts val="1000"/>
              </a:spcAft>
              <a:defRPr sz="1500">
                <a:solidFill>
                  <a:srgbClr val="222222"/>
                </a:solidFill>
                <a:latin typeface="Arial"/>
              </a:defRPr>
            </a:pPr>
            <a:r>
              <a:t>• Zero physically unfeasible lightpaths reached the controller (100% safety)</a:t>
            </a:r>
          </a:p>
          <a:p>
            <a:pPr>
              <a:spcAft>
                <a:spcPts val="1000"/>
              </a:spcAft>
              <a:defRPr sz="1500">
                <a:solidFill>
                  <a:srgbClr val="222222"/>
                </a:solidFill>
                <a:latin typeface="Arial"/>
              </a:defRPr>
            </a:pPr>
            <a:r>
              <a:t>• LLM-only baseline allowed up to 34% unfeasible routes to deploy</a:t>
            </a:r>
          </a:p>
          <a:p>
            <a:pPr>
              <a:spcAft>
                <a:spcPts val="1000"/>
              </a:spcAft>
              <a:defRPr sz="1500">
                <a:solidFill>
                  <a:srgbClr val="222222"/>
                </a:solidFill>
                <a:latin typeface="Arial"/>
              </a:defRPr>
            </a:pPr>
            <a:r>
              <a:t>• Semantic gate caught 100% of malformed PDDL and syntax drift early</a:t>
            </a:r>
          </a:p>
          <a:p>
            <a:pPr>
              <a:spcAft>
                <a:spcPts val="1000"/>
              </a:spcAft>
              <a:defRPr sz="1500">
                <a:solidFill>
                  <a:srgbClr val="222222"/>
                </a:solidFill>
                <a:latin typeface="Arial"/>
              </a:defRPr>
            </a:pPr>
            <a:r>
              <a:t>• Physical gate intercepted all GSNR and receiver power violations</a:t>
            </a:r>
          </a:p>
          <a:p>
            <a:pPr>
              <a:spcAft>
                <a:spcPts val="1000"/>
              </a:spcAft>
              <a:defRPr sz="1500">
                <a:solidFill>
                  <a:srgbClr val="222222"/>
                </a:solidFill>
                <a:latin typeface="Arial"/>
              </a:defRPr>
            </a:pPr>
            <a:r>
              <a:t>• Eliminates trial-and-error reactive crash loops on live networks</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Operational Efficiency &amp; Latency</a:t>
            </a:r>
          </a:p>
          <a:p>
            <a:pPr>
              <a:spcAft>
                <a:spcPts val="1000"/>
              </a:spcAft>
              <a:defRPr sz="1500">
                <a:solidFill>
                  <a:srgbClr val="222222"/>
                </a:solidFill>
                <a:latin typeface="Arial"/>
              </a:defRPr>
            </a:pPr>
            <a:r>
              <a:t>• Over 70% reduction in human intervention compared to always-on HITL</a:t>
            </a:r>
          </a:p>
          <a:p>
            <a:pPr>
              <a:spcAft>
                <a:spcPts val="1000"/>
              </a:spcAft>
              <a:defRPr sz="1500">
                <a:solidFill>
                  <a:srgbClr val="222222"/>
                </a:solidFill>
                <a:latin typeface="Arial"/>
              </a:defRPr>
            </a:pPr>
            <a:r>
              <a:t>• Operator engaged only when genuine ambiguity exists (U_sem &gt; tau_sem)</a:t>
            </a:r>
          </a:p>
          <a:p>
            <a:pPr>
              <a:spcAft>
                <a:spcPts val="1000"/>
              </a:spcAft>
              <a:defRPr sz="1500">
                <a:solidFill>
                  <a:srgbClr val="222222"/>
                </a:solidFill>
                <a:latin typeface="Arial"/>
              </a:defRPr>
            </a:pPr>
            <a:r>
              <a:t>• Deterministic solver and QoT evaluation execute in under 15 ms</a:t>
            </a:r>
          </a:p>
          <a:p>
            <a:pPr>
              <a:spcAft>
                <a:spcPts val="1000"/>
              </a:spcAft>
              <a:defRPr sz="1500">
                <a:solidFill>
                  <a:srgbClr val="222222"/>
                </a:solidFill>
                <a:latin typeface="Arial"/>
              </a:defRPr>
            </a:pPr>
            <a:r>
              <a:t>• End-to-end orchestration latency averages under 2.5 s</a:t>
            </a:r>
          </a:p>
          <a:p>
            <a:pPr>
              <a:spcAft>
                <a:spcPts val="1000"/>
              </a:spcAft>
              <a:defRPr sz="1500">
                <a:solidFill>
                  <a:srgbClr val="222222"/>
                </a:solidFill>
                <a:latin typeface="Arial"/>
              </a:defRPr>
            </a:pPr>
            <a:r>
              <a:t>• Proof that provable physical safety does not compromise speed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15</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Conclusions &amp; Main Takeaways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249174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0F2C53"/>
                </a:solidFill>
                <a:latin typeface="Arial"/>
              </a:defRPr>
            </a:pPr>
            <a:r>
              <a:t>1. Decoupling is Essential</a:t>
            </a:r>
          </a:p>
          <a:p>
            <a:pPr>
              <a:spcAft>
                <a:spcPts val="800"/>
              </a:spcAft>
              <a:defRPr sz="1400">
                <a:solidFill>
                  <a:srgbClr val="222222"/>
                </a:solidFill>
                <a:latin typeface="Arial"/>
              </a:defRPr>
            </a:pPr>
            <a:r>
              <a:t>• LLMs must reason, tools must calculate</a:t>
            </a:r>
          </a:p>
          <a:p>
            <a:pPr>
              <a:spcAft>
                <a:spcPts val="800"/>
              </a:spcAft>
              <a:defRPr sz="1400">
                <a:solidFill>
                  <a:srgbClr val="222222"/>
                </a:solidFill>
                <a:latin typeface="Arial"/>
              </a:defRPr>
            </a:pPr>
            <a:r>
              <a:t>• Language models excel at PDDL semantic parsing</a:t>
            </a:r>
          </a:p>
          <a:p>
            <a:pPr>
              <a:spcAft>
                <a:spcPts val="800"/>
              </a:spcAft>
              <a:defRPr sz="1400">
                <a:solidFill>
                  <a:srgbClr val="222222"/>
                </a:solidFill>
                <a:latin typeface="Arial"/>
              </a:defRPr>
            </a:pPr>
            <a:r>
              <a:t>• Optical physics must remain 100% deterministic</a:t>
            </a:r>
          </a:p>
        </p:txBody>
      </p:sp>
      <p:sp>
        <p:nvSpPr>
          <p:cNvPr id="8" name="Rounded Rectangle 7"/>
          <p:cNvSpPr/>
          <p:nvPr/>
        </p:nvSpPr>
        <p:spPr>
          <a:xfrm>
            <a:off x="3406139" y="1234440"/>
            <a:ext cx="249174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85200C"/>
                </a:solidFill>
                <a:latin typeface="Arial"/>
              </a:defRPr>
            </a:pPr>
            <a:r>
              <a:t>2. Sequential Risk Gates</a:t>
            </a:r>
          </a:p>
          <a:p>
            <a:pPr>
              <a:spcAft>
                <a:spcPts val="800"/>
              </a:spcAft>
              <a:defRPr sz="1400">
                <a:solidFill>
                  <a:srgbClr val="222222"/>
                </a:solidFill>
                <a:latin typeface="Arial"/>
              </a:defRPr>
            </a:pPr>
            <a:r>
              <a:t>• Early semantic evaluation (U_sem) halts drift early</a:t>
            </a:r>
          </a:p>
          <a:p>
            <a:pPr>
              <a:spcAft>
                <a:spcPts val="800"/>
              </a:spcAft>
              <a:defRPr sz="1400">
                <a:solidFill>
                  <a:srgbClr val="222222"/>
                </a:solidFill>
                <a:latin typeface="Arial"/>
              </a:defRPr>
            </a:pPr>
            <a:r>
              <a:t>• Downstream GN-model ensures optical viability</a:t>
            </a:r>
          </a:p>
          <a:p>
            <a:pPr>
              <a:spcAft>
                <a:spcPts val="800"/>
              </a:spcAft>
              <a:defRPr sz="1400">
                <a:solidFill>
                  <a:srgbClr val="222222"/>
                </a:solidFill>
                <a:latin typeface="Arial"/>
              </a:defRPr>
            </a:pPr>
            <a:r>
              <a:t>• Guarantees 100% pre-deployment safety</a:t>
            </a:r>
          </a:p>
        </p:txBody>
      </p:sp>
      <p:sp>
        <p:nvSpPr>
          <p:cNvPr id="9" name="Rounded Rectangle 8"/>
          <p:cNvSpPr/>
          <p:nvPr/>
        </p:nvSpPr>
        <p:spPr>
          <a:xfrm>
            <a:off x="6172200" y="1234440"/>
            <a:ext cx="249174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1A7F37"/>
                </a:solidFill>
                <a:latin typeface="Arial"/>
              </a:defRPr>
            </a:pPr>
            <a:r>
              <a:t>3. Selective HITL Value</a:t>
            </a:r>
          </a:p>
          <a:p>
            <a:pPr>
              <a:spcAft>
                <a:spcPts val="800"/>
              </a:spcAft>
              <a:defRPr sz="1400">
                <a:solidFill>
                  <a:srgbClr val="222222"/>
                </a:solidFill>
                <a:latin typeface="Arial"/>
              </a:defRPr>
            </a:pPr>
            <a:r>
              <a:t>• Engaging humans proportionally to risk cuts fatigue by 70%</a:t>
            </a:r>
          </a:p>
          <a:p>
            <a:pPr>
              <a:spcAft>
                <a:spcPts val="800"/>
              </a:spcAft>
              <a:defRPr sz="1400">
                <a:solidFill>
                  <a:srgbClr val="222222"/>
                </a:solidFill>
                <a:latin typeface="Arial"/>
              </a:defRPr>
            </a:pPr>
            <a:r>
              <a:t>• Preserves operator trust through auditable reports</a:t>
            </a:r>
          </a:p>
          <a:p>
            <a:pPr>
              <a:spcAft>
                <a:spcPts val="800"/>
              </a:spcAft>
              <a:defRPr sz="1400">
                <a:solidFill>
                  <a:srgbClr val="222222"/>
                </a:solidFill>
                <a:latin typeface="Arial"/>
              </a:defRPr>
            </a:pPr>
            <a:r>
              <a:t>• Enables scalable autonomous optical operations</a:t>
            </a:r>
          </a:p>
        </p:txBody>
      </p:sp>
      <p:sp>
        <p:nvSpPr>
          <p:cNvPr id="10" name="Rounded Rectangle 9"/>
          <p:cNvSpPr/>
          <p:nvPr/>
        </p:nvSpPr>
        <p:spPr>
          <a:xfrm>
            <a:off x="8938259" y="1234440"/>
            <a:ext cx="249174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200"/>
              </a:spcAft>
              <a:defRPr sz="1800" b="1">
                <a:solidFill>
                  <a:srgbClr val="0F2C53"/>
                </a:solidFill>
                <a:latin typeface="Arial"/>
              </a:defRPr>
            </a:pPr>
            <a:r>
              <a:t>4. Production Ready</a:t>
            </a:r>
          </a:p>
          <a:p>
            <a:pPr>
              <a:spcAft>
                <a:spcPts val="800"/>
              </a:spcAft>
              <a:defRPr sz="1400">
                <a:solidFill>
                  <a:srgbClr val="222222"/>
                </a:solidFill>
                <a:latin typeface="Arial"/>
              </a:defRPr>
            </a:pPr>
            <a:r>
              <a:t>• LangGraph orchestrator tested on 17-node topology</a:t>
            </a:r>
          </a:p>
          <a:p>
            <a:pPr>
              <a:spcAft>
                <a:spcPts val="800"/>
              </a:spcAft>
              <a:defRPr sz="1400">
                <a:solidFill>
                  <a:srgbClr val="222222"/>
                </a:solidFill>
                <a:latin typeface="Arial"/>
              </a:defRPr>
            </a:pPr>
            <a:r>
              <a:t>• Sub-second deterministic compute time</a:t>
            </a:r>
          </a:p>
          <a:p>
            <a:pPr>
              <a:spcAft>
                <a:spcPts val="800"/>
              </a:spcAft>
              <a:defRPr sz="1400">
                <a:solidFill>
                  <a:srgbClr val="222222"/>
                </a:solidFill>
                <a:latin typeface="Arial"/>
              </a:defRPr>
            </a:pPr>
            <a:r>
              <a:t>• Extensible architecture for next-gen SDN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16</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Future Outlook &amp; Acknowledgments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0F2C53"/>
                </a:solidFill>
                <a:latin typeface="Arial"/>
              </a:defRPr>
            </a:pPr>
            <a:r>
              <a:t>Future Research Directions</a:t>
            </a:r>
          </a:p>
          <a:p>
            <a:pPr>
              <a:spcAft>
                <a:spcPts val="1000"/>
              </a:spcAft>
              <a:defRPr sz="1500">
                <a:solidFill>
                  <a:srgbClr val="222222"/>
                </a:solidFill>
                <a:latin typeface="Arial"/>
              </a:defRPr>
            </a:pPr>
            <a:r>
              <a:t>• Joint Optical &amp; Compute Scheduling: Co-scheduling optical paths with GPU jobs</a:t>
            </a:r>
          </a:p>
          <a:p>
            <a:pPr>
              <a:spcAft>
                <a:spcPts val="1000"/>
              </a:spcAft>
              <a:defRPr sz="1500">
                <a:solidFill>
                  <a:srgbClr val="222222"/>
                </a:solidFill>
                <a:latin typeface="Arial"/>
              </a:defRPr>
            </a:pPr>
            <a:r>
              <a:t>• Multi-Band Optical Systems: Expanding GN-model to C+L band non-linearities</a:t>
            </a:r>
          </a:p>
          <a:p>
            <a:pPr>
              <a:spcAft>
                <a:spcPts val="1000"/>
              </a:spcAft>
              <a:defRPr sz="1500">
                <a:solidFill>
                  <a:srgbClr val="222222"/>
                </a:solidFill>
                <a:latin typeface="Arial"/>
              </a:defRPr>
            </a:pPr>
            <a:r>
              <a:t>• Real-Time Telemetry Integration: Online closed-loop self-healing via telemetry</a:t>
            </a:r>
          </a:p>
          <a:p>
            <a:pPr>
              <a:spcAft>
                <a:spcPts val="1000"/>
              </a:spcAft>
              <a:defRPr sz="1500">
                <a:solidFill>
                  <a:srgbClr val="222222"/>
                </a:solidFill>
                <a:latin typeface="Arial"/>
              </a:defRPr>
            </a:pPr>
            <a:r>
              <a:t>• Reinforcement Learning: Fine-tuning PDDL translations from operator feedback</a:t>
            </a:r>
          </a:p>
        </p:txBody>
      </p:sp>
      <p:sp>
        <p:nvSpPr>
          <p:cNvPr id="8" name="Rounded Rectangle 7"/>
          <p:cNvSpPr/>
          <p:nvPr/>
        </p:nvSpPr>
        <p:spPr>
          <a:xfrm>
            <a:off x="6217920" y="1234440"/>
            <a:ext cx="5212080" cy="5029200"/>
          </a:xfrm>
          <a:prstGeom prst="roundRect">
            <a:avLst/>
          </a:prstGeom>
          <a:solidFill>
            <a:srgbClr val="F4F6F9"/>
          </a:solidFill>
          <a:ln w="1905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2000" b="1">
                <a:solidFill>
                  <a:srgbClr val="85200C"/>
                </a:solidFill>
                <a:latin typeface="Arial"/>
              </a:defRPr>
            </a:pPr>
            <a:r>
              <a:t>Acknowledgments &amp; Discussion</a:t>
            </a:r>
          </a:p>
          <a:p>
            <a:pPr>
              <a:spcAft>
                <a:spcPts val="1000"/>
              </a:spcAft>
              <a:defRPr sz="1500">
                <a:solidFill>
                  <a:srgbClr val="222222"/>
                </a:solidFill>
                <a:latin typeface="Arial"/>
              </a:defRPr>
            </a:pPr>
            <a:r>
              <a:t>• Sincere thanks to Prof. Massimo Tornatore for his guidance and leadership</a:t>
            </a:r>
          </a:p>
          <a:p>
            <a:pPr>
              <a:spcAft>
                <a:spcPts val="1000"/>
              </a:spcAft>
              <a:defRPr sz="1500">
                <a:solidFill>
                  <a:srgbClr val="222222"/>
                </a:solidFill>
                <a:latin typeface="Arial"/>
              </a:defRPr>
            </a:pPr>
            <a:r>
              <a:t>• Gratitude to the SDON Laboratory research group at Politecnico di Milano</a:t>
            </a:r>
          </a:p>
          <a:p>
            <a:pPr>
              <a:spcAft>
                <a:spcPts val="1000"/>
              </a:spcAft>
              <a:defRPr sz="1500">
                <a:solidFill>
                  <a:srgbClr val="222222"/>
                </a:solidFill>
                <a:latin typeface="Arial"/>
              </a:defRPr>
            </a:pPr>
            <a:r>
              <a:t>• Thank you for your attention</a:t>
            </a:r>
          </a:p>
          <a:p>
            <a:pPr>
              <a:spcAft>
                <a:spcPts val="1000"/>
              </a:spcAft>
              <a:defRPr sz="1500">
                <a:solidFill>
                  <a:srgbClr val="222222"/>
                </a:solidFill>
                <a:latin typeface="Arial"/>
              </a:defRPr>
            </a:pPr>
            <a:r>
              <a:t>• Open for questions and technical discussion</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Bell Labs 2023 - PowerPoint template v1.3.1" id="{A6C85B2C-3FA8-476D-B671-61EC5E2D0C15}" vid="{3F2B3F35-C8D5-429C-9FA6-C3C83EBB2B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5103</TotalTime>
  <Words>2147</Words>
  <Application>Microsoft Macintosh PowerPoint</Application>
  <PresentationFormat>宽屏</PresentationFormat>
  <Paragraphs>527</Paragraphs>
  <Slides>25</Slides>
  <Notes>22</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25</vt:i4>
      </vt:variant>
    </vt:vector>
  </HeadingPairs>
  <TitlesOfParts>
    <vt:vector size="43" baseType="lpstr">
      <vt:lpstr>宋体</vt:lpstr>
      <vt:lpstr>Nokia Pure Headline Light</vt:lpstr>
      <vt:lpstr>Nokia Pure Headline Ultra Light</vt:lpstr>
      <vt:lpstr>Nokia Pure Text</vt:lpstr>
      <vt:lpstr>Nokia Pure Text Light</vt:lpstr>
      <vt:lpstr>Times New Roman Regular</vt:lpstr>
      <vt:lpstr>Abel</vt:lpstr>
      <vt:lpstr>Aptos</vt:lpstr>
      <vt:lpstr>Aptos Display</vt:lpstr>
      <vt:lpstr>Arial</vt:lpstr>
      <vt:lpstr>Cambria Math</vt:lpstr>
      <vt:lpstr>Courier New</vt:lpstr>
      <vt:lpstr>Helvetica</vt:lpstr>
      <vt:lpstr>Inter</vt:lpstr>
      <vt:lpstr>Titillium Web SemiBold</vt:lpstr>
      <vt:lpstr>Wingdings</vt:lpstr>
      <vt:lpstr>Office Theme</vt:lpstr>
      <vt:lpstr>1. Master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Nisanur Camuzcu</dc:creator>
  <cp:lastModifiedBy>Qiaolun Zhang</cp:lastModifiedBy>
  <cp:revision>110</cp:revision>
  <dcterms:created xsi:type="dcterms:W3CDTF">2024-07-05T10:40:24Z</dcterms:created>
  <dcterms:modified xsi:type="dcterms:W3CDTF">2026-08-22T14:15:01Z</dcterms:modified>
</cp:coreProperties>
</file>