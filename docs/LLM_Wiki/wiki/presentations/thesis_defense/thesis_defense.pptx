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"LLM-Assisted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Moving from Imperative SDON to Declarative IBON is essential to eliminate the human configuration bottleneck, but connecting naive LLMs directly to optical control planes introduces catastrophic physical risks.</a:t>
            </a:r>
          </a:p>
          <a:p>
            <a:r>
              <a:t>[Spoken Script]: Optical transport networks form the multi-terabit backbone of modern telecommunications. Over the past decade, Software-Defined Optical Networking (SDON) successfully centralized the control plane through standardized Southbound interfaces like NETCONF and RESTConf. However, SDON remains fundamentally imperative: human operators must still manually compute explicit lightpaths, calculate wavelength grids, and configure ROADM cross-connects, relying on slow offline tools with conservative 3 to 5 dB margins. Intent-Based Optical Networking (IBON), formalized in IETF RFC 9315, represents a crucial paradigm shift from 'how' to 'what': operators express declarative service intents in natural language, and the system autonomously derives the physical optical configuration under continuous closed-loop assurance. However, connecting generative AI directly to optical backbones creates severe risks, as optical networks do not tolerate probabilistic hallucination.</a:t>
            </a:r>
          </a:p>
          <a:p>
            <a:r>
              <a:t>[Bridge to Next Slide]: To understand why standard LLMs cannot simply drive an IBON controller,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a:t>
            </a:r>
          </a:p>
          <a:p>
            <a:r>
              <a:t>[Spoken Script]: Our evaluation framework tests 100 diverse intent requests across four operational categories: nominal intents, ambiguous intents with missing constraints, physically unfeasible demands, and adversarial prompts designed to induce hallucinations. We compare our neurosymbolic architecture against two baselines: an unconstrained LLM-only pipeline, and a rigid rule-based system. We measure three core dimensions: safety against unfeasible deployments, reduction in operator fatigue, and end-to-end execution latency.</a:t>
            </a:r>
          </a:p>
          <a:p>
            <a:r>
              <a:t>[Bridge to Next Slide]: Let us analyze the key findings and trade-offs.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200" b="1">
                <a:solidFill>
                  <a:srgbClr val="85200C"/>
                </a:solidFill>
                <a:latin typeface="Titillium Web SemiBold"/>
              </a:defRPr>
            </a:pPr>
            <a:r>
              <a:t>LLM-Assisted 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 &amp; Prof. Qiaolun Zhang</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Evolution from Imperative SDON to Declarative IBON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298448"/>
            <a:ext cx="4251960" cy="4032504"/>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4617720" cy="65836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Current Paradigm: Imperative SDON</a:t>
            </a:r>
          </a:p>
          <a:p>
            <a:pPr algn="ctr">
              <a:defRPr sz="1050">
                <a:solidFill>
                  <a:srgbClr val="FFFFFF"/>
                </a:solidFill>
                <a:latin typeface="Arial"/>
              </a:defRPr>
            </a:pPr>
            <a:r>
              <a:t>Procedural "HOW" Execution • Open-Loop Control</a:t>
            </a:r>
          </a:p>
        </p:txBody>
      </p:sp>
      <p:sp>
        <p:nvSpPr>
          <p:cNvPr id="9" name="Rounded Rectangle 8"/>
          <p:cNvSpPr/>
          <p:nvPr/>
        </p:nvSpPr>
        <p:spPr>
          <a:xfrm>
            <a:off x="1069848" y="2249424"/>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Procedural Scripts</a:t>
            </a:r>
          </a:p>
        </p:txBody>
      </p:sp>
      <p:sp>
        <p:nvSpPr>
          <p:cNvPr id="10" name="Rounded Rectangle 9"/>
          <p:cNvSpPr/>
          <p:nvPr/>
        </p:nvSpPr>
        <p:spPr>
          <a:xfrm>
            <a:off x="1069848" y="3031236"/>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Static Margins</a:t>
            </a:r>
          </a:p>
        </p:txBody>
      </p:sp>
      <p:sp>
        <p:nvSpPr>
          <p:cNvPr id="11" name="Rounded Rectangle 10"/>
          <p:cNvSpPr/>
          <p:nvPr/>
        </p:nvSpPr>
        <p:spPr>
          <a:xfrm>
            <a:off x="1069848" y="3813048"/>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Open-Loop Control</a:t>
            </a:r>
          </a:p>
        </p:txBody>
      </p:sp>
      <p:sp>
        <p:nvSpPr>
          <p:cNvPr id="12" name="Right Arrow 11"/>
          <p:cNvSpPr/>
          <p:nvPr/>
        </p:nvSpPr>
        <p:spPr>
          <a:xfrm>
            <a:off x="4946904" y="2194560"/>
            <a:ext cx="2295144" cy="2185416"/>
          </a:xfrm>
          <a:prstGeom prst="rightArrow">
            <a:avLst/>
          </a:prstGeom>
          <a:solidFill>
            <a:srgbClr val="DCE6F2"/>
          </a:solidFill>
          <a:ln w="1270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2664" y="2953512"/>
            <a:ext cx="1527048" cy="630936"/>
          </a:xfrm>
          <a:prstGeom prst="roundRect">
            <a:avLst/>
          </a:prstGeom>
          <a:solidFill>
            <a:srgbClr val="FFFFFF"/>
          </a:solidFill>
          <a:ln w="12700">
            <a:solidFill>
              <a:srgbClr val="5A6B82"/>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950" b="1">
                <a:solidFill>
                  <a:srgbClr val="0F2C53"/>
                </a:solidFill>
                <a:latin typeface="Titillium Web SemiBold"/>
              </a:defRPr>
            </a:pPr>
            <a:r>
              <a:t>PARADIGM SHIFT</a:t>
            </a:r>
          </a:p>
          <a:p>
            <a:pPr algn="ctr">
              <a:defRPr sz="950" b="1">
                <a:solidFill>
                  <a:srgbClr val="85200C"/>
                </a:solidFill>
                <a:latin typeface="Titillium Web SemiBold"/>
              </a:defRPr>
            </a:pPr>
            <a:r>
              <a:t>"HOW" ➔ "WHAT"</a:t>
            </a:r>
          </a:p>
        </p:txBody>
      </p:sp>
      <p:sp>
        <p:nvSpPr>
          <p:cNvPr id="14" name="Rounded Rectangle 13"/>
          <p:cNvSpPr/>
          <p:nvPr/>
        </p:nvSpPr>
        <p:spPr>
          <a:xfrm>
            <a:off x="7040880" y="1298448"/>
            <a:ext cx="4251960" cy="4032504"/>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188720"/>
            <a:ext cx="4617720" cy="65836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Target Vision: Declarative IBON</a:t>
            </a:r>
          </a:p>
          <a:p>
            <a:pPr algn="ctr">
              <a:defRPr sz="1050">
                <a:solidFill>
                  <a:srgbClr val="FFFFFF"/>
                </a:solidFill>
                <a:latin typeface="Arial"/>
              </a:defRPr>
            </a:pPr>
            <a:r>
              <a:t>Autonomous "WHAT" Abstraction • Closed-Loop Assurance</a:t>
            </a:r>
          </a:p>
        </p:txBody>
      </p:sp>
      <p:sp>
        <p:nvSpPr>
          <p:cNvPr id="16" name="Rounded Rectangle 15"/>
          <p:cNvSpPr/>
          <p:nvPr/>
        </p:nvSpPr>
        <p:spPr>
          <a:xfrm>
            <a:off x="7242048" y="2249424"/>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High-Level Intents</a:t>
            </a:r>
          </a:p>
        </p:txBody>
      </p:sp>
      <p:sp>
        <p:nvSpPr>
          <p:cNvPr id="17" name="Rounded Rectangle 16"/>
          <p:cNvSpPr/>
          <p:nvPr/>
        </p:nvSpPr>
        <p:spPr>
          <a:xfrm>
            <a:off x="7242048" y="3031236"/>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Dynamic Physics</a:t>
            </a:r>
          </a:p>
        </p:txBody>
      </p:sp>
      <p:sp>
        <p:nvSpPr>
          <p:cNvPr id="18" name="Rounded Rectangle 17"/>
          <p:cNvSpPr/>
          <p:nvPr/>
        </p:nvSpPr>
        <p:spPr>
          <a:xfrm>
            <a:off x="7242048" y="3813048"/>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Zero-Touch Assurance</a:t>
            </a:r>
          </a:p>
        </p:txBody>
      </p:sp>
      <p:sp>
        <p:nvSpPr>
          <p:cNvPr id="19" name="Rounded Rectangle 18"/>
          <p:cNvSpPr/>
          <p:nvPr/>
        </p:nvSpPr>
        <p:spPr>
          <a:xfrm>
            <a:off x="676656" y="5623560"/>
            <a:ext cx="10744200" cy="6858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450" b="1">
                <a:solidFill>
                  <a:srgbClr val="85200C"/>
                </a:solidFill>
                <a:latin typeface="Titillium Web SemiBold"/>
              </a:defRPr>
            </a:pPr>
            <a:r>
              <a:t>⚠️ BUT: Standard LLMs alone cannot simply drive an IBON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1. Token Budget Saturation</a:t>
            </a:r>
          </a:p>
        </p:txBody>
      </p:sp>
      <p:sp>
        <p:nvSpPr>
          <p:cNvPr id="9" name="TextBox 8"/>
          <p:cNvSpPr txBox="1"/>
          <p:nvPr/>
        </p:nvSpPr>
        <p:spPr>
          <a:xfrm>
            <a:off x="4160520" y="1188720"/>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2. Hallucinated Physics</a:t>
            </a:r>
          </a:p>
        </p:txBody>
      </p:sp>
      <p:sp>
        <p:nvSpPr>
          <p:cNvPr id="12" name="TextBox 11"/>
          <p:cNvSpPr txBox="1"/>
          <p:nvPr/>
        </p:nvSpPr>
        <p:spPr>
          <a:xfrm>
            <a:off x="4160520" y="2066544"/>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Probabilistic predictors lack wave propagation engines, violating non-linear GSNR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3. Semantic Drift</a:t>
            </a:r>
          </a:p>
        </p:txBody>
      </p:sp>
      <p:sp>
        <p:nvSpPr>
          <p:cNvPr id="15" name="TextBox 14"/>
          <p:cNvSpPr txBox="1"/>
          <p:nvPr/>
        </p:nvSpPr>
        <p:spPr>
          <a:xfrm>
            <a:off x="4160520" y="2944368"/>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4. Reactive Deployment Latency</a:t>
            </a:r>
          </a:p>
        </p:txBody>
      </p:sp>
      <p:sp>
        <p:nvSpPr>
          <p:cNvPr id="18" name="TextBox 17"/>
          <p:cNvSpPr txBox="1"/>
          <p:nvPr/>
        </p:nvSpPr>
        <p:spPr>
          <a:xfrm>
            <a:off x="4160520" y="3822192"/>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5. Suboptimal HITL Friction</a:t>
            </a:r>
          </a:p>
        </p:txBody>
      </p:sp>
      <p:sp>
        <p:nvSpPr>
          <p:cNvPr id="21" name="TextBox 20"/>
          <p:cNvSpPr txBox="1"/>
          <p:nvPr/>
        </p:nvSpPr>
        <p:spPr>
          <a:xfrm>
            <a:off x="4160520" y="4700016"/>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200" b="1">
                <a:solidFill>
                  <a:srgbClr val="85200C"/>
                </a:solidFill>
              </a:defRPr>
            </a:pPr>
            <a:r>
              <a:rPr sz="1200" b="1">
                <a:solidFill>
                  <a:srgbClr val="85200C"/>
                </a:solidFill>
                <a:latin typeface="Titillium Web SemiBold"/>
              </a:rPr>
              <a:t>Empirical Risk: Unconstrained LLMs might allow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 Given (System Inputs)</a:t>
            </a:r>
          </a:p>
        </p:txBody>
      </p:sp>
      <p:sp>
        <p:nvSpPr>
          <p:cNvPr id="9" name="Rounded Rectangle 8"/>
          <p:cNvSpPr/>
          <p:nvPr/>
        </p:nvSpPr>
        <p:spPr>
          <a:xfrm>
            <a:off x="9326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Unstructured operator intent (</a:t>
            </a:r>
            <a14:m xmlns:a14="http://schemas.microsoft.com/office/drawing/2010/main" xmlns:m="http://schemas.openxmlformats.org/officeDocument/2006/math">
              <m:oMath>
                <m:sSub>
                  <m:e>
                    <m:r>
                      <m:t>ℐ</m:t>
                    </m:r>
                  </m:e>
                  <m:sub>
                    <m:r>
                      <m:t>NL</m:t>
                    </m:r>
                  </m:sub>
                </m:sSub>
              </m:oMath>
            </a14:m>
            <a:r>
              <a:rPr sz="1000" b="1">
                <a:solidFill>
                  <a:srgbClr val="222222"/>
                </a:solidFill>
                <a:latin typeface="Titillium Web SemiBold"/>
              </a:rPr>
              <a:t>)</a:t>
            </a:r>
          </a:p>
        </p:txBody>
      </p:sp>
      <p:sp>
        <p:nvSpPr>
          <p:cNvPr id="10" name="Rounded Rectangle 9"/>
          <p:cNvSpPr/>
          <p:nvPr/>
        </p:nvSpPr>
        <p:spPr>
          <a:xfrm>
            <a:off x="9326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Active optical topology graph </a:t>
            </a:r>
            <a14:m xmlns:a14="http://schemas.microsoft.com/office/drawing/2010/main" xmlns:m="http://schemas.openxmlformats.org/officeDocument/2006/math">
              <m:oMath>
                <m:r>
                  <m:t>G(V, E)</m:t>
                </m:r>
              </m:oMath>
            </a14:m>
          </a:p>
        </p:txBody>
      </p:sp>
      <p:sp>
        <p:nvSpPr>
          <p:cNvPr id="11" name="Rounded Rectangle 10"/>
          <p:cNvSpPr/>
          <p:nvPr/>
        </p:nvSpPr>
        <p:spPr>
          <a:xfrm>
            <a:off x="9326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Physical parameters (e.g. span length </a:t>
            </a:r>
            <a14:m xmlns:a14="http://schemas.microsoft.com/office/drawing/2010/main" xmlns:m="http://schemas.openxmlformats.org/officeDocument/2006/math">
              <m:oMath>
                <m:r>
                  <m:t>L</m:t>
                </m:r>
              </m:oMath>
            </a14:m>
            <a:r>
              <a:rPr sz="1000" b="1">
                <a:solidFill>
                  <a:srgbClr val="222222"/>
                </a:solidFill>
                <a:latin typeface="Titillium Web SemiBold"/>
              </a:rPr>
              <a:t>)</a:t>
            </a:r>
          </a:p>
        </p:txBody>
      </p:sp>
      <p:sp>
        <p:nvSpPr>
          <p:cNvPr id="12" name="Rounded Rectangle 11"/>
          <p:cNvSpPr/>
          <p:nvPr/>
        </p:nvSpPr>
        <p:spPr>
          <a:xfrm>
            <a:off x="9326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Feasibility threshold (e.g. </a:t>
            </a:r>
            <a14:m xmlns:a14="http://schemas.microsoft.com/office/drawing/2010/main" xmlns:m="http://schemas.openxmlformats.org/officeDocument/2006/math">
              <m:oMath>
                <m:r>
                  <m:t>GSNR</m:t>
                </m:r>
              </m:oMath>
            </a14:m>
            <a:r>
              <a:rPr sz="1000" b="1">
                <a:solidFill>
                  <a:srgbClr val="222222"/>
                </a:solidFill>
                <a:latin typeface="Titillium Web SemiBold"/>
              </a:rPr>
              <a:t>)</a:t>
            </a:r>
          </a:p>
        </p:txBody>
      </p:sp>
      <p:sp>
        <p:nvSpPr>
          <p:cNvPr id="13" name="Rounded Rectangle 12"/>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[2] Decide (Variables &amp; Actions)</a:t>
            </a:r>
          </a:p>
        </p:txBody>
      </p:sp>
      <p:sp>
        <p:nvSpPr>
          <p:cNvPr id="15" name="Rounded Rectangle 14"/>
          <p:cNvSpPr/>
          <p:nvPr/>
        </p:nvSpPr>
        <p:spPr>
          <a:xfrm>
            <a:off x="45902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Formal symbolic specification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compiled from intent)</a:t>
            </a:r>
          </a:p>
        </p:txBody>
      </p:sp>
      <p:sp>
        <p:nvSpPr>
          <p:cNvPr id="16" name="Rounded Rectangle 15"/>
          <p:cNvSpPr/>
          <p:nvPr/>
        </p:nvSpPr>
        <p:spPr>
          <a:xfrm>
            <a:off x="45902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Optimal physical lightpath route</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π</m:t>
                    </m:r>
                  </m:e>
                  <m:sup>
                    <m:r>
                      <m:t>*</m:t>
                    </m:r>
                  </m:sup>
                </m:sSup>
                <m:r>
                  <m:t> ∈ </m:t>
                </m:r>
                <m:sSub>
                  <m:e>
                    <m:r>
                      <m:t>𝒦</m:t>
                    </m:r>
                  </m:e>
                  <m:sub>
                    <m:r>
                      <m:t>path</m:t>
                    </m:r>
                  </m:sub>
                </m:sSub>
              </m:oMath>
            </a14:m>
            <a:r>
              <a:rPr sz="950" b="0">
                <a:solidFill>
                  <a:srgbClr val="222222"/>
                </a:solidFill>
                <a:latin typeface="Arial"/>
              </a:rPr>
              <a:t> from candidate paths)</a:t>
            </a:r>
          </a:p>
        </p:txBody>
      </p:sp>
      <p:sp>
        <p:nvSpPr>
          <p:cNvPr id="17" name="Rounded Rectangle 16"/>
          <p:cNvSpPr/>
          <p:nvPr/>
        </p:nvSpPr>
        <p:spPr>
          <a:xfrm>
            <a:off x="45902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Pre-deployment control action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a ∈ {approve, clarify, replan}</m:t>
                </m:r>
              </m:oMath>
            </a14:m>
            <a:r>
              <a:rPr sz="950" b="0">
                <a:solidFill>
                  <a:srgbClr val="222222"/>
                </a:solidFill>
                <a:latin typeface="Arial"/>
              </a:rPr>
              <a:t>)</a:t>
            </a:r>
          </a:p>
        </p:txBody>
      </p:sp>
      <p:sp>
        <p:nvSpPr>
          <p:cNvPr id="18" name="Rounded Rectangle 17"/>
          <p:cNvSpPr/>
          <p:nvPr/>
        </p:nvSpPr>
        <p:spPr>
          <a:xfrm>
            <a:off x="45902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Provisioning routing configuration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c</m:t>
                    </m:r>
                  </m:e>
                  <m:sup>
                    <m:r>
                      <m:t>*</m:t>
                    </m:r>
                  </m:sup>
                </m:sSup>
              </m:oMath>
            </a14:m>
            <a:r>
              <a:rPr sz="950" b="0">
                <a:solidFill>
                  <a:srgbClr val="222222"/>
                </a:solidFill>
                <a:latin typeface="Arial"/>
              </a:rPr>
              <a:t> dispatched to controller)</a:t>
            </a:r>
          </a:p>
        </p:txBody>
      </p:sp>
      <p:sp>
        <p:nvSpPr>
          <p:cNvPr id="19" name="Rounded Rectangle 18"/>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[3] Objective (Optimization)</a:t>
            </a:r>
          </a:p>
        </p:txBody>
      </p:sp>
      <p:sp>
        <p:nvSpPr>
          <p:cNvPr id="21" name="Rounded Rectangle 20"/>
          <p:cNvSpPr/>
          <p:nvPr/>
        </p:nvSpPr>
        <p:spPr>
          <a:xfrm>
            <a:off x="82478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human interruptions (</a:t>
            </a:r>
            <a14:m xmlns:a14="http://schemas.microsoft.com/office/drawing/2010/main" xmlns:m="http://schemas.openxmlformats.org/officeDocument/2006/math">
              <m:oMath>
                <m:r>
                  <m:t>min </m:t>
                </m:r>
                <m:sSub>
                  <m:e>
                    <m:r>
                      <m:t>N</m:t>
                    </m:r>
                  </m:e>
                  <m:sub>
                    <m:r>
                      <m:t>hitl</m:t>
                    </m:r>
                  </m:sub>
                </m:sSub>
              </m:oMath>
            </a14:m>
            <a:r>
              <a:rPr sz="1000" b="1">
                <a:solidFill>
                  <a:srgbClr val="222222"/>
                </a:solidFill>
                <a:latin typeface="Titillium Web SemiBold"/>
              </a:rPr>
              <a:t>)</a:t>
            </a:r>
          </a:p>
        </p:txBody>
      </p:sp>
      <p:sp>
        <p:nvSpPr>
          <p:cNvPr id="22" name="Rounded Rectangle 21"/>
          <p:cNvSpPr/>
          <p:nvPr/>
        </p:nvSpPr>
        <p:spPr>
          <a:xfrm>
            <a:off x="82478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prompt tokens (</a:t>
            </a:r>
            <a14:m xmlns:a14="http://schemas.microsoft.com/office/drawing/2010/main" xmlns:m="http://schemas.openxmlformats.org/officeDocument/2006/math">
              <m:oMath>
                <m:r>
                  <m:t>min </m:t>
                </m:r>
                <m:sSub>
                  <m:e>
                    <m:r>
                      <m:t>T</m:t>
                    </m:r>
                  </m:e>
                  <m:sub>
                    <m:r>
                      <m:t>tokens</m:t>
                    </m:r>
                  </m:sub>
                </m:sSub>
              </m:oMath>
            </a14:m>
            <a:r>
              <a:rPr sz="1000" b="1">
                <a:solidFill>
                  <a:srgbClr val="222222"/>
                </a:solidFill>
                <a:latin typeface="Titillium Web SemiBold"/>
              </a:rPr>
              <a:t>)</a:t>
            </a:r>
          </a:p>
        </p:txBody>
      </p:sp>
      <p:sp>
        <p:nvSpPr>
          <p:cNvPr id="23" name="Rounded Rectangle 22"/>
          <p:cNvSpPr/>
          <p:nvPr/>
        </p:nvSpPr>
        <p:spPr>
          <a:xfrm>
            <a:off x="82478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operational friction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min α · </m:t>
                </m:r>
                <m:sSub>
                  <m:e>
                    <m:r>
                      <m:t>N</m:t>
                    </m:r>
                  </m:e>
                  <m:sub>
                    <m:r>
                      <m:t>hitl</m:t>
                    </m:r>
                  </m:sub>
                </m:sSub>
                <m:r>
                  <m:t> + β · </m:t>
                </m:r>
                <m:sSub>
                  <m:e>
                    <m:r>
                      <m:t>T</m:t>
                    </m:r>
                  </m:e>
                  <m:sub>
                    <m:r>
                      <m:t>tokens</m:t>
                    </m:r>
                  </m:sub>
                </m:sSub>
              </m:oMath>
            </a14:m>
            <a:r>
              <a:rPr sz="950" b="0">
                <a:solidFill>
                  <a:srgbClr val="222222"/>
                </a:solidFill>
                <a:latin typeface="Arial"/>
              </a:rPr>
              <a:t>)</a:t>
            </a:r>
          </a:p>
        </p:txBody>
      </p:sp>
      <p:sp>
        <p:nvSpPr>
          <p:cNvPr id="24" name="Rounded Rectangle 23"/>
          <p:cNvSpPr/>
          <p:nvPr/>
        </p:nvSpPr>
        <p:spPr>
          <a:xfrm>
            <a:off x="82478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Guarantee pre-deployment safety</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r>
              <a:rPr sz="950" b="0">
                <a:solidFill>
                  <a:srgbClr val="222222"/>
                </a:solidFill>
                <a:latin typeface="Arial"/>
              </a:rPr>
              <a:t>)</a:t>
            </a:r>
          </a:p>
        </p:txBody>
      </p:sp>
      <p:sp>
        <p:nvSpPr>
          <p:cNvPr id="25" name="Rounded Rectangle 24"/>
          <p:cNvSpPr/>
          <p:nvPr/>
        </p:nvSpPr>
        <p:spPr>
          <a:xfrm>
            <a:off x="1345082" y="4328769"/>
            <a:ext cx="9425635" cy="1945843"/>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45082" y="4253788"/>
            <a:ext cx="9425635"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[4] Constraints: Resource Limits vs. Physical &amp; Semantic Boundaries</a:t>
            </a:r>
          </a:p>
        </p:txBody>
      </p:sp>
      <p:sp>
        <p:nvSpPr>
          <p:cNvPr id="27" name="TextBox 26"/>
          <p:cNvSpPr txBox="1"/>
          <p:nvPr/>
        </p:nvSpPr>
        <p:spPr>
          <a:xfrm>
            <a:off x="1442008" y="4784140"/>
            <a:ext cx="4394606" cy="1036929"/>
          </a:xfrm>
          <a:prstGeom prst="rect">
            <a:avLst/>
          </a:prstGeom>
          <a:noFill/>
        </p:spPr>
        <p:txBody>
          <a:bodyPr wrap="square" tIns="18288">
            <a:spAutoFit/>
          </a:bodyPr>
          <a:lstStyle/>
          <a:p>
            <a:pPr>
              <a:spcAft>
                <a:spcPts val="200"/>
              </a:spcAft>
              <a:defRPr sz="1100" b="1">
                <a:solidFill>
                  <a:srgbClr val="0F2C53"/>
                </a:solidFill>
                <a:latin typeface="Titillium Web SemiBold"/>
              </a:defRPr>
            </a:pPr>
            <a:r>
              <a:t>Resource Constraints (System &amp; Solver Limits):</a:t>
            </a:r>
          </a:p>
          <a:p>
            <a:pPr>
              <a:spcBef>
                <a:spcPts val="0"/>
              </a:spcBef>
              <a:spcAft>
                <a:spcPts val="200"/>
              </a:spcAft>
              <a:defRPr sz="1000">
                <a:solidFill>
                  <a:srgbClr val="222222"/>
                </a:solidFill>
              </a:defRPr>
            </a:pPr>
            <a:r>
              <a:rPr sz="1000" b="0">
                <a:solidFill>
                  <a:srgbClr val="222222"/>
                </a:solidFill>
                <a:latin typeface="Arial"/>
              </a:rPr>
              <a:t>•  Token context limits (</a:t>
            </a:r>
            <a14:m xmlns:a14="http://schemas.microsoft.com/office/drawing/2010/main" xmlns:m="http://schemas.openxmlformats.org/officeDocument/2006/math">
              <m:oMath>
                <m:sSub>
                  <m:e>
                    <m:r>
                      <m:t>T</m:t>
                    </m:r>
                  </m:e>
                  <m:sub>
                    <m:r>
                      <m:t>prompt</m:t>
                    </m:r>
                  </m:sub>
                </m:sSub>
                <m:r>
                  <m:t> ≤ </m:t>
                </m:r>
                <m:sSub>
                  <m:e>
                    <m:r>
                      <m:t>T</m:t>
                    </m:r>
                  </m:e>
                  <m:sub>
                    <m:r>
                      <m:t>max</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Computational inference latency (</a:t>
            </a:r>
            <a14:m xmlns:a14="http://schemas.microsoft.com/office/drawing/2010/main" xmlns:m="http://schemas.openxmlformats.org/officeDocument/2006/math">
              <m:oMath>
                <m:sSub>
                  <m:e>
                    <m:r>
                      <m:t>t</m:t>
                    </m:r>
                  </m:e>
                  <m:sub>
                    <m:r>
                      <m:t>exec</m:t>
                    </m:r>
                  </m:sub>
                </m:sSub>
                <m:r>
                  <m:t> ≤ </m:t>
                </m:r>
                <m:sSub>
                  <m:e>
                    <m:r>
                      <m:t>t</m:t>
                    </m:r>
                  </m:e>
                  <m:sub>
                    <m:r>
                      <m:t>max_budget</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Symbolic solver complexity </a:t>
            </a:r>
            <a14:m xmlns:a14="http://schemas.microsoft.com/office/drawing/2010/main" xmlns:m="http://schemas.openxmlformats.org/officeDocument/2006/math">
              <m:oMath>
                <m:r>
                  <m:t>K ∈ [3, 5]</m:t>
                </m:r>
              </m:oMath>
            </a14:m>
          </a:p>
        </p:txBody>
      </p:sp>
      <p:sp>
        <p:nvSpPr>
          <p:cNvPr id="28" name="TextBox 27"/>
          <p:cNvSpPr txBox="1"/>
          <p:nvPr/>
        </p:nvSpPr>
        <p:spPr>
          <a:xfrm>
            <a:off x="6279184" y="4784140"/>
            <a:ext cx="4394606" cy="1254556"/>
          </a:xfrm>
          <a:prstGeom prst="rect">
            <a:avLst/>
          </a:prstGeom>
          <a:noFill/>
        </p:spPr>
        <p:txBody>
          <a:bodyPr wrap="square" tIns="18288">
            <a:spAutoFit/>
          </a:bodyPr>
          <a:lstStyle/>
          <a:p>
            <a:pPr>
              <a:spcAft>
                <a:spcPts val="200"/>
              </a:spcAft>
              <a:defRPr sz="1100" b="1">
                <a:solidFill>
                  <a:srgbClr val="85200C"/>
                </a:solidFill>
                <a:latin typeface="Titillium Web SemiBold"/>
              </a:defRPr>
            </a:pPr>
            <a:r>
              <a:t>Boundary Constraints (Physical &amp; Semantic Feasibility):</a:t>
            </a:r>
          </a:p>
          <a:p>
            <a:pPr>
              <a:spcBef>
                <a:spcPts val="0"/>
              </a:spcBef>
              <a:spcAft>
                <a:spcPts val="200"/>
              </a:spcAft>
              <a:defRPr sz="1000">
                <a:solidFill>
                  <a:srgbClr val="222222"/>
                </a:solidFill>
              </a:defRPr>
            </a:pPr>
            <a:r>
              <a:rPr sz="1000" b="0">
                <a:solidFill>
                  <a:srgbClr val="222222"/>
                </a:solidFill>
                <a:latin typeface="Arial"/>
              </a:rPr>
              <a:t>•  Zero semantic drift tolerance bound</a:t>
            </a:r>
          </a:p>
          <a:p>
            <a:pPr>
              <a:spcBef>
                <a:spcPts val="0"/>
              </a:spcBef>
              <a:spcAft>
                <a:spcPts val="200"/>
              </a:spcAft>
              <a:defRPr sz="1000">
                <a:solidFill>
                  <a:srgbClr val="222222"/>
                </a:solidFill>
              </a:defRPr>
            </a:pPr>
            <a:r>
              <a:rPr sz="1000" b="0">
                <a:solidFill>
                  <a:srgbClr val="222222"/>
                </a:solidFill>
                <a:latin typeface="Arial"/>
              </a:rPr>
              <a:t>•  Deterministic optical QoT feasibility</a:t>
            </a:r>
          </a:p>
          <a:p>
            <a:pPr>
              <a:spcBef>
                <a:spcPts val="0"/>
              </a:spcBef>
              <a:spcAft>
                <a:spcPts val="2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r>
              <a:rPr sz="1000" b="0">
                <a:solidFill>
                  <a:srgbClr val="222222"/>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523036"/>
          </a:xfrm>
          <a:prstGeom prst="rect">
            <a:avLst/>
          </a:prstGeom>
          <a:noFill/>
        </p:spPr>
        <p:txBody>
          <a:bodyPr wrap="square">
            <a:spAutoFit/>
          </a:bodyPr>
          <a:lstStyle/>
          <a:p>
            <a:pPr>
              <a:defRPr sz="2800" b="1">
                <a:solidFill>
                  <a:srgbClr val="0F2C53"/>
                </a:solidFill>
                <a:latin typeface="Titillium Web SemiBold"/>
              </a:defRPr>
            </a:pPr>
            <a:r>
              <a:t>Proposed Solution: RADG with Neurosymbolic Planning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Neural Subsystem (Semantic Domain)</a:t>
            </a:r>
          </a:p>
        </p:txBody>
      </p:sp>
      <p:sp>
        <p:nvSpPr>
          <p:cNvPr id="9" name="Rounded Rectangle 8"/>
          <p:cNvSpPr/>
          <p:nvPr/>
        </p:nvSpPr>
        <p:spPr>
          <a:xfrm>
            <a:off x="1456639" y="188823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Translation of the intent</a:t>
            </a:r>
          </a:p>
        </p:txBody>
      </p:sp>
      <p:sp>
        <p:nvSpPr>
          <p:cNvPr id="10" name="Rounded Rectangle 9"/>
          <p:cNvSpPr/>
          <p:nvPr/>
        </p:nvSpPr>
        <p:spPr>
          <a:xfrm>
            <a:off x="1456639" y="2388412"/>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Validation of the semantic similarity</a:t>
            </a:r>
          </a:p>
        </p:txBody>
      </p:sp>
      <p:sp>
        <p:nvSpPr>
          <p:cNvPr id="11" name="Rounded Rectangle 10"/>
          <p:cNvSpPr/>
          <p:nvPr/>
        </p:nvSpPr>
        <p:spPr>
          <a:xfrm>
            <a:off x="1456639" y="2935224"/>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Orchestration</a:t>
            </a:r>
          </a:p>
        </p:txBody>
      </p:sp>
      <p:sp>
        <p:nvSpPr>
          <p:cNvPr id="12" name="Rounded Rectangle 11"/>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Symbolic Subsystem (Optical Domain)</a:t>
            </a:r>
          </a:p>
        </p:txBody>
      </p:sp>
      <p:sp>
        <p:nvSpPr>
          <p:cNvPr id="14" name="Rounded Rectangle 13"/>
          <p:cNvSpPr/>
          <p:nvPr/>
        </p:nvSpPr>
        <p:spPr>
          <a:xfrm>
            <a:off x="1456639" y="4550968"/>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Topology extraction</a:t>
            </a:r>
          </a:p>
        </p:txBody>
      </p:sp>
      <p:sp>
        <p:nvSpPr>
          <p:cNvPr id="15" name="Rounded Rectangle 14"/>
          <p:cNvSpPr/>
          <p:nvPr/>
        </p:nvSpPr>
        <p:spPr>
          <a:xfrm>
            <a:off x="1456639" y="5051145"/>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Deterministic tools usage</a:t>
            </a:r>
          </a:p>
        </p:txBody>
      </p:sp>
      <p:sp>
        <p:nvSpPr>
          <p:cNvPr id="16" name="Rounded Rectangle 15"/>
          <p:cNvSpPr/>
          <p:nvPr/>
        </p:nvSpPr>
        <p:spPr>
          <a:xfrm>
            <a:off x="1456639" y="5597956"/>
            <a:ext cx="36274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defRPr sz="1200" b="1">
                <a:solidFill>
                  <a:srgbClr val="222222"/>
                </a:solidFill>
                <a:latin typeface="Titillium Web SemiBold"/>
              </a:defRPr>
            </a:pPr>
            <a:r>
              <a:t>Physical feasibility validation</a:t>
            </a:r>
          </a:p>
        </p:txBody>
      </p:sp>
      <p:sp>
        <p:nvSpPr>
          <p:cNvPr id="17" name="Rounded Rectangle 16"/>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Core Thesis Contributions</a:t>
            </a:r>
          </a:p>
        </p:txBody>
      </p:sp>
      <p:sp>
        <p:nvSpPr>
          <p:cNvPr id="18" name="Rounded Rectangle 17"/>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Scoped GraphRAG for IBN in a Neurosymbolic system</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eliminating attention loss</a:t>
            </a:r>
          </a:p>
        </p:txBody>
      </p:sp>
      <p:sp>
        <p:nvSpPr>
          <p:cNvPr id="20" name="Rounded Rectangle 19"/>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Quantification of Semantic Uncertainty for IBN in a Neurosymbolic system</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p:txBody>
      </p:sp>
      <p:sp>
        <p:nvSpPr>
          <p:cNvPr id="22" name="Rounded Rectangle 21"/>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for optimized HITL</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physical safety (</a:t>
            </a:r>
            <a14:m xmlns:a14="http://schemas.microsoft.com/office/drawing/2010/main" xmlns:m="http://schemas.openxmlformats.org/officeDocument/2006/math">
              <m:oMath>
                <m:r>
                  <m:t>UAR = 0</m:t>
                </m:r>
              </m:oMath>
            </a14:m>
            <a:r>
              <a:rPr sz="1000" b="0">
                <a:solidFill>
                  <a:srgbClr val="222222"/>
                </a:solidFill>
                <a:latin typeface="Arial"/>
              </a:rPr>
              <a:t>)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  Evaluate CFG </a:t>
            </a:r>
            <a14:m xmlns:a14="http://schemas.microsoft.com/office/drawing/2010/main" xmlns:m="http://schemas.openxmlformats.org/officeDocument/2006/math">
              <m:oMath>
                <m:sSub>
                  <m:e>
                    <m:r>
                      <m:t>v</m:t>
                    </m:r>
                  </m:e>
                  <m:sub>
                    <m:r>
                      <m:t>struct</m:t>
                    </m:r>
                  </m:sub>
                </m:sSub>
              </m:oMath>
            </a14:m>
          </a:p>
          <a:p>
            <a:pPr algn="l">
              <a:spcBef>
                <a:spcPts val="200"/>
              </a:spcBef>
              <a:defRPr sz="950">
                <a:solidFill>
                  <a:srgbClr val="222222"/>
                </a:solidFill>
              </a:defRPr>
            </a:pPr>
            <a:r>
              <a:rPr sz="950" b="0">
                <a:solidFill>
                  <a:srgbClr val="222222"/>
                </a:solidFill>
                <a:latin typeface="Arial"/>
              </a:rPr>
              <a:t>•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Feasibility Gate</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1695" y="1188720"/>
            <a:ext cx="850392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37513"/>
            <a:ext cx="5120640" cy="645566"/>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Deterministic Subtopology Scoping</a:t>
            </a:r>
          </a:p>
        </p:txBody>
      </p:sp>
      <p:sp>
        <p:nvSpPr>
          <p:cNvPr id="9" name="Down Arrow 8"/>
          <p:cNvSpPr/>
          <p:nvPr/>
        </p:nvSpPr>
        <p:spPr>
          <a:xfrm>
            <a:off x="3027578" y="1897380"/>
            <a:ext cx="701344" cy="2064715"/>
          </a:xfrm>
          <a:prstGeom prst="downArrow">
            <a:avLst/>
          </a:prstGeom>
          <a:solidFill>
            <a:srgbClr val="85200C"/>
          </a:solidFill>
          <a:ln>
            <a:solidFill>
              <a:srgbClr val="F4F6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22983" y="2031796"/>
            <a:ext cx="2910535"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222222"/>
                </a:solidFill>
                <a:latin typeface="Titillium Web SemiBold"/>
              </a:defRPr>
            </a:pPr>
            <a:r>
              <a:t>Raw JSON contains excessive telemetry:</a:t>
            </a:r>
          </a:p>
          <a:p>
            <a:pPr algn="ctr">
              <a:defRPr sz="1200" b="1">
                <a:solidFill>
                  <a:srgbClr val="222222"/>
                </a:solidFill>
                <a:latin typeface="Titillium Web SemiBold"/>
              </a:defRPr>
            </a:pPr>
            <a:r>
              <a:t>ROADM ports, EDFAs, fibers</a:t>
            </a:r>
          </a:p>
        </p:txBody>
      </p:sp>
      <p:sp>
        <p:nvSpPr>
          <p:cNvPr id="11" name="Rounded Rectangle 10"/>
          <p:cNvSpPr/>
          <p:nvPr/>
        </p:nvSpPr>
        <p:spPr>
          <a:xfrm>
            <a:off x="1891893" y="2839212"/>
            <a:ext cx="2941624" cy="569671"/>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91440" bIns="36576"/>
          <a:lstStyle/>
          <a:p>
            <a:pPr algn="ctr">
              <a:defRPr sz="1200" b="1">
                <a:solidFill>
                  <a:srgbClr val="222222"/>
                </a:solidFill>
                <a:latin typeface="Titillium Web SemiBold"/>
              </a:defRPr>
            </a:pPr>
            <a:r>
              <a:t>Full topology dumps overwhelm LLM context windows</a:t>
            </a:r>
          </a:p>
        </p:txBody>
      </p:sp>
      <p:sp>
        <p:nvSpPr>
          <p:cNvPr id="12" name="Rounded Rectangle 11"/>
          <p:cNvSpPr/>
          <p:nvPr/>
        </p:nvSpPr>
        <p:spPr>
          <a:xfrm>
            <a:off x="1626717" y="3962095"/>
            <a:ext cx="3627424" cy="541324"/>
          </a:xfrm>
          <a:prstGeom prst="roundRect">
            <a:avLst/>
          </a:prstGeom>
          <a:solidFill>
            <a:srgbClr val="FFFFFF"/>
          </a:solidFill>
          <a:ln w="127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defRPr sz="1200" b="1">
                <a:solidFill>
                  <a:srgbClr val="1A7F37"/>
                </a:solidFill>
                <a:latin typeface="Titillium Web SemiBold"/>
              </a:defRPr>
            </a:pPr>
            <a:r>
              <a:t>Mock GraphRAG extracts localized subtopology</a:t>
            </a:r>
          </a:p>
          <a:p>
            <a:pPr algn="ctr">
              <a:defRPr sz="1200">
                <a:solidFill>
                  <a:srgbClr val="1A7F37"/>
                </a:solidFill>
              </a:defRPr>
            </a:pPr>
            <a14:m xmlns:a14="http://schemas.microsoft.com/office/drawing/2010/main" xmlns:m="http://schemas.openxmlformats.org/officeDocument/2006/math">
              <m:oMath>
                <m:sSub>
                  <m:e>
                    <m:r>
                      <m:t>G</m:t>
                    </m:r>
                  </m:e>
                  <m:sub>
                    <m:r>
                      <m:t>sub</m:t>
                    </m:r>
                  </m:sub>
                </m:sSub>
                <m:r>
                  <m:t> ⊆ G</m:t>
                </m:r>
              </m:oMath>
            </a14:m>
          </a:p>
        </p:txBody>
      </p:sp>
      <p:sp>
        <p:nvSpPr>
          <p:cNvPr id="13" name="TextBox 12"/>
          <p:cNvSpPr txBox="1"/>
          <p:nvPr/>
        </p:nvSpPr>
        <p:spPr>
          <a:xfrm>
            <a:off x="1000353" y="4752136"/>
            <a:ext cx="4754880" cy="645566"/>
          </a:xfrm>
          <a:prstGeom prst="rect">
            <a:avLst/>
          </a:prstGeom>
          <a:noFill/>
        </p:spPr>
        <p:txBody>
          <a:bodyPr wrap="square">
            <a:spAutoFit/>
          </a:bodyPr>
          <a:lstStyle/>
          <a:p>
            <a:pPr>
              <a:spcBef>
                <a:spcPts val="0"/>
              </a:spcBef>
              <a:spcAft>
                <a:spcPts val="200"/>
              </a:spcAft>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pic>
        <p:nvPicPr>
          <p:cNvPr id="14" name="Picture 13"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5" name="Picture 14"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
        <p:nvSpPr>
          <p:cNvPr id="16" name="TextBox 15"/>
          <p:cNvSpPr txBox="1"/>
          <p:nvPr/>
        </p:nvSpPr>
        <p:spPr>
          <a:xfrm>
            <a:off x="6263640" y="5053888"/>
            <a:ext cx="5029200" cy="215798"/>
          </a:xfrm>
          <a:prstGeom prst="rect">
            <a:avLst/>
          </a:prstGeom>
          <a:noFill/>
        </p:spPr>
        <p:txBody>
          <a:bodyPr wrap="square">
            <a:spAutoFit/>
          </a:bodyPr>
          <a:lstStyle/>
          <a:p>
            <a:pPr>
              <a:defRPr sz="800">
                <a:solidFill>
                  <a:srgbClr val="222222"/>
                </a:solidFill>
                <a:latin typeface="Arial"/>
              </a:defRPr>
            </a:pPr>
            <a:r>
              <a:t>From: https://topolib.readthedocs.io/en/latest/topology_repository.html</a:t>
            </a:r>
          </a:p>
        </p:txBody>
      </p:sp>
      <p:sp>
        <p:nvSpPr>
          <p:cNvPr id="17" name="Rounded Rectangle 16"/>
          <p:cNvSpPr/>
          <p:nvPr/>
        </p:nvSpPr>
        <p:spPr>
          <a:xfrm>
            <a:off x="6263640" y="5449824"/>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e.g.  Frankfurt ➔ Munich demand: Northern nodes pruned from LLM prompt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2784" y="1143000"/>
            <a:ext cx="7781544"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097280"/>
            <a:ext cx="5212080" cy="6858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 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969264" y="3401568"/>
            <a:ext cx="5824728" cy="1132027"/>
          </a:xfrm>
          <a:prstGeom prst="rect">
            <a:avLst/>
          </a:prstGeom>
          <a:noFill/>
        </p:spPr>
        <p:txBody>
          <a:bodyPr wrap="square">
            <a:spAutoFit/>
          </a:bodyPr>
          <a:lstStyle/>
          <a:p>
            <a:pPr>
              <a:defRPr sz="1400">
                <a:solidFill>
                  <a:srgbClr val="222222"/>
                </a:solidFill>
              </a:defRPr>
            </a:pPr>
            <a:r>
              <a:rPr sz="1400" b="0">
                <a:solidFill>
                  <a:srgbClr val="222222"/>
                </a:solidFill>
                <a:latin typeface="Arial"/>
              </a:rPr>
              <a:t>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400">
                <a:solidFill>
                  <a:srgbClr val="222222"/>
                </a:solidFill>
                <a:latin typeface="Arial"/>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862572" y="3475634"/>
            <a:ext cx="3883456" cy="737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Titillium Web SemiBold"/>
              </a:defRPr>
            </a:pPr>
            <a:r>
              <a:t>⏸️ Fail-Fast HITL Clarification Loop</a:t>
            </a:r>
          </a:p>
        </p:txBody>
      </p:sp>
      <p:sp>
        <p:nvSpPr>
          <p:cNvPr id="11" name="Rounded Rectangle 10"/>
          <p:cNvSpPr/>
          <p:nvPr/>
        </p:nvSpPr>
        <p:spPr>
          <a:xfrm>
            <a:off x="6862572" y="4405579"/>
            <a:ext cx="3883456" cy="7379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A7F37"/>
                </a:solidFill>
                <a:latin typeface="Titillium Web SemiBold"/>
              </a:defRPr>
            </a:pPr>
            <a:r>
              <a:t>Fail-Fast Guarantee: Zero computational waste on physics simulation when intent is ambiguous</a:t>
            </a:r>
          </a:p>
        </p:txBody>
      </p:sp>
      <p:sp>
        <p:nvSpPr>
          <p:cNvPr id="12" name="Rounded Rectangle 11"/>
          <p:cNvSpPr/>
          <p:nvPr/>
        </p:nvSpPr>
        <p:spPr>
          <a:xfrm>
            <a:off x="1333195" y="2325319"/>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Structural</a:t>
            </a:r>
          </a:p>
          <a:p>
            <a:pPr algn="ctr">
              <a:defRPr sz="1100">
                <a:solidFill>
                  <a:srgbClr val="222222"/>
                </a:solidFill>
              </a:defRPr>
            </a:pPr>
            <a:r>
              <a:rPr sz="1100" b="0">
                <a:solidFill>
                  <a:srgbClr val="222222"/>
                </a:solidFill>
                <a:latin typeface="Arial"/>
              </a:rPr>
              <a:t>CFG regex AST checks (</a:t>
            </a:r>
            <a14:m xmlns:a14="http://schemas.microsoft.com/office/drawing/2010/main" xmlns:m="http://schemas.openxmlformats.org/officeDocument/2006/math">
              <m:oMath>
                <m:sSub>
                  <m:e>
                    <m:r>
                      <m:t>v</m:t>
                    </m:r>
                  </m:e>
                  <m:sub>
                    <m:r>
                      <m:t>struct</m:t>
                    </m:r>
                  </m:sub>
                </m:sSub>
                <m:r>
                  <m:t> ∈ {0, 1}</m:t>
                </m:r>
              </m:oMath>
            </a14:m>
            <a:r>
              <a:rPr sz="1100" b="0">
                <a:solidFill>
                  <a:srgbClr val="222222"/>
                </a:solidFill>
                <a:latin typeface="Arial"/>
              </a:rPr>
              <a:t>)</a:t>
            </a:r>
          </a:p>
        </p:txBody>
      </p:sp>
      <p:sp>
        <p:nvSpPr>
          <p:cNvPr id="13" name="Rounded Rectangle 12"/>
          <p:cNvSpPr/>
          <p:nvPr/>
        </p:nvSpPr>
        <p:spPr>
          <a:xfrm>
            <a:off x="3696004" y="2354580"/>
            <a:ext cx="1950415" cy="747979"/>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a:solidFill>
                  <a:srgbClr val="222222"/>
                </a:solidFill>
                <a:latin typeface="Titillium Web SemiBold"/>
              </a:defRPr>
            </a:pPr>
            <a:r>
              <a:t>Semantic</a:t>
            </a:r>
          </a:p>
          <a:p>
            <a:pPr algn="ctr">
              <a:defRPr sz="1100" b="1">
                <a:solidFill>
                  <a:srgbClr val="222222"/>
                </a:solidFill>
                <a:latin typeface="Titillium Web SemiBold"/>
              </a:defRPr>
            </a:pPr>
            <a:r>
              <a:t>Reverse Prompting reconstructs the intent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371600"/>
          </a:xfrm>
          <a:prstGeom prst="rect">
            <a:avLst/>
          </a:prstGeom>
          <a:noFill/>
        </p:spPr>
        <p:txBody>
          <a:bodyPr wrap="square">
            <a:spAutoFit/>
          </a:bodyPr>
          <a:lstStyle/>
          <a:p>
            <a:pPr>
              <a:defRPr sz="1600" b="1">
                <a:solidFill>
                  <a:srgbClr val="0F2C53"/>
                </a:solidFill>
                <a:latin typeface="Titillium Web SemiBold"/>
              </a:defRPr>
            </a:pPr>
            <a:r>
              <a:t>Piecewise Decision Formulation:</a:t>
            </a:r>
          </a:p>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336645"/>
            <a:ext cx="3444240" cy="778154"/>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&gt; </m:t>
                  </m:r>
                  <m:sSub>
                    <m:e>
                      <m:r>
                        <m:t>τ</m:t>
                      </m:r>
                    </m:e>
                    <m:sub>
                      <m:r>
                        <m:t>sem</m:t>
                      </m:r>
                    </m:sub>
                  </m:sSub>
                </m:oMath>
              </m:oMathPara>
            </a14:m>
          </a:p>
        </p:txBody>
      </p:sp>
      <p:sp>
        <p:nvSpPr>
          <p:cNvPr id="11" name="TextBox 10"/>
          <p:cNvSpPr txBox="1"/>
          <p:nvPr/>
        </p:nvSpPr>
        <p:spPr>
          <a:xfrm>
            <a:off x="83850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Semantic uncertainty exceeds threshold</a:t>
            </a:r>
          </a:p>
          <a:p>
            <a:pPr>
              <a:spcBef>
                <a:spcPts val="0"/>
              </a:spcBef>
              <a:spcAft>
                <a:spcPts val="300"/>
              </a:spcAft>
              <a:defRPr sz="1100">
                <a:solidFill>
                  <a:srgbClr val="222222"/>
                </a:solidFill>
              </a:defRPr>
            </a:pPr>
            <a:r>
              <a:rPr sz="1100" b="0">
                <a:solidFill>
                  <a:srgbClr val="222222"/>
                </a:solidFill>
                <a:latin typeface="Arial"/>
              </a:rPr>
              <a:t>•  Action: Pause pipeline via interrupt()</a:t>
            </a:r>
          </a:p>
          <a:p>
            <a:pPr>
              <a:spcBef>
                <a:spcPts val="0"/>
              </a:spcBef>
              <a:spcAft>
                <a:spcPts val="300"/>
              </a:spcAft>
              <a:defRPr sz="1100">
                <a:solidFill>
                  <a:srgbClr val="222222"/>
                </a:solidFill>
              </a:defRPr>
            </a:pPr>
            <a:r>
              <a:rPr sz="1100" b="0">
                <a:solidFill>
                  <a:srgbClr val="222222"/>
                </a:solidFill>
                <a:latin typeface="Arial"/>
              </a:rPr>
              <a:t>•  Prompts operator to provide missing data</a:t>
            </a:r>
          </a:p>
          <a:p>
            <a:pPr>
              <a:spcBef>
                <a:spcPts val="0"/>
              </a:spcBef>
              <a:spcAft>
                <a:spcPts val="3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336645"/>
            <a:ext cx="3444240" cy="778154"/>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0</m:t>
                  </m:r>
                </m:oMath>
              </m:oMathPara>
            </a14:m>
          </a:p>
        </p:txBody>
      </p:sp>
      <p:sp>
        <p:nvSpPr>
          <p:cNvPr id="14" name="TextBox 13"/>
          <p:cNvSpPr txBox="1"/>
          <p:nvPr/>
        </p:nvSpPr>
        <p:spPr>
          <a:xfrm>
            <a:off x="4511344" y="4302252"/>
            <a:ext cx="3169920" cy="1261872"/>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Valid semantics, but physics infeasible</a:t>
            </a:r>
          </a:p>
          <a:p>
            <a:pPr>
              <a:spcBef>
                <a:spcPts val="0"/>
              </a:spcBef>
              <a:spcAft>
                <a:spcPts val="300"/>
              </a:spcAft>
              <a:defRPr sz="1100">
                <a:solidFill>
                  <a:srgbClr val="222222"/>
                </a:solidFill>
              </a:defRPr>
            </a:pPr>
            <a:r>
              <a:rPr sz="1100" b="0">
                <a:solidFill>
                  <a:srgbClr val="222222"/>
                </a:solidFill>
                <a:latin typeface="Arial"/>
              </a:rPr>
              <a:t>•  Action: Physics failed; notifies operator</a:t>
            </a:r>
          </a:p>
          <a:p>
            <a:pPr>
              <a:spcBef>
                <a:spcPts val="0"/>
              </a:spcBef>
              <a:spcAft>
                <a:spcPts val="3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3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336645"/>
            <a:ext cx="3444240" cy="778154"/>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a:p>
            <a:pPr algn="ctr">
              <a:defRPr sz="1200">
                <a:solidFill>
                  <a:srgbClr val="FFFFFF"/>
                </a:solidFill>
              </a:defRPr>
            </a:pPr>
            <a14:m xmlns:a14="http://schemas.microsoft.com/office/drawing/2010/main" xmlns:m="http://schemas.openxmlformats.org/officeDocument/2006/math">
              <m:oMathPara>
                <m:oMath>
                  <m:sSub>
                    <m:e>
                      <m:r>
                        <m:t>U</m:t>
                      </m:r>
                    </m:e>
                    <m:sub>
                      <m:r>
                        <m:t>sem</m:t>
                      </m:r>
                    </m:sub>
                  </m:sSub>
                  <m:r>
                    <m:t> ≤ </m:t>
                  </m:r>
                  <m:sSub>
                    <m:e>
                      <m:r>
                        <m:t>τ</m:t>
                      </m:r>
                    </m:e>
                    <m:sub>
                      <m:r>
                        <m:t>sem</m:t>
                      </m:r>
                    </m:sub>
                  </m:sSub>
                  <m:r>
                    <m:t> ∧ </m:t>
                  </m:r>
                  <m:sSub>
                    <m:e>
                      <m:r>
                        <m:t>QoT</m:t>
                      </m:r>
                    </m:e>
                    <m:sub>
                      <m:r>
                        <m:t>valid</m:t>
                      </m:r>
                    </m:sub>
                  </m:sSub>
                  <m:r>
                    <m:t> = 1</m:t>
                  </m:r>
                </m:oMath>
              </m:oMathPara>
            </a14:m>
          </a:p>
        </p:txBody>
      </p:sp>
      <p:sp>
        <p:nvSpPr>
          <p:cNvPr id="17" name="TextBox 16"/>
          <p:cNvSpPr txBox="1"/>
          <p:nvPr/>
        </p:nvSpPr>
        <p:spPr>
          <a:xfrm>
            <a:off x="8184184" y="4302252"/>
            <a:ext cx="3169920" cy="923544"/>
          </a:xfrm>
          <a:prstGeom prst="rect">
            <a:avLst/>
          </a:prstGeom>
          <a:noFill/>
        </p:spPr>
        <p:txBody>
          <a:bodyPr wrap="square">
            <a:spAutoFit/>
          </a:bodyPr>
          <a:lstStyle/>
          <a:p>
            <a:pPr>
              <a:spcAft>
                <a:spcPts val="3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300"/>
              </a:spcAft>
              <a:defRPr sz="1100">
                <a:solidFill>
                  <a:srgbClr val="222222"/>
                </a:solidFill>
              </a:defRPr>
            </a:pPr>
            <a:r>
              <a:rPr sz="1100" b="0">
                <a:solidFill>
                  <a:srgbClr val="222222"/>
                </a:solidFill>
                <a:latin typeface="Arial"/>
              </a:rPr>
              <a:t>•  Action: Autonomous zero-touch provisioning</a:t>
            </a:r>
          </a:p>
          <a:p>
            <a:pPr>
              <a:spcBef>
                <a:spcPts val="0"/>
              </a:spcBef>
              <a:spcAft>
                <a:spcPts val="300"/>
              </a:spcAft>
              <a:defRPr sz="1100">
                <a:solidFill>
                  <a:srgbClr val="222222"/>
                </a:solidFill>
              </a:defRPr>
            </a:pPr>
            <a:r>
              <a:rPr sz="1100" b="0">
                <a:solidFill>
                  <a:srgbClr val="222222"/>
                </a:solidFill>
                <a:latin typeface="Arial"/>
              </a:rPr>
              <a:t>•  Generates auditable planning report</a:t>
            </a:r>
          </a:p>
          <a:p>
            <a:pPr>
              <a:spcBef>
                <a:spcPts val="0"/>
              </a:spcBef>
              <a:spcAft>
                <a:spcPts val="3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8599017"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43000"/>
            <a:ext cx="5120640" cy="64008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17-Node German Core Network Benchmark</a:t>
            </a:r>
          </a:p>
        </p:txBody>
      </p:sp>
      <p:sp>
        <p:nvSpPr>
          <p:cNvPr id="9" name="TextBox 8"/>
          <p:cNvSpPr txBox="1"/>
          <p:nvPr/>
        </p:nvSpPr>
        <p:spPr>
          <a:xfrm>
            <a:off x="1051560" y="2617927"/>
            <a:ext cx="5044744" cy="1769364"/>
          </a:xfrm>
          <a:prstGeom prst="rect">
            <a:avLst/>
          </a:prstGeom>
          <a:noFill/>
        </p:spPr>
        <p:txBody>
          <a:bodyPr wrap="square">
            <a:spAutoFit/>
          </a:bodyPr>
          <a:lstStyle/>
          <a:p>
            <a:pPr>
              <a:spcBef>
                <a:spcPts val="0"/>
              </a:spcBef>
              <a:spcAft>
                <a:spcPts val="300"/>
              </a:spcAft>
              <a:defRPr sz="1200">
                <a:solidFill>
                  <a:srgbClr val="222222"/>
                </a:solidFill>
              </a:defRPr>
            </a:pPr>
            <a:r>
              <a:rPr sz="1200" b="0">
                <a:solidFill>
                  <a:srgbClr val="222222"/>
                </a:solidFill>
                <a:latin typeface="Arial"/>
              </a:rPr>
              <a:t>•  Realistic telecom topology: </a:t>
            </a:r>
            <a14:m xmlns:a14="http://schemas.microsoft.com/office/drawing/2010/main" xmlns:m="http://schemas.openxmlformats.org/officeDocument/2006/math">
              <m:oMath>
                <m:r>
                  <m:t>|V| = 17, |E| = 26</m:t>
                </m:r>
              </m:oMath>
            </a14:m>
            <a:r>
              <a:rPr sz="1200" b="0">
                <a:solidFill>
                  <a:srgbClr val="222222"/>
                </a:solidFill>
                <a:latin typeface="Arial"/>
              </a:rPr>
              <a:t> bidirectional fiber links</a:t>
            </a:r>
          </a:p>
          <a:p>
            <a:pPr>
              <a:spcBef>
                <a:spcPts val="0"/>
              </a:spcBef>
              <a:spcAft>
                <a:spcPts val="300"/>
              </a:spcAft>
              <a:defRPr sz="1200">
                <a:solidFill>
                  <a:srgbClr val="222222"/>
                </a:solidFill>
              </a:defRPr>
            </a:pPr>
            <a:r>
              <a:rPr sz="12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300"/>
              </a:spcAft>
              <a:defRPr sz="1200">
                <a:solidFill>
                  <a:srgbClr val="222222"/>
                </a:solidFill>
              </a:defRPr>
            </a:pPr>
            <a:r>
              <a:rPr sz="1200" b="0">
                <a:solidFill>
                  <a:srgbClr val="222222"/>
                </a:solidFill>
                <a:latin typeface="Arial"/>
              </a:rPr>
              <a:t>•  Dispersion parameter </a:t>
            </a:r>
            <a14:m xmlns:a14="http://schemas.microsoft.com/office/drawing/2010/main" xmlns:m="http://schemas.openxmlformats.org/officeDocument/2006/math">
              <m:oMath>
                <m:r>
                  <m:t>D = 16.7 ps/(nm·km)</m:t>
                </m:r>
              </m:oMath>
            </a14:m>
            <a:r>
              <a:rPr sz="12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300"/>
              </a:spcAft>
              <a:defRPr sz="1200">
                <a:solidFill>
                  <a:srgbClr val="222222"/>
                </a:solidFill>
              </a:defRPr>
            </a:pPr>
            <a:r>
              <a:rPr sz="12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300"/>
              </a:spcAft>
              <a:defRPr sz="1200">
                <a:solidFill>
                  <a:srgbClr val="222222"/>
                </a:solidFill>
              </a:defRPr>
            </a:pPr>
            <a:r>
              <a:rPr sz="12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300"/>
              </a:spcAft>
              <a:defRPr sz="1200">
                <a:solidFill>
                  <a:srgbClr val="222222"/>
                </a:solidFill>
              </a:defRPr>
            </a:pPr>
            <a:r>
              <a:rPr sz="1200" b="0">
                <a:solidFill>
                  <a:srgbClr val="222222"/>
                </a:solidFill>
                <a:latin typeface="Arial"/>
              </a:rPr>
              <a:t>•  Orchestrator: LangGraph StateGraph with memory persistence</a:t>
            </a:r>
          </a:p>
          <a:p>
            <a:pPr>
              <a:spcBef>
                <a:spcPts val="0"/>
              </a:spcBef>
              <a:spcAft>
                <a:spcPts val="300"/>
              </a:spcAft>
              <a:defRPr sz="1200">
                <a:solidFill>
                  <a:srgbClr val="222222"/>
                </a:solidFill>
              </a:defRPr>
            </a:pPr>
            <a:r>
              <a:rPr sz="1200" b="0">
                <a:solidFill>
                  <a:srgbClr val="222222"/>
                </a:solidFill>
                <a:latin typeface="Arial"/>
              </a:rPr>
              <a:t>•  Telemetry: RESTConf and Mock SDON testbed client adapters</a:t>
            </a:r>
          </a:p>
        </p:txBody>
      </p:sp>
      <p:pic>
        <p:nvPicPr>
          <p:cNvPr id="10" name="Picture 9"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
        <p:nvSpPr>
          <p:cNvPr id="11" name="TextBox 10"/>
          <p:cNvSpPr txBox="1"/>
          <p:nvPr/>
        </p:nvSpPr>
        <p:spPr>
          <a:xfrm>
            <a:off x="6263640" y="5053888"/>
            <a:ext cx="5029200" cy="215798"/>
          </a:xfrm>
          <a:prstGeom prst="rect">
            <a:avLst/>
          </a:prstGeom>
          <a:noFill/>
        </p:spPr>
        <p:txBody>
          <a:bodyPr wrap="none">
            <a:spAutoFit/>
          </a:bodyPr>
          <a:lstStyle/>
          <a:p>
            <a:pPr>
              <a:defRPr sz="900">
                <a:solidFill>
                  <a:srgbClr val="5A6B82"/>
                </a:solidFill>
                <a:latin typeface="Arial"/>
              </a:defRPr>
            </a:pPr>
            <a:r>
              <a:t>From: https://topolib.readthedocs.io/en/latest/topology_repository.html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44240" cy="502920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442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Architectural Baselines</a:t>
            </a:r>
          </a:p>
        </p:txBody>
      </p:sp>
      <p:sp>
        <p:nvSpPr>
          <p:cNvPr id="9" name="TextBox 8"/>
          <p:cNvSpPr txBox="1"/>
          <p:nvPr/>
        </p:nvSpPr>
        <p:spPr>
          <a:xfrm>
            <a:off x="82296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Baseline A (LLM-Only): Direct prompt-to-configuration generation with heuristic retry</a:t>
            </a:r>
          </a:p>
          <a:p>
            <a:pPr>
              <a:spcBef>
                <a:spcPts val="0"/>
              </a:spcBef>
              <a:spcAft>
                <a:spcPts val="600"/>
              </a:spcAft>
              <a:defRPr sz="1200">
                <a:solidFill>
                  <a:srgbClr val="222222"/>
                </a:solidFill>
              </a:defRPr>
            </a:pPr>
            <a:r>
              <a:rPr sz="1200" b="0">
                <a:solidFill>
                  <a:srgbClr val="222222"/>
                </a:solidFill>
                <a:latin typeface="Arial"/>
              </a:rPr>
              <a:t>•  Baseline B (Static Rule-Based): Strict regex parser with always-on human review</a:t>
            </a:r>
          </a:p>
          <a:p>
            <a:pPr>
              <a:spcBef>
                <a:spcPts val="0"/>
              </a:spcBef>
              <a:spcAft>
                <a:spcPts val="600"/>
              </a:spcAft>
              <a:defRPr sz="1200">
                <a:solidFill>
                  <a:srgbClr val="222222"/>
                </a:solidFill>
              </a:defRPr>
            </a:pPr>
            <a:r>
              <a:rPr sz="1200" b="0">
                <a:solidFill>
                  <a:srgbClr val="222222"/>
                </a:solidFill>
                <a:latin typeface="Arial"/>
              </a:rPr>
              <a:t>•  Proposed (Neurosymbolic RADG): Decoupled translation + sequential risk gates</a:t>
            </a:r>
          </a:p>
          <a:p>
            <a:pPr>
              <a:spcBef>
                <a:spcPts val="0"/>
              </a:spcBef>
              <a:spcAft>
                <a:spcPts val="600"/>
              </a:spcAft>
              <a:defRPr sz="1200">
                <a:solidFill>
                  <a:srgbClr val="222222"/>
                </a:solidFill>
              </a:defRPr>
            </a:pPr>
            <a:r>
              <a:rPr sz="1200" b="0">
                <a:solidFill>
                  <a:srgbClr val="222222"/>
                </a:solidFill>
                <a:latin typeface="Arial"/>
              </a:rPr>
              <a:t>•  Evaluates LLM reasoning limits vs deterministic safety</a:t>
            </a:r>
          </a:p>
        </p:txBody>
      </p:sp>
      <p:sp>
        <p:nvSpPr>
          <p:cNvPr id="10" name="Rounded Rectangle 9"/>
          <p:cNvSpPr/>
          <p:nvPr/>
        </p:nvSpPr>
        <p:spPr>
          <a:xfrm>
            <a:off x="4358640" y="1188720"/>
            <a:ext cx="3444240" cy="50292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8640" y="118872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100 Test Demands (4 Classes)</a:t>
            </a:r>
          </a:p>
        </p:txBody>
      </p:sp>
      <p:sp>
        <p:nvSpPr>
          <p:cNvPr id="12" name="TextBox 11"/>
          <p:cNvSpPr txBox="1"/>
          <p:nvPr/>
        </p:nvSpPr>
        <p:spPr>
          <a:xfrm>
            <a:off x="449580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Nominal Intents [40]: Unambiguous requests with feasible physics</a:t>
            </a:r>
          </a:p>
          <a:p>
            <a:pPr>
              <a:spcBef>
                <a:spcPts val="0"/>
              </a:spcBef>
              <a:spcAft>
                <a:spcPts val="600"/>
              </a:spcAft>
              <a:defRPr sz="1200">
                <a:solidFill>
                  <a:srgbClr val="222222"/>
                </a:solidFill>
              </a:defRPr>
            </a:pPr>
            <a:r>
              <a:rPr sz="1200" b="0">
                <a:solidFill>
                  <a:srgbClr val="222222"/>
                </a:solidFill>
                <a:latin typeface="Arial"/>
              </a:rPr>
              <a:t>•  Ambiguous Intents [20]: Under-specified constraints triggering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600"/>
              </a:spcAft>
              <a:defRPr sz="1200">
                <a:solidFill>
                  <a:srgbClr val="222222"/>
                </a:solidFill>
              </a:defRPr>
            </a:pPr>
            <a:r>
              <a:rPr sz="1200" b="0">
                <a:solidFill>
                  <a:srgbClr val="222222"/>
                </a:solidFill>
                <a:latin typeface="Arial"/>
              </a:rPr>
              <a:t>•  Infeasible Intents [25]: High modulation over long spans (</a:t>
            </a:r>
            <a14:m xmlns:a14="http://schemas.microsoft.com/office/drawing/2010/main" xmlns:m="http://schemas.openxmlformats.org/officeDocument/2006/math">
              <m:oMath>
                <m:sSub>
                  <m:e>
                    <m:r>
                      <m:t>QoT</m:t>
                    </m:r>
                  </m:e>
                  <m:sub>
                    <m:r>
                      <m:t>valid</m:t>
                    </m:r>
                  </m:sub>
                </m:sSub>
                <m:r>
                  <m:t> = 0</m:t>
                </m:r>
              </m:oMath>
            </a14:m>
            <a:r>
              <a:rPr sz="1200" b="0">
                <a:solidFill>
                  <a:srgbClr val="222222"/>
                </a:solidFill>
                <a:latin typeface="Arial"/>
              </a:rPr>
              <a:t>)</a:t>
            </a:r>
          </a:p>
          <a:p>
            <a:pPr>
              <a:spcBef>
                <a:spcPts val="0"/>
              </a:spcBef>
              <a:spcAft>
                <a:spcPts val="600"/>
              </a:spcAft>
              <a:defRPr sz="1200">
                <a:solidFill>
                  <a:srgbClr val="222222"/>
                </a:solidFill>
              </a:defRPr>
            </a:pPr>
            <a:r>
              <a:rPr sz="1200" b="0">
                <a:solidFill>
                  <a:srgbClr val="222222"/>
                </a:solidFill>
                <a:latin typeface="Arial"/>
              </a:rPr>
              <a:t>•  Adversarial Prompts [15]: Hallucinated nodes (</a:t>
            </a:r>
            <a14:m xmlns:a14="http://schemas.microsoft.com/office/drawing/2010/main" xmlns:m="http://schemas.openxmlformats.org/officeDocument/2006/math">
              <m:oMath>
                <m:sSub>
                  <m:e>
                    <m:r>
                      <m:t>v</m:t>
                    </m:r>
                  </m:e>
                  <m:sub>
                    <m:r>
                      <m:t>struct</m:t>
                    </m:r>
                  </m:sub>
                </m:sSub>
                <m:r>
                  <m:t> = 0</m:t>
                </m:r>
              </m:oMath>
            </a14:m>
            <a:r>
              <a:rPr sz="1200" b="0">
                <a:solidFill>
                  <a:srgbClr val="222222"/>
                </a:solidFill>
                <a:latin typeface="Arial"/>
              </a:rPr>
              <a:t>) &amp; syntax violations</a:t>
            </a:r>
          </a:p>
        </p:txBody>
      </p:sp>
      <p:sp>
        <p:nvSpPr>
          <p:cNvPr id="13" name="Rounded Rectangle 12"/>
          <p:cNvSpPr/>
          <p:nvPr/>
        </p:nvSpPr>
        <p:spPr>
          <a:xfrm>
            <a:off x="8031480" y="1188720"/>
            <a:ext cx="3444240" cy="502920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31480" y="118872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Evaluation Metrics</a:t>
            </a:r>
          </a:p>
        </p:txBody>
      </p:sp>
      <p:sp>
        <p:nvSpPr>
          <p:cNvPr id="15" name="TextBox 14"/>
          <p:cNvSpPr txBox="1"/>
          <p:nvPr/>
        </p:nvSpPr>
        <p:spPr>
          <a:xfrm>
            <a:off x="816864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Pre-Deployment Blocking Accuracy: </a:t>
            </a:r>
            <a14:m xmlns:a14="http://schemas.microsoft.com/office/drawing/2010/main" xmlns:m="http://schemas.openxmlformats.org/officeDocument/2006/math">
              <m:oMath>
                <m:r>
                  <m:t>UAR = 100%</m:t>
                </m:r>
              </m:oMath>
            </a14:m>
            <a:r>
              <a:rPr sz="1200" b="0">
                <a:solidFill>
                  <a:srgbClr val="222222"/>
                </a:solidFill>
                <a:latin typeface="Arial"/>
              </a:rPr>
              <a:t> guarantee</a:t>
            </a:r>
          </a:p>
          <a:p>
            <a:pPr>
              <a:spcBef>
                <a:spcPts val="0"/>
              </a:spcBef>
              <a:spcAft>
                <a:spcPts val="600"/>
              </a:spcAft>
              <a:defRPr sz="1200">
                <a:solidFill>
                  <a:srgbClr val="222222"/>
                </a:solidFill>
              </a:defRPr>
            </a:pPr>
            <a:r>
              <a:rPr sz="1200" b="0">
                <a:solidFill>
                  <a:srgbClr val="222222"/>
                </a:solidFill>
                <a:latin typeface="Arial"/>
              </a:rPr>
              <a:t>•  Human Intervention Rate (</a:t>
            </a:r>
            <a14:m xmlns:a14="http://schemas.microsoft.com/office/drawing/2010/main" xmlns:m="http://schemas.openxmlformats.org/officeDocument/2006/math">
              <m:oMath>
                <m:r>
                  <m:t>HIC</m:t>
                </m:r>
              </m:oMath>
            </a14:m>
            <a:r>
              <a:rPr sz="1200" b="0">
                <a:solidFill>
                  <a:srgbClr val="222222"/>
                </a:solidFill>
                <a:latin typeface="Arial"/>
              </a:rPr>
              <a:t>): % demands requiring operator clarification</a:t>
            </a:r>
          </a:p>
          <a:p>
            <a:pPr>
              <a:spcBef>
                <a:spcPts val="0"/>
              </a:spcBef>
              <a:spcAft>
                <a:spcPts val="600"/>
              </a:spcAft>
              <a:defRPr sz="1200">
                <a:solidFill>
                  <a:srgbClr val="222222"/>
                </a:solidFill>
              </a:defRPr>
            </a:pPr>
            <a:r>
              <a:rPr sz="1200" b="0">
                <a:solidFill>
                  <a:srgbClr val="222222"/>
                </a:solidFill>
                <a:latin typeface="Arial"/>
              </a:rPr>
              <a:t>•  End-to-End Latency (</a:t>
            </a:r>
            <a14:m xmlns:a14="http://schemas.microsoft.com/office/drawing/2010/main" xmlns:m="http://schemas.openxmlformats.org/officeDocument/2006/math">
              <m:oMath>
                <m:sSub>
                  <m:e>
                    <m:r>
                      <m:t>T</m:t>
                    </m:r>
                  </m:e>
                  <m:sub>
                    <m:r>
                      <m:t>E2E</m:t>
                    </m:r>
                  </m:sub>
                </m:sSub>
              </m:oMath>
            </a14:m>
            <a:r>
              <a:rPr sz="1200" b="0">
                <a:solidFill>
                  <a:srgbClr val="222222"/>
                </a:solidFill>
                <a:latin typeface="Arial"/>
              </a:rPr>
              <a:t>): NL intent to planning report turnaround</a:t>
            </a:r>
          </a:p>
          <a:p>
            <a:pPr>
              <a:spcBef>
                <a:spcPts val="0"/>
              </a:spcBef>
              <a:spcAft>
                <a:spcPts val="600"/>
              </a:spcAft>
              <a:defRPr sz="1200">
                <a:solidFill>
                  <a:srgbClr val="222222"/>
                </a:solidFill>
              </a:defRPr>
            </a:pPr>
            <a:r>
              <a:rPr sz="1200" b="0">
                <a:solidFill>
                  <a:srgbClr val="222222"/>
                </a:solidFill>
                <a:latin typeface="Arial"/>
              </a:rPr>
              <a:t>•  Token Consumption (</a:t>
            </a:r>
            <a14:m xmlns:a14="http://schemas.microsoft.com/office/drawing/2010/main" xmlns:m="http://schemas.openxmlformats.org/officeDocument/2006/math">
              <m:oMath>
                <m:sSub>
                  <m:e>
                    <m:r>
                      <m:t>T</m:t>
                    </m:r>
                  </m:e>
                  <m:sub>
                    <m:r>
                      <m:t>prompt</m:t>
                    </m:r>
                  </m:sub>
                </m:sSub>
              </m:oMath>
            </a14:m>
            <a:r>
              <a:rPr sz="1200" b="0">
                <a:solidFill>
                  <a:srgbClr val="222222"/>
                </a:solidFill>
                <a:latin typeface="Arial"/>
              </a:rPr>
              <a:t>): Overhead across scoped vs full topologies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