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0.svg" ContentType="image/svg+xml"/>
  <Override PartName="/ppt/media/image15.svg" ContentType="image/svg+xml"/>
  <Override PartName="/ppt/media/image18.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660" r:id="rId2"/>
  </p:sldMasterIdLst>
  <p:notesMasterIdLst>
    <p:notesMasterId r:id="rId28"/>
  </p:notesMasterIdLst>
  <p:sldIdLst>
    <p:sldId id="256" r:id="rId3"/>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Lst>
  <p:sldSz cx="12192000" cy="6858000"/>
  <p:notesSz cx="6858000" cy="9144000"/>
  <p:defaultText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22110A-4115-EF80-CDC0-C9DC37733169}" name="Nisanur Camuzcu" initials="" userId="S::10902638@polimi.it::4203e3cf-c7bc-4bb4-b079-d58d7a3f1ae5" providerId="AD"/>
  <p188:author id="{6F282F78-9642-E7C8-73D3-5792CD18C0DE}" name="Mëmëdhe Ibrahimi" initials="" userId="S::10563102@polimi.it::378daa95-eeca-4dfa-ac7e-b4832e2f7206" providerId="AD"/>
  <p188:author id="{66DF34EE-6A81-1782-FA05-8415B55127A9}" name="Qiaolun Zhang" initials="" userId="S::10653427@polimi.it::08ce0c54-1845-4dc2-a643-121fe94b02dc" providerId="AD"/>
  <p188:author id="{7FEFF0EF-9BFE-1E48-26D5-52603F9472F8}" name="Nisanur Camuzcu (RIT Student)" initials="" userId="S::nc1138@rit.edu::c819597a-af46-4717-8e3f-12e7ab89c5c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F2C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5132CB-B303-0345-BDFA-5C26E3CCADC1}" v="131" dt="2024-11-04T08:52:08.3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260"/>
    <p:restoredTop sz="80323"/>
  </p:normalViewPr>
  <p:slideViewPr>
    <p:cSldViewPr snapToGrid="0">
      <p:cViewPr varScale="1">
        <p:scale>
          <a:sx n="89" d="100"/>
          <a:sy n="89" d="100"/>
        </p:scale>
        <p:origin x="872" y="168"/>
      </p:cViewPr>
      <p:guideLst/>
    </p:cSldViewPr>
  </p:slideViewPr>
  <p:notesTextViewPr>
    <p:cViewPr>
      <p:scale>
        <a:sx n="130" d="100"/>
        <a:sy n="13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5/10/relationships/revisionInfo" Target="revisionInfo.xml"/><Relationship Id="rId34"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EF429E-CBA6-3343-A179-B8F59B0A268B}" type="datetimeFigureOut">
              <a:rPr lang="en-IT" smtClean="0"/>
              <a:t>8/22/26</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47C247-8423-E14C-86C4-1D9F3D231954}" type="slidenum">
              <a:rPr lang="en-IT" smtClean="0"/>
              <a:t>‹#›</a:t>
            </a:fld>
            <a:endParaRPr lang="en-IT"/>
          </a:p>
        </p:txBody>
      </p:sp>
    </p:spTree>
    <p:extLst>
      <p:ext uri="{BB962C8B-B14F-4D97-AF65-F5344CB8AC3E}">
        <p14:creationId xmlns:p14="http://schemas.microsoft.com/office/powerpoint/2010/main" val="3753923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[Estimated Time]: 30s</a:t>
            </a:r>
          </a:p>
          <a:p>
            <a:r>
              <a:t>[Key Message]: Welcome the committee and introduce the thesis title and research focus.</a:t>
            </a:r>
          </a:p>
          <a:p>
            <a:r>
              <a:t>[Spoken Script]: Good morning members of the committee and Professor Tornatore. Today I present my Master's thesis entitled "LLM-Assisted Risk-Adaptive Neurosymbolic Intent Planning for Optical Networks: A Pre-Deployment Decision Mechanism with Joint Semantic and QoT Assessment". In this work, we address the challenge of bridging high-level operator intent with physical optical layer realities using a robust, fail-fast neurosymbolic architecture.</a:t>
            </a:r>
          </a:p>
          <a:p>
            <a:r>
              <a:t>[Bridge to Next Slide]: Let us begin with the specific roadmap of problems and solutions covered in this presentation.</a:t>
            </a:r>
          </a:p>
        </p:txBody>
      </p:sp>
      <p:sp>
        <p:nvSpPr>
          <p:cNvPr id="4" name="Slide Number Placeholder 3"/>
          <p:cNvSpPr>
            <a:spLocks noGrp="1"/>
          </p:cNvSpPr>
          <p:nvPr>
            <p:ph type="sldNum" sz="quarter" idx="5"/>
          </p:nvPr>
        </p:nvSpPr>
        <p:spPr/>
        <p:txBody>
          <a:bodyPr/>
          <a:lstStyle/>
          <a:p>
            <a:fld id="{ED47C247-8423-E14C-86C4-1D9F3D231954}" type="slidenum">
              <a:rPr lang="en-IT" smtClean="0"/>
              <a:t>1</a:t>
            </a:fld>
            <a:endParaRPr lang="en-IT"/>
          </a:p>
        </p:txBody>
      </p:sp>
    </p:spTree>
    <p:extLst>
      <p:ext uri="{BB962C8B-B14F-4D97-AF65-F5344CB8AC3E}">
        <p14:creationId xmlns:p14="http://schemas.microsoft.com/office/powerpoint/2010/main" val="2518709942"/>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Establish a thesis-specific narrative instead of a generic agenda.</a:t>
            </a:r>
          </a:p>
          <a:p>
            <a:r>
              <a:t>[Spoken Script]: Rather than a generic agenda, our presentation directly tracks the engineering challenges of autonomous optical networking. We begin by examining why general-purpose LLMs fail when controlling optical backbones. Next, we present our neurosymbolic architecture that cleanly separates natural language reasoning from optical physics. We then delve into the pre-deployment risk gates that protect the physical network before showing experimental validation on a 17-node optical topology and concluding with our primary takeaways.</a:t>
            </a:r>
          </a:p>
          <a:p>
            <a:r>
              <a:t>[Bridge to Next Slide]: Let us examine the motivation behind Intent-Based Networking in optical infrastructures.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Autonomous IBN promises agile multi-terabit provisioning, but the physical optical layer strictly demands deterministic zero-error execution.</a:t>
            </a:r>
          </a:p>
          <a:p>
            <a:r>
              <a:t>[Spoken Script]: Optical transport networks form the fundamental backbone of modern telecommunications, carrying tens of terabits per second across meshed ROADM topologies. In traditional carrier operations, establishing a single lightpath is a heavily bottlenecked manual process: engineers must spend hours or days drafting vendor-specific CLI scripts and intricate RESTConf payloads, incurring severe human error risks. Intent-Based Networking promises to revolutionize this paradigm by allowing operators to express declarative high-level intents in natural language—for example, asking to provision a 400G lightpath between Milan and Rome avoiding a specific maintenance link. However, while generative AI can interpret human language, optical transport networks operate under rigid physical constraints where even minor probabilistic errors lead to catastrophic link failures.</a:t>
            </a:r>
          </a:p>
          <a:p>
            <a:r>
              <a:t>[Bridge to Next Slide]: To see why general-purpose AI cannot simply be connected to an optical control plane, let us examine the five architectural failure modes that occur.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65s</a:t>
            </a:r>
          </a:p>
          <a:p>
            <a:r>
              <a:t>[Key Message]: Connecting standard generative LLMs directly to optical control planes exposes five fundamental architectural failure modes.</a:t>
            </a:r>
          </a:p>
          <a:p>
            <a:r>
              <a:t>[Spoken Script]: When we evaluate standard generative LLMs for optical network control, we observe five interconnected failure modes that compromise operational integrity: First, Token Budget Saturation: injecting complete network states exhausts token budgets and triggers attention degradation, causing link exclusions to be dropped. Second, Hallucinated Physical Feasibility: autoregressive token predictors cannot solve wave propagation equations, computing invalid lightpaths that cause transponder loss of lock. Third, Semantic Drift: multi-turn chat loops mutate initial constraints without convergence guarantees. Fourth, Reactive Failure Latency: detecting faults after hardware rejection risks live link disruptions. Fifth, Suboptimal HITL: binary all-or-nothing review causes operator fatigue.</a:t>
            </a:r>
          </a:p>
          <a:p>
            <a:r>
              <a:t>[Bridge to Next Slide]: To overcome these five failure modes, we must formally structure the optical intent problem with hard physical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Formally formulate the problem across four structured dimensions: Given inputs, Decision variables, Objective function, and Constraints (Resource vs Boundary).</a:t>
            </a:r>
          </a:p>
          <a:p>
            <a:r>
              <a:t>[Spoken Script]: Following classical telecommunications optimization methodology, we formulate our intent planning problem across four precise dimensions: Given, Decide, Objective, and Constraints. In the upper row, first, Given: the orchestrator ingests the natural language intent, queries the network graph via RESTConf, and loads physical parameters. Second, Decide: the system determines the PDDL specification, selects the optimal lightpath route pi*, resolves the risk decision action in {approve, clarify, replan}, and generates the final configuration c*. Third, Objective: we formulate a multi-objective cost function minimizing human interruptions and prompt tokens under the hard invariant that no lightpath is deployed without approval. In the lower half, Constraints decouple into Resource Constraints on the left and Boundary Constraints on the right.</a:t>
            </a:r>
          </a:p>
          <a:p>
            <a:r>
              <a:t>[Bridge to Next Slide]: To solve this constrained optimization problem, we introduce our neurosymbolic architectural philosophy.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State the thesis contributions explicitly: decoupling probabilistic reasoning from deterministic calculations.</a:t>
            </a:r>
          </a:p>
          <a:p>
            <a:r>
              <a:t>[Spoken Script]: Our core architectural principle is: 'LLMs reason, deterministic tools calculate'. We forbid the LLM from performing math or path exploration. Instead, the LLM acts solely as a semantic translator, converting natural language into formal Planning Domain Definition Language, or PDDL. This enables our four key contributions: a neurosymbolic pipeline, a scoped Optical GraphRAG mechanism, sequential pre-deployment risk gates, and an auditable LangGraph state machine.</a:t>
            </a:r>
          </a:p>
          <a:p>
            <a:r>
              <a:t>[Bridge to Next Slide]: Let us trace the execution of this pipeline from end to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Walk through the clean 7-phase pipeline, highlighting the sequential fail-fast flow.</a:t>
            </a:r>
          </a:p>
          <a:p>
            <a:r>
              <a:t>[Spoken Script]: Here we see the complete 7-phase execution pipeline. The operator's intent enters Phase 1 where it is enriched with optical standards. In Phase 2, the LLM generates PDDL constraints. Crucially, before running heavy graph solvers or physics tools, Phase 3 evaluates semantic uncertainty. If semantically sound, Phase 4 extracts candidate routes via symbolic graph algorithms. Phase 5 evaluates physical feasibility using a deterministic GN-model. Finally, the Risk-Adaptive Decision Gate verifies physical safety before synthesizing the final auditable report.</a:t>
            </a:r>
          </a:p>
          <a:p>
            <a:r>
              <a:t>[Bridge to Next Slide]: Let us inspect how Phase 4 solves the token saturation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Scoped GraphRAG extracts only relevant k-hop subtopologies, eliminating attention degradation.</a:t>
            </a:r>
          </a:p>
          <a:p>
            <a:r>
              <a:t>[Spoken Script]: To solve token budget saturation, we implement Scoped Optical GraphRAG. Instead of flooding the LLM context with the entire 17-node topology, our deterministic graph engine extracts only the k-hop neighborhood bounding the source and destination. For instance, [Click / Advance] if an operator requests a lightpath between Frankfurt and Munich, there is no need to load northern nodes like Hamburg, Bremen, or Berlin into the LLM context. We prune distant nodes and links, reducing the prompt token footprint by over 75 percent, eliminating the lost-in-the-middle phenomenon while keeping the graph search computationally instantaneous.</a:t>
            </a:r>
          </a:p>
          <a:p>
            <a:r>
              <a:t>[Bridge to Next Slide]: Now let us examine how we eliminate semantic drift before any physics calculations occur.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semantic gate prevents unverified assumptions from entering downstream tools.</a:t>
            </a:r>
          </a:p>
          <a:p>
            <a:r>
              <a:t>[Spoken Script]: To eliminate semantic drift, we introduce a dual-layer Semantic Uncertainty Gate, U_sem. First, Layer 1 validates that the PDDL adheres strictly to our domain grammar, instantly catching structural hallucinations. Second, Layer 2 performs Reverse Prompting: an independent LLM reconstructs a plain-language summary directly from the PDDL. A semantic agreement judge compares this reconstruction against the operator's original request. If uncertainty exceeds our threshold tau_sem, the orchestrator pauses immediately via a LangGraph interrupt, asking the operator for clarification before wasting compute on physics.</a:t>
            </a:r>
          </a:p>
          <a:p>
            <a:r>
              <a:t>[Bridge to Next Slide]: Once semantic validity is established, how do we make the final pre-deployment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RADG function mathematically maps semantic and physical signals to optimal actions.</a:t>
            </a:r>
          </a:p>
          <a:p>
            <a:r>
              <a:t>[Spoken Script]: The cornerstone of our pre-deployment safety is the Risk-Adaptive Decision Gate, or RADG. We formalize this as a piecewise decision function, D. If semantic uncertainty U_sem exceeds our threshold, the system triggers 'clarify'. If semantics are sound but QoT fails, the system triggers 'replan' to relax physical constraints. Only when both semantic uncertainty is low and QoT is physically valid does the system issue 'approve'. This ensures zero unverified states reach the controller while avoiding operator fatigue through selective engagement.</a:t>
            </a:r>
          </a:p>
          <a:p>
            <a:r>
              <a:t>[Bridge to Next Slide]: Let us examine the physical calculation engine powering QoT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Pure Python GN-model computes real GSNR and receiver power deterministically in milliseconds.</a:t>
            </a:r>
          </a:p>
          <a:p>
            <a:r>
              <a:t>[Spoken Script]: In Phase 5, candidate paths produced by the symbolic solver are validated against the physical layer. We port the analytical Gaussian Noise model into pure Python. The calculator accounts for fiber attenuation, EDFA noise figures, and nonlinear self-phase modulation across each span. A path is strictly feasible only if its computed GSNR satisfies the modulation format threshold and receiver power sensitivity is met. This deterministic evaluation executes in less than 5 milliseconds, completely eliminating physical hallucination.</a:t>
            </a:r>
          </a:p>
          <a:p>
            <a:r>
              <a:t>[Bridge to Next Slide]: Let us see how this entire system is deployed and tested.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Realistic evaluation using the standard 17-node German optical topology and RESTConf testbed.</a:t>
            </a:r>
          </a:p>
          <a:p>
            <a:r>
              <a:t>[Spoken Script]: We validate our architecture on the 17-node German backbone network, a standard benchmark in optical research consisting of 26 bidirectional fiber spans. All spans model standard SMF-28 fiber with realistic attenuation, dispersion, and EDFA noise figures. The orchestrator is implemented in Python using LangGraph, interfacing with the optical testbed via RESTConf APIs, and benchmarked using state-of-the-art LLMs as semantic translators.</a:t>
            </a:r>
          </a:p>
          <a:p>
            <a:r>
              <a:t>[Bridge to Next Slide]: What scenarios and metrics do we use to evaluate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Rigorous benchmarking across 100 diverse intent scenarios against LLM-only and rule-based baselines.</a:t>
            </a:r>
          </a:p>
          <a:p>
            <a:r>
              <a:t>[Spoken Script]: Our evaluation framework tests 100 diverse intent requests across four operational categories: nominal intents, ambiguous intents with missing constraints, physically unfeasible demands, and adversarial prompts designed to induce hallucinations. We compare our neurosymbolic architecture against two baselines: an unconstrained LLM-only pipeline, and a rigid rule-based system. We measure three core dimensions: safety against unfeasible deployments, reduction in operator fatigue, and end-to-end execution latency.</a:t>
            </a:r>
          </a:p>
          <a:p>
            <a:r>
              <a:t>[Bridge to Next Slide]: Let us analyze the key findings and trade-offs.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100% pre-deployment safety, 70% reduction in operator fatigue, and sub-second deterministic compute.</a:t>
            </a:r>
          </a:p>
          <a:p>
            <a:r>
              <a:t>[Spoken Script]: The experimental results validate our core hypothesis. Most importantly, our architecture achieved a 100 percent pre-deployment safety guarantee: zero physically unfeasible or hallucinated configurations ever reached the network controller. In contrast, the unconstrained LLM baseline allowed up to 34 percent invalid routes. Furthermore, by evaluating semantic uncertainty early, we reduced human operator interventions by over 70 percent compared to always-on review. Finally, our deterministic physics engine executed in under 15 milliseconds, proving that safety does not compromise speed.</a:t>
            </a:r>
          </a:p>
          <a:p>
            <a:r>
              <a:t>[Bridge to Next Slide]: Let us summarize the primary conclusions of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Summarize the four core engineering takeaways of the thesis.</a:t>
            </a:r>
          </a:p>
          <a:p>
            <a:r>
              <a:t>[Spoken Script]: In conclusion, this thesis demonstrates that neurosymbolic decoupling is essential for deploying AI in optical networks. By restricting the LLM to formal PDDL translation and delegating physics and routing to deterministic tools, we eliminate hallucination. Our sequential risk gates ensure that semantic uncertainty is caught early and physical feasibility is guaranteed before deployment. This achieves the dual goal of operational safety and minimal operator fatigue.</a:t>
            </a:r>
          </a:p>
          <a:p>
            <a:r>
              <a:t>[Bridge to Next Slide]: Finally, let us review future research avenues and conclude.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45s</a:t>
            </a:r>
          </a:p>
          <a:p>
            <a:r>
              <a:t>[Key Message]: Thank the committee, outline future research directions (joint compute scheduling), and open Q&amp;A.</a:t>
            </a:r>
          </a:p>
          <a:p>
            <a:r>
              <a:t>[Spoken Script]: Looking forward, our immediate next step is extending this PDDL framework to joint routing and compute scheduling, coordinating optical lightpaths with distributed data center GPU workloads. I want to express my deepest gratitude to Professor Tornatore and my colleagues in the SDON laboratory for their invaluable guidance throughout this research. Thank you very much for your time and attention. I am now open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E1A2D-A28B-8DCE-F8CD-3A366147220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IT"/>
          </a:p>
        </p:txBody>
      </p:sp>
      <p:sp>
        <p:nvSpPr>
          <p:cNvPr id="3" name="Subtitle 2">
            <a:extLst>
              <a:ext uri="{FF2B5EF4-FFF2-40B4-BE49-F238E27FC236}">
                <a16:creationId xmlns:a16="http://schemas.microsoft.com/office/drawing/2014/main" id="{481941FA-6233-C929-4A35-3015D7BF82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IT"/>
          </a:p>
        </p:txBody>
      </p:sp>
      <p:sp>
        <p:nvSpPr>
          <p:cNvPr id="4" name="Date Placeholder 3">
            <a:extLst>
              <a:ext uri="{FF2B5EF4-FFF2-40B4-BE49-F238E27FC236}">
                <a16:creationId xmlns:a16="http://schemas.microsoft.com/office/drawing/2014/main" id="{E37D4518-85E3-B4E3-4E04-D41647C72430}"/>
              </a:ext>
            </a:extLst>
          </p:cNvPr>
          <p:cNvSpPr>
            <a:spLocks noGrp="1"/>
          </p:cNvSpPr>
          <p:nvPr>
            <p:ph type="dt" sz="half" idx="10"/>
          </p:nvPr>
        </p:nvSpPr>
        <p:spPr>
          <a:xfrm>
            <a:off x="838200" y="6356350"/>
            <a:ext cx="2743200" cy="365125"/>
          </a:xfrm>
          <a:prstGeom prst="rect">
            <a:avLst/>
          </a:prstGeom>
        </p:spPr>
        <p:txBody>
          <a:bodyPr/>
          <a:lstStyle/>
          <a:p>
            <a:fld id="{62252261-78BC-174D-9E4D-3C7C23CF6EA8}" type="datetime1">
              <a:rPr lang="it-IT" smtClean="0"/>
              <a:t>22/08/26</a:t>
            </a:fld>
            <a:endParaRPr lang="en-IT"/>
          </a:p>
        </p:txBody>
      </p:sp>
      <p:sp>
        <p:nvSpPr>
          <p:cNvPr id="5" name="Footer Placeholder 4">
            <a:extLst>
              <a:ext uri="{FF2B5EF4-FFF2-40B4-BE49-F238E27FC236}">
                <a16:creationId xmlns:a16="http://schemas.microsoft.com/office/drawing/2014/main" id="{71D10096-CCFB-C510-280F-7BCF6714F999}"/>
              </a:ext>
            </a:extLst>
          </p:cNvPr>
          <p:cNvSpPr>
            <a:spLocks noGrp="1"/>
          </p:cNvSpPr>
          <p:nvPr>
            <p:ph type="ftr" sz="quarter" idx="11"/>
          </p:nvPr>
        </p:nvSpPr>
        <p:spPr>
          <a:xfrm>
            <a:off x="3450770" y="6356350"/>
            <a:ext cx="5315857"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C71417EC-0760-A06D-A31C-77EECA89C2C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4175781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645A3-DB53-7232-DCE6-48C997AC266D}"/>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54E711CE-2751-D8C8-01C1-3F4D3650A92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FC3DEAE9-8797-C5E2-7A43-1B78189A9F07}"/>
              </a:ext>
            </a:extLst>
          </p:cNvPr>
          <p:cNvSpPr>
            <a:spLocks noGrp="1"/>
          </p:cNvSpPr>
          <p:nvPr>
            <p:ph type="dt" sz="half" idx="10"/>
          </p:nvPr>
        </p:nvSpPr>
        <p:spPr>
          <a:xfrm>
            <a:off x="8610600" y="6356349"/>
            <a:ext cx="2743200" cy="365125"/>
          </a:xfrm>
          <a:prstGeom prst="rect">
            <a:avLst/>
          </a:prstGeom>
        </p:spPr>
        <p:txBody>
          <a:bodyPr/>
          <a:lstStyle/>
          <a:p>
            <a:fld id="{006CDE73-ABFC-9542-A114-3996260FB034}" type="datetime1">
              <a:rPr lang="it-IT" smtClean="0"/>
              <a:t>22/08/26</a:t>
            </a:fld>
            <a:endParaRPr lang="en-IT" dirty="0"/>
          </a:p>
        </p:txBody>
      </p:sp>
      <p:sp>
        <p:nvSpPr>
          <p:cNvPr id="5" name="Footer Placeholder 4">
            <a:extLst>
              <a:ext uri="{FF2B5EF4-FFF2-40B4-BE49-F238E27FC236}">
                <a16:creationId xmlns:a16="http://schemas.microsoft.com/office/drawing/2014/main" id="{FF98E46E-DD16-DABF-9446-63C548C05A22}"/>
              </a:ext>
            </a:extLst>
          </p:cNvPr>
          <p:cNvSpPr>
            <a:spLocks noGrp="1"/>
          </p:cNvSpPr>
          <p:nvPr>
            <p:ph type="ftr" sz="quarter" idx="11"/>
          </p:nvPr>
        </p:nvSpPr>
        <p:spPr>
          <a:xfrm>
            <a:off x="2981959" y="6356350"/>
            <a:ext cx="5479869"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DB0D4DF4-B7F8-945A-A82C-2BDD96B8DB7F}"/>
              </a:ext>
            </a:extLst>
          </p:cNvPr>
          <p:cNvSpPr>
            <a:spLocks noGrp="1"/>
          </p:cNvSpPr>
          <p:nvPr>
            <p:ph type="sldNum" sz="quarter" idx="12"/>
          </p:nvPr>
        </p:nvSpPr>
        <p:spPr>
          <a:xfrm>
            <a:off x="238760" y="6492875"/>
            <a:ext cx="2743200" cy="365125"/>
          </a:xfrm>
          <a:prstGeom prst="rect">
            <a:avLst/>
          </a:prstGeom>
        </p:spPr>
        <p:txBody>
          <a:bodyPr/>
          <a:lstStyle>
            <a:lvl1pPr algn="l">
              <a:defRPr/>
            </a:lvl1pPr>
          </a:lstStyle>
          <a:p>
            <a:fld id="{A5A6EFC7-8735-7E44-BFA7-969B9F5B451D}" type="slidenum">
              <a:rPr lang="en-IT" smtClean="0"/>
              <a:pPr/>
              <a:t>‹#›</a:t>
            </a:fld>
            <a:endParaRPr lang="en-IT" dirty="0"/>
          </a:p>
        </p:txBody>
      </p:sp>
    </p:spTree>
    <p:extLst>
      <p:ext uri="{BB962C8B-B14F-4D97-AF65-F5344CB8AC3E}">
        <p14:creationId xmlns:p14="http://schemas.microsoft.com/office/powerpoint/2010/main" val="727437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15FE4-7615-7053-C87D-7B3EAD191EA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IT"/>
          </a:p>
        </p:txBody>
      </p:sp>
      <p:sp>
        <p:nvSpPr>
          <p:cNvPr id="3" name="Text Placeholder 2">
            <a:extLst>
              <a:ext uri="{FF2B5EF4-FFF2-40B4-BE49-F238E27FC236}">
                <a16:creationId xmlns:a16="http://schemas.microsoft.com/office/drawing/2014/main" id="{583361DA-7CFD-4E8A-B29D-1E5EBA865B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11AA7B8-6A0A-484B-DB20-3672E9E6FE2F}"/>
              </a:ext>
            </a:extLst>
          </p:cNvPr>
          <p:cNvSpPr>
            <a:spLocks noGrp="1"/>
          </p:cNvSpPr>
          <p:nvPr>
            <p:ph type="dt" sz="half" idx="10"/>
          </p:nvPr>
        </p:nvSpPr>
        <p:spPr>
          <a:xfrm>
            <a:off x="838200" y="6356350"/>
            <a:ext cx="2743200" cy="365125"/>
          </a:xfrm>
          <a:prstGeom prst="rect">
            <a:avLst/>
          </a:prstGeom>
        </p:spPr>
        <p:txBody>
          <a:bodyPr/>
          <a:lstStyle/>
          <a:p>
            <a:fld id="{8A5D7195-E216-0243-9A25-979556D8AFAD}" type="datetime1">
              <a:rPr lang="it-IT" smtClean="0"/>
              <a:t>22/08/26</a:t>
            </a:fld>
            <a:endParaRPr lang="en-IT"/>
          </a:p>
        </p:txBody>
      </p:sp>
      <p:sp>
        <p:nvSpPr>
          <p:cNvPr id="5" name="Footer Placeholder 4">
            <a:extLst>
              <a:ext uri="{FF2B5EF4-FFF2-40B4-BE49-F238E27FC236}">
                <a16:creationId xmlns:a16="http://schemas.microsoft.com/office/drawing/2014/main" id="{98B35D1B-417F-0FAB-832D-8ED8027D0772}"/>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11723421-4487-F481-EC62-866FB11B26FF}"/>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2099170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BD058-E209-763C-1074-27BC88329552}"/>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763427EA-AE02-BF1A-395C-9CA850AF077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Content Placeholder 3">
            <a:extLst>
              <a:ext uri="{FF2B5EF4-FFF2-40B4-BE49-F238E27FC236}">
                <a16:creationId xmlns:a16="http://schemas.microsoft.com/office/drawing/2014/main" id="{3452AE9C-0C65-E9F1-A117-0627F273030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Date Placeholder 4">
            <a:extLst>
              <a:ext uri="{FF2B5EF4-FFF2-40B4-BE49-F238E27FC236}">
                <a16:creationId xmlns:a16="http://schemas.microsoft.com/office/drawing/2014/main" id="{29935120-6ADD-54F3-FF72-92572B12F19F}"/>
              </a:ext>
            </a:extLst>
          </p:cNvPr>
          <p:cNvSpPr>
            <a:spLocks noGrp="1"/>
          </p:cNvSpPr>
          <p:nvPr>
            <p:ph type="dt" sz="half" idx="10"/>
          </p:nvPr>
        </p:nvSpPr>
        <p:spPr>
          <a:xfrm>
            <a:off x="838200" y="6356350"/>
            <a:ext cx="2743200" cy="365125"/>
          </a:xfrm>
          <a:prstGeom prst="rect">
            <a:avLst/>
          </a:prstGeom>
        </p:spPr>
        <p:txBody>
          <a:bodyPr/>
          <a:lstStyle/>
          <a:p>
            <a:fld id="{A9D17A0B-D512-024B-9B08-1CA57F07905B}" type="datetime1">
              <a:rPr lang="it-IT" smtClean="0"/>
              <a:t>22/08/26</a:t>
            </a:fld>
            <a:endParaRPr lang="en-IT"/>
          </a:p>
        </p:txBody>
      </p:sp>
      <p:sp>
        <p:nvSpPr>
          <p:cNvPr id="7" name="Slide Number Placeholder 6">
            <a:extLst>
              <a:ext uri="{FF2B5EF4-FFF2-40B4-BE49-F238E27FC236}">
                <a16:creationId xmlns:a16="http://schemas.microsoft.com/office/drawing/2014/main" id="{0908AA54-77B7-55EC-45A2-DBCF2B33F4BE}"/>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3F278F72-1D01-4D3D-7611-B0D8025B72A7}"/>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5426130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6A41D-AE58-4283-9FE5-38E862BE035D}"/>
              </a:ext>
            </a:extLst>
          </p:cNvPr>
          <p:cNvSpPr>
            <a:spLocks noGrp="1"/>
          </p:cNvSpPr>
          <p:nvPr>
            <p:ph type="title"/>
          </p:nvPr>
        </p:nvSpPr>
        <p:spPr>
          <a:xfrm>
            <a:off x="839788" y="365125"/>
            <a:ext cx="10515600" cy="1325563"/>
          </a:xfrm>
        </p:spPr>
        <p:txBody>
          <a:bodyPr/>
          <a:lstStyle/>
          <a:p>
            <a:r>
              <a:rPr lang="en-GB"/>
              <a:t>Click to edit Master title style</a:t>
            </a:r>
            <a:endParaRPr lang="en-IT"/>
          </a:p>
        </p:txBody>
      </p:sp>
      <p:sp>
        <p:nvSpPr>
          <p:cNvPr id="3" name="Text Placeholder 2">
            <a:extLst>
              <a:ext uri="{FF2B5EF4-FFF2-40B4-BE49-F238E27FC236}">
                <a16:creationId xmlns:a16="http://schemas.microsoft.com/office/drawing/2014/main" id="{26C646FC-65AE-9540-AAE3-B6B6CD9582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8CBA447-66F8-A34A-B4CE-410DAC50DC8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Text Placeholder 4">
            <a:extLst>
              <a:ext uri="{FF2B5EF4-FFF2-40B4-BE49-F238E27FC236}">
                <a16:creationId xmlns:a16="http://schemas.microsoft.com/office/drawing/2014/main" id="{B5285D13-3F53-7827-EAED-8E06DE38F7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1FFD454-1F8A-95A0-CF52-0CFD2DAED3E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7" name="Date Placeholder 6">
            <a:extLst>
              <a:ext uri="{FF2B5EF4-FFF2-40B4-BE49-F238E27FC236}">
                <a16:creationId xmlns:a16="http://schemas.microsoft.com/office/drawing/2014/main" id="{0A9E2329-C618-562E-2A20-59EDBC75D5FD}"/>
              </a:ext>
            </a:extLst>
          </p:cNvPr>
          <p:cNvSpPr>
            <a:spLocks noGrp="1"/>
          </p:cNvSpPr>
          <p:nvPr>
            <p:ph type="dt" sz="half" idx="10"/>
          </p:nvPr>
        </p:nvSpPr>
        <p:spPr>
          <a:xfrm>
            <a:off x="838200" y="6356350"/>
            <a:ext cx="2743200" cy="365125"/>
          </a:xfrm>
          <a:prstGeom prst="rect">
            <a:avLst/>
          </a:prstGeom>
        </p:spPr>
        <p:txBody>
          <a:bodyPr/>
          <a:lstStyle/>
          <a:p>
            <a:fld id="{95EDCAF1-B061-6943-9C47-57949C20D532}" type="datetime1">
              <a:rPr lang="it-IT" smtClean="0"/>
              <a:t>22/08/26</a:t>
            </a:fld>
            <a:endParaRPr lang="en-IT"/>
          </a:p>
        </p:txBody>
      </p:sp>
      <p:sp>
        <p:nvSpPr>
          <p:cNvPr id="9" name="Slide Number Placeholder 8">
            <a:extLst>
              <a:ext uri="{FF2B5EF4-FFF2-40B4-BE49-F238E27FC236}">
                <a16:creationId xmlns:a16="http://schemas.microsoft.com/office/drawing/2014/main" id="{F757708F-3711-3F7E-9E02-BEDC205AAFB8}"/>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10" name="Footer Placeholder 4">
            <a:extLst>
              <a:ext uri="{FF2B5EF4-FFF2-40B4-BE49-F238E27FC236}">
                <a16:creationId xmlns:a16="http://schemas.microsoft.com/office/drawing/2014/main" id="{83E3912A-2D33-7851-1F0D-11E8BEC55286}"/>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9036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AD59E-DED0-94B6-7942-B6F374AA8488}"/>
              </a:ext>
            </a:extLst>
          </p:cNvPr>
          <p:cNvSpPr>
            <a:spLocks noGrp="1"/>
          </p:cNvSpPr>
          <p:nvPr>
            <p:ph type="title"/>
          </p:nvPr>
        </p:nvSpPr>
        <p:spPr/>
        <p:txBody>
          <a:bodyPr/>
          <a:lstStyle/>
          <a:p>
            <a:r>
              <a:rPr lang="en-GB"/>
              <a:t>Click to edit Master title style</a:t>
            </a:r>
            <a:endParaRPr lang="en-IT"/>
          </a:p>
        </p:txBody>
      </p:sp>
      <p:sp>
        <p:nvSpPr>
          <p:cNvPr id="3" name="Date Placeholder 2">
            <a:extLst>
              <a:ext uri="{FF2B5EF4-FFF2-40B4-BE49-F238E27FC236}">
                <a16:creationId xmlns:a16="http://schemas.microsoft.com/office/drawing/2014/main" id="{E52467CD-2DC2-6366-45D6-2CCDB518BA88}"/>
              </a:ext>
            </a:extLst>
          </p:cNvPr>
          <p:cNvSpPr>
            <a:spLocks noGrp="1"/>
          </p:cNvSpPr>
          <p:nvPr>
            <p:ph type="dt" sz="half" idx="10"/>
          </p:nvPr>
        </p:nvSpPr>
        <p:spPr>
          <a:xfrm>
            <a:off x="838200" y="6356350"/>
            <a:ext cx="2743200" cy="365125"/>
          </a:xfrm>
          <a:prstGeom prst="rect">
            <a:avLst/>
          </a:prstGeom>
        </p:spPr>
        <p:txBody>
          <a:bodyPr/>
          <a:lstStyle/>
          <a:p>
            <a:fld id="{EEE5C188-2720-9C44-9A77-56CA9B44ACEC}" type="datetime1">
              <a:rPr lang="it-IT" smtClean="0"/>
              <a:t>22/08/26</a:t>
            </a:fld>
            <a:endParaRPr lang="en-IT"/>
          </a:p>
        </p:txBody>
      </p:sp>
      <p:sp>
        <p:nvSpPr>
          <p:cNvPr id="5" name="Slide Number Placeholder 4">
            <a:extLst>
              <a:ext uri="{FF2B5EF4-FFF2-40B4-BE49-F238E27FC236}">
                <a16:creationId xmlns:a16="http://schemas.microsoft.com/office/drawing/2014/main" id="{DA139705-E059-F9C6-09CD-4B4883ADE63C}"/>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6" name="Footer Placeholder 4">
            <a:extLst>
              <a:ext uri="{FF2B5EF4-FFF2-40B4-BE49-F238E27FC236}">
                <a16:creationId xmlns:a16="http://schemas.microsoft.com/office/drawing/2014/main" id="{3F46C72A-1265-C865-3881-B139F1F4A07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88883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37F2F6-9A71-F78A-E34E-A7407A26FBBE}"/>
              </a:ext>
            </a:extLst>
          </p:cNvPr>
          <p:cNvSpPr>
            <a:spLocks noGrp="1"/>
          </p:cNvSpPr>
          <p:nvPr>
            <p:ph type="dt" sz="half" idx="10"/>
          </p:nvPr>
        </p:nvSpPr>
        <p:spPr>
          <a:xfrm>
            <a:off x="838200" y="6356350"/>
            <a:ext cx="2743200" cy="365125"/>
          </a:xfrm>
          <a:prstGeom prst="rect">
            <a:avLst/>
          </a:prstGeom>
        </p:spPr>
        <p:txBody>
          <a:bodyPr/>
          <a:lstStyle/>
          <a:p>
            <a:fld id="{776EEC19-AC26-7944-89E8-2338C684BFDA}" type="datetime1">
              <a:rPr lang="it-IT" smtClean="0"/>
              <a:t>22/08/26</a:t>
            </a:fld>
            <a:endParaRPr lang="en-IT"/>
          </a:p>
        </p:txBody>
      </p:sp>
      <p:sp>
        <p:nvSpPr>
          <p:cNvPr id="4" name="Slide Number Placeholder 3">
            <a:extLst>
              <a:ext uri="{FF2B5EF4-FFF2-40B4-BE49-F238E27FC236}">
                <a16:creationId xmlns:a16="http://schemas.microsoft.com/office/drawing/2014/main" id="{D37EE5DE-19B5-9906-BCEB-3C29D0EFD4A5}"/>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5" name="Footer Placeholder 4">
            <a:extLst>
              <a:ext uri="{FF2B5EF4-FFF2-40B4-BE49-F238E27FC236}">
                <a16:creationId xmlns:a16="http://schemas.microsoft.com/office/drawing/2014/main" id="{1A9EC518-9367-34F2-5D3B-E1F451C770B3}"/>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6428305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739B0-3D54-1487-E4CA-3697B8C81C7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Content Placeholder 2">
            <a:extLst>
              <a:ext uri="{FF2B5EF4-FFF2-40B4-BE49-F238E27FC236}">
                <a16:creationId xmlns:a16="http://schemas.microsoft.com/office/drawing/2014/main" id="{58608E19-D8E6-1FA9-E143-37620ABC17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Text Placeholder 3">
            <a:extLst>
              <a:ext uri="{FF2B5EF4-FFF2-40B4-BE49-F238E27FC236}">
                <a16:creationId xmlns:a16="http://schemas.microsoft.com/office/drawing/2014/main" id="{66A41659-0DF5-30DF-4E75-897B350822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EDA7FC6-A339-D605-800D-AB501AB8E237}"/>
              </a:ext>
            </a:extLst>
          </p:cNvPr>
          <p:cNvSpPr>
            <a:spLocks noGrp="1"/>
          </p:cNvSpPr>
          <p:nvPr>
            <p:ph type="dt" sz="half" idx="10"/>
          </p:nvPr>
        </p:nvSpPr>
        <p:spPr>
          <a:xfrm>
            <a:off x="838200" y="6356350"/>
            <a:ext cx="2743200" cy="365125"/>
          </a:xfrm>
          <a:prstGeom prst="rect">
            <a:avLst/>
          </a:prstGeom>
        </p:spPr>
        <p:txBody>
          <a:bodyPr/>
          <a:lstStyle/>
          <a:p>
            <a:fld id="{613104F7-4FAA-A745-88CD-DCDF4F2A4B12}" type="datetime1">
              <a:rPr lang="it-IT" smtClean="0"/>
              <a:t>22/08/26</a:t>
            </a:fld>
            <a:endParaRPr lang="en-IT"/>
          </a:p>
        </p:txBody>
      </p:sp>
      <p:sp>
        <p:nvSpPr>
          <p:cNvPr id="7" name="Slide Number Placeholder 6">
            <a:extLst>
              <a:ext uri="{FF2B5EF4-FFF2-40B4-BE49-F238E27FC236}">
                <a16:creationId xmlns:a16="http://schemas.microsoft.com/office/drawing/2014/main" id="{718E942D-4B1F-ED75-AE8B-F9BD5DCEA5B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19A6D227-1513-F093-3E45-E53F91D851AC}"/>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25869143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3EF85-63B8-9971-2219-6017CE8033C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Picture Placeholder 2">
            <a:extLst>
              <a:ext uri="{FF2B5EF4-FFF2-40B4-BE49-F238E27FC236}">
                <a16:creationId xmlns:a16="http://schemas.microsoft.com/office/drawing/2014/main" id="{58CA7183-DD42-C215-876D-0F0184CD30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T"/>
          </a:p>
        </p:txBody>
      </p:sp>
      <p:sp>
        <p:nvSpPr>
          <p:cNvPr id="4" name="Text Placeholder 3">
            <a:extLst>
              <a:ext uri="{FF2B5EF4-FFF2-40B4-BE49-F238E27FC236}">
                <a16:creationId xmlns:a16="http://schemas.microsoft.com/office/drawing/2014/main" id="{247EEB28-6818-7251-B7EB-DB3B1CE706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104FDCE-E9E1-5CD0-F177-B2172C0E4810}"/>
              </a:ext>
            </a:extLst>
          </p:cNvPr>
          <p:cNvSpPr>
            <a:spLocks noGrp="1"/>
          </p:cNvSpPr>
          <p:nvPr>
            <p:ph type="dt" sz="half" idx="10"/>
          </p:nvPr>
        </p:nvSpPr>
        <p:spPr>
          <a:xfrm>
            <a:off x="838200" y="6356350"/>
            <a:ext cx="2743200" cy="365125"/>
          </a:xfrm>
          <a:prstGeom prst="rect">
            <a:avLst/>
          </a:prstGeom>
        </p:spPr>
        <p:txBody>
          <a:bodyPr/>
          <a:lstStyle/>
          <a:p>
            <a:fld id="{7C8D58A7-0DEC-544E-993C-AFFBCEE6AD8C}" type="datetime1">
              <a:rPr lang="it-IT" smtClean="0"/>
              <a:t>22/08/26</a:t>
            </a:fld>
            <a:endParaRPr lang="en-IT"/>
          </a:p>
        </p:txBody>
      </p:sp>
      <p:sp>
        <p:nvSpPr>
          <p:cNvPr id="7" name="Slide Number Placeholder 6">
            <a:extLst>
              <a:ext uri="{FF2B5EF4-FFF2-40B4-BE49-F238E27FC236}">
                <a16:creationId xmlns:a16="http://schemas.microsoft.com/office/drawing/2014/main" id="{B99B9D2A-F1F9-4801-9581-9D2C9983435D}"/>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9C59E5F1-54C6-6BC1-CCB9-2090DAE5254E}"/>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3851833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28ED-19A6-5713-2EDB-85B45D159DF6}"/>
              </a:ext>
            </a:extLst>
          </p:cNvPr>
          <p:cNvSpPr>
            <a:spLocks noGrp="1"/>
          </p:cNvSpPr>
          <p:nvPr>
            <p:ph type="title"/>
          </p:nvPr>
        </p:nvSpPr>
        <p:spPr/>
        <p:txBody>
          <a:bodyPr/>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AA0012C7-8481-28BF-2D59-AD779B2C888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EBAD4752-9552-3601-95FE-2F50896840F8}"/>
              </a:ext>
            </a:extLst>
          </p:cNvPr>
          <p:cNvSpPr>
            <a:spLocks noGrp="1"/>
          </p:cNvSpPr>
          <p:nvPr>
            <p:ph type="dt" sz="half" idx="10"/>
          </p:nvPr>
        </p:nvSpPr>
        <p:spPr>
          <a:xfrm>
            <a:off x="838200" y="6356350"/>
            <a:ext cx="2743200" cy="365125"/>
          </a:xfrm>
          <a:prstGeom prst="rect">
            <a:avLst/>
          </a:prstGeom>
        </p:spPr>
        <p:txBody>
          <a:bodyPr/>
          <a:lstStyle/>
          <a:p>
            <a:fld id="{C032C417-D84C-8940-ABEE-FD81EA567FCD}" type="datetime1">
              <a:rPr lang="it-IT" smtClean="0"/>
              <a:t>22/08/26</a:t>
            </a:fld>
            <a:endParaRPr lang="en-IT"/>
          </a:p>
        </p:txBody>
      </p:sp>
      <p:sp>
        <p:nvSpPr>
          <p:cNvPr id="6" name="Slide Number Placeholder 5">
            <a:extLst>
              <a:ext uri="{FF2B5EF4-FFF2-40B4-BE49-F238E27FC236}">
                <a16:creationId xmlns:a16="http://schemas.microsoft.com/office/drawing/2014/main" id="{1ACE12AA-4F19-116B-7C36-9D954CDDB804}"/>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85C2FBC6-CA8F-5D38-BE75-7AC6C11EF33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223045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E96AE1-B22B-990F-6CA8-76950F8F9D8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48524D0D-06F1-F5E7-552A-BE0E14435A3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84DDF309-C3D0-9C11-4F9F-01FDDDD14D37}"/>
              </a:ext>
            </a:extLst>
          </p:cNvPr>
          <p:cNvSpPr>
            <a:spLocks noGrp="1"/>
          </p:cNvSpPr>
          <p:nvPr>
            <p:ph type="dt" sz="half" idx="10"/>
          </p:nvPr>
        </p:nvSpPr>
        <p:spPr>
          <a:xfrm>
            <a:off x="838200" y="6356350"/>
            <a:ext cx="2743200" cy="365125"/>
          </a:xfrm>
          <a:prstGeom prst="rect">
            <a:avLst/>
          </a:prstGeom>
        </p:spPr>
        <p:txBody>
          <a:bodyPr/>
          <a:lstStyle/>
          <a:p>
            <a:fld id="{13ECEAFF-2F00-4F47-BAD2-CBF52B38C442}" type="datetime1">
              <a:rPr lang="it-IT" smtClean="0"/>
              <a:t>22/08/26</a:t>
            </a:fld>
            <a:endParaRPr lang="en-IT"/>
          </a:p>
        </p:txBody>
      </p:sp>
      <p:sp>
        <p:nvSpPr>
          <p:cNvPr id="6" name="Slide Number Placeholder 5">
            <a:extLst>
              <a:ext uri="{FF2B5EF4-FFF2-40B4-BE49-F238E27FC236}">
                <a16:creationId xmlns:a16="http://schemas.microsoft.com/office/drawing/2014/main" id="{7C635D93-F89D-6E84-5C3E-D3528BAECD11}"/>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7CFB9469-1EE1-4BD4-D5DD-26B86E540C0A}"/>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8660723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1.1 - Blank">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A2CC8E39-9A4E-A4DF-F50E-11E2BDCAFF7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1" name="Slide Number Placeholder 5">
            <a:extLst>
              <a:ext uri="{FF2B5EF4-FFF2-40B4-BE49-F238E27FC236}">
                <a16:creationId xmlns:a16="http://schemas.microsoft.com/office/drawing/2014/main" id="{54684DA7-0D8A-B949-344B-2DA84CB93D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3" name="Footer Placeholder 2">
            <a:extLst>
              <a:ext uri="{FF2B5EF4-FFF2-40B4-BE49-F238E27FC236}">
                <a16:creationId xmlns:a16="http://schemas.microsoft.com/office/drawing/2014/main" id="{6E4F0CF6-F16F-8670-1980-E9ED719A0C6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14CF9C37-2B4F-1A48-2665-689E781E5996}"/>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DA0E344A-9637-F773-3C9D-C304FA60FF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41820508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1.2 - Titl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4" name="TextBox 13">
            <a:extLst>
              <a:ext uri="{FF2B5EF4-FFF2-40B4-BE49-F238E27FC236}">
                <a16:creationId xmlns:a16="http://schemas.microsoft.com/office/drawing/2014/main" id="{B4AE9558-F65E-E57A-5394-E3FBBB881C0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5" name="Slide Number Placeholder 5">
            <a:extLst>
              <a:ext uri="{FF2B5EF4-FFF2-40B4-BE49-F238E27FC236}">
                <a16:creationId xmlns:a16="http://schemas.microsoft.com/office/drawing/2014/main" id="{792A02F9-A52E-683F-E045-1AFEBB2E551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6" name="Footer Placeholder 2">
            <a:extLst>
              <a:ext uri="{FF2B5EF4-FFF2-40B4-BE49-F238E27FC236}">
                <a16:creationId xmlns:a16="http://schemas.microsoft.com/office/drawing/2014/main" id="{2949A3C7-28A6-58FC-0E18-DC956F4648A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9E8EEFE7-691A-EB22-8F90-26B2CF96E1A9}"/>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B7D1C557-9AB1-1320-8365-E9EE69B4A61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673394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1.3 - Tex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tx2"/>
                </a:solidFill>
              </a:defRPr>
            </a:lvl1pPr>
            <a:lvl2pPr marL="239994" indent="0">
              <a:lnSpc>
                <a:spcPct val="100000"/>
              </a:lnSpc>
              <a:spcBef>
                <a:spcPts val="0"/>
              </a:spcBef>
              <a:spcAft>
                <a:spcPts val="800"/>
              </a:spcAft>
              <a:buSzPct val="70000"/>
              <a:buNone/>
              <a:defRPr sz="1600">
                <a:solidFill>
                  <a:schemeClr val="tx2"/>
                </a:solidFill>
              </a:defRPr>
            </a:lvl2pPr>
            <a:lvl3pPr marL="479988" indent="0">
              <a:lnSpc>
                <a:spcPct val="100000"/>
              </a:lnSpc>
              <a:spcBef>
                <a:spcPts val="0"/>
              </a:spcBef>
              <a:spcAft>
                <a:spcPts val="800"/>
              </a:spcAft>
              <a:buSzPct val="70000"/>
              <a:buNone/>
              <a:defRPr sz="1600">
                <a:solidFill>
                  <a:schemeClr val="tx2"/>
                </a:solidFill>
              </a:defRPr>
            </a:lvl3pPr>
            <a:lvl4pPr marL="719982" indent="0">
              <a:lnSpc>
                <a:spcPct val="100000"/>
              </a:lnSpc>
              <a:spcBef>
                <a:spcPts val="0"/>
              </a:spcBef>
              <a:spcAft>
                <a:spcPts val="800"/>
              </a:spcAft>
              <a:buSzPct val="70000"/>
              <a:buNone/>
              <a:defRPr sz="1600">
                <a:solidFill>
                  <a:schemeClr val="tx2"/>
                </a:solidFill>
              </a:defRPr>
            </a:lvl4pPr>
            <a:lvl5pPr marL="959976" indent="0">
              <a:lnSpc>
                <a:spcPct val="100000"/>
              </a:lnSpc>
              <a:spcBef>
                <a:spcPts val="0"/>
              </a:spcBef>
              <a:spcAft>
                <a:spcPts val="800"/>
              </a:spcAft>
              <a:buSzPct val="70000"/>
              <a:buNone/>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31A68076-E163-16F0-6643-612506DC25C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DDBD7350-FFE3-8F35-04ED-B83CAB700A0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E90EBC0-49DE-3234-6D8A-7B5E88E2D97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A9F5E732-6447-299C-75E4-C99261D7483C}"/>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3D63D485-13CC-9C0A-3170-F4CA3E92E7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9580195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1.4 - 1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D5C5286A-148E-6CAC-4953-28CEC8A7AC6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8C09A251-3EA9-3813-C32A-42674B11B3B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DDBC5E9-DF95-1530-C94F-AC94C8FDD7B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7A0A6C3E-06F7-E899-9995-0ED37EE6CC41}"/>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9E39556-3958-D06D-B5BB-705F5725C68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7859419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5 - 2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76D7398D-CEE7-3079-FB86-A89C992F31A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3654D0DC-83E2-3257-B441-08F7D9D9447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47C68A9-7989-FB66-D55B-D66D6874D99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52491042-D5B7-4498-A1F0-5BEA78AF4EBD}"/>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88F7910F-6815-2B09-B597-8F9DAC6834A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15583830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1.6 - 3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Box 16">
            <a:extLst>
              <a:ext uri="{FF2B5EF4-FFF2-40B4-BE49-F238E27FC236}">
                <a16:creationId xmlns:a16="http://schemas.microsoft.com/office/drawing/2014/main" id="{B3C89AA2-17C4-2311-08AF-1321E11749F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2713EB45-843B-9A1C-345B-468536A7E0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C77A4B8F-49F4-2929-427A-DF7B92A561E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F272607-9556-1864-23FC-E024D8740ED5}"/>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1BA3E3EE-9C41-B47C-B4DF-F3669798014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1592583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1.7 - 4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Box 17">
            <a:extLst>
              <a:ext uri="{FF2B5EF4-FFF2-40B4-BE49-F238E27FC236}">
                <a16:creationId xmlns:a16="http://schemas.microsoft.com/office/drawing/2014/main" id="{77523A0E-155F-824D-4618-C556416C4B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3DCBE36C-4C66-1188-03D3-624F2E47A38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45644240-BAFF-42B5-1A7E-4A3EC1F84D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4D9F31D8-D736-3F40-0CCB-F3477F42EB94}"/>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49A47FD-93B6-EB57-A70D-A0C3CAC53F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9813669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1.8 - Numbered">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tx2"/>
                </a:solidFill>
              </a:defRPr>
            </a:lvl1pPr>
            <a:lvl2pPr marL="544786" indent="-304792">
              <a:lnSpc>
                <a:spcPct val="100000"/>
              </a:lnSpc>
              <a:spcBef>
                <a:spcPts val="0"/>
              </a:spcBef>
              <a:spcAft>
                <a:spcPts val="800"/>
              </a:spcAft>
              <a:buFont typeface="+mj-lt"/>
              <a:buAutoNum type="arabicPeriod" startAt="2"/>
              <a:defRPr sz="1600">
                <a:solidFill>
                  <a:schemeClr val="tx2"/>
                </a:solidFill>
              </a:defRPr>
            </a:lvl2pPr>
            <a:lvl3pPr marL="784780" indent="-304792">
              <a:lnSpc>
                <a:spcPct val="100000"/>
              </a:lnSpc>
              <a:spcBef>
                <a:spcPts val="0"/>
              </a:spcBef>
              <a:spcAft>
                <a:spcPts val="800"/>
              </a:spcAft>
              <a:buFont typeface="+mj-lt"/>
              <a:buAutoNum type="arabicPeriod" startAt="3"/>
              <a:defRPr sz="1600">
                <a:solidFill>
                  <a:schemeClr val="tx2"/>
                </a:solidFill>
              </a:defRPr>
            </a:lvl3pPr>
            <a:lvl4pPr marL="1024774" indent="-304792">
              <a:lnSpc>
                <a:spcPct val="100000"/>
              </a:lnSpc>
              <a:spcBef>
                <a:spcPts val="0"/>
              </a:spcBef>
              <a:spcAft>
                <a:spcPts val="800"/>
              </a:spcAft>
              <a:buFont typeface="+mj-lt"/>
              <a:buAutoNum type="arabicPeriod" startAt="4"/>
              <a:defRPr sz="1600">
                <a:solidFill>
                  <a:schemeClr val="tx2"/>
                </a:solidFill>
              </a:defRPr>
            </a:lvl4pPr>
            <a:lvl5pPr marL="1276168" indent="-304792">
              <a:lnSpc>
                <a:spcPct val="100000"/>
              </a:lnSpc>
              <a:spcBef>
                <a:spcPts val="0"/>
              </a:spcBef>
              <a:spcAft>
                <a:spcPts val="800"/>
              </a:spcAft>
              <a:buFont typeface="+mj-lt"/>
              <a:buAutoNum type="arabicPeriod" startAt="5"/>
              <a:defRPr sz="1600">
                <a:solidFill>
                  <a:schemeClr val="tx2"/>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5" name="TextBox 14">
            <a:extLst>
              <a:ext uri="{FF2B5EF4-FFF2-40B4-BE49-F238E27FC236}">
                <a16:creationId xmlns:a16="http://schemas.microsoft.com/office/drawing/2014/main" id="{2138E23A-1A2B-4FC2-057E-864010EF96E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5417762A-54B1-36A8-F29E-69737B3F61F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395D9105-CDC3-7AF1-1035-8F0BB27B989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24ADFAB0-E92F-AF45-4455-844002CB37C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5B94D71-DD87-F678-64B4-D035E2C9D94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8694604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1.9 - Title">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7200" baseline="0">
                <a:solidFill>
                  <a:schemeClr val="accent1"/>
                </a:solidFill>
                <a:latin typeface="Nokia Pure Headline Ultra Light" panose="020B0204020202020204" pitchFamily="34" charset="0"/>
              </a:defRPr>
            </a:lvl1pPr>
          </a:lstStyle>
          <a:p>
            <a:pPr lvl="0"/>
            <a:r>
              <a:rPr lang="en-US" dirty="0"/>
              <a:t>Click to edit headline</a:t>
            </a:r>
          </a:p>
        </p:txBody>
      </p:sp>
      <p:sp>
        <p:nvSpPr>
          <p:cNvPr id="9" name="TextBox 8">
            <a:extLst>
              <a:ext uri="{FF2B5EF4-FFF2-40B4-BE49-F238E27FC236}">
                <a16:creationId xmlns:a16="http://schemas.microsoft.com/office/drawing/2014/main" id="{84AB3D1D-D95D-CC81-FF15-1A1F6BE049F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AD043C3F-DBA3-47D4-A317-9E02DADB3E0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7253B20-AD10-1261-4A70-76072ED4044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31386DAF-78F1-64A8-A51B-3B6BA0A20C9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accent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5CADB226-B627-BBD6-7EB8-1DA5C64DFCB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AF2BAE24-B30D-BC52-2097-B18B4F8D68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2728044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2.1 - Bullet 1/2 imag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6096001" y="0"/>
            <a:ext cx="6096001"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8" name="Text Placeholder 12">
            <a:extLst>
              <a:ext uri="{FF2B5EF4-FFF2-40B4-BE49-F238E27FC236}">
                <a16:creationId xmlns:a16="http://schemas.microsoft.com/office/drawing/2014/main" id="{E6285CBB-8652-0F93-9BFF-BDE646DC1516}"/>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972230E8-8C3E-FACC-BB83-0BEB16548E5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FFD06BD2-8C82-3A42-EA94-1DAD5F04366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30DEAEC4-E0F3-9FCE-BAAF-FDB63BC5E6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5D565AE1-FFB9-F818-A049-8B78F88E1A7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A085E30A-61AE-B001-F7D8-D230C54937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4242090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2.2 - Bullet 2/3 imag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4128000" y="0"/>
            <a:ext cx="8064000"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5" name="Text Placeholder 42">
            <a:extLst>
              <a:ext uri="{FF2B5EF4-FFF2-40B4-BE49-F238E27FC236}">
                <a16:creationId xmlns:a16="http://schemas.microsoft.com/office/drawing/2014/main" id="{E5C0F96B-575B-3032-1D03-A5D0D7313FCB}"/>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7" name="Text Placeholder 42">
            <a:extLst>
              <a:ext uri="{FF2B5EF4-FFF2-40B4-BE49-F238E27FC236}">
                <a16:creationId xmlns:a16="http://schemas.microsoft.com/office/drawing/2014/main" id="{171D37E4-D2E3-6D25-9C68-18D40EF22BCE}"/>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235DB99C-EDCB-D6C3-2083-649EBE85053E}"/>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6A434747-CAC6-E3AB-43A2-737599B9350F}"/>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F408B049-B5A6-319C-6604-4CB974379CE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6BE57E5-418C-3CAD-E431-901873F5937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720F67F4-E179-4A8C-BB98-2D3CE7469D0E}"/>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E52B735-4F48-8C73-12DC-5B71C0FDAD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4931935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2.3 - Bullet 1/2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6096001" y="0"/>
            <a:ext cx="6095999"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81B2B362-2879-6819-D5A2-C7BE4DDA16A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60008FED-F579-32FA-B396-B46F632C45F4}"/>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8639B8D9-7FD8-8F41-6E5A-1F2F111B9E5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525477A2-00D4-A5D4-CE66-BD1565E0928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5CC64C8D-EF21-1A49-63EA-A66C43D9151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95552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2.4 - Bullet 2/3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4128000" y="0"/>
            <a:ext cx="8064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92932C8D-B957-1CF9-AF0A-C66A4B80B16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EDFF5BE1-C27A-DAF6-539C-BE7CFB3D313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2198C15-49FA-5DCF-088F-089A36BBE5B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88FE076B-0F08-076B-2D80-BC2E2CCDC4CB}"/>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6060304C-36F3-CA03-DDC5-B93B755A47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3118424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3.1 - Blank dark">
    <p:bg>
      <p:bgPr>
        <a:solidFill>
          <a:schemeClr val="tx2"/>
        </a:solid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EFADF482-1182-15C3-2090-EF4C2A8F787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B5714932-B041-C268-D37A-89265A6401E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3D6BE398-80E2-C124-8939-1FA1DF0C1011}"/>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9EE35A5E-B623-913A-77BF-9891223ADE6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D921197C-D09B-51FC-3273-F6E21294903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284095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3.2 - Title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18" name="TextBox 17">
            <a:extLst>
              <a:ext uri="{FF2B5EF4-FFF2-40B4-BE49-F238E27FC236}">
                <a16:creationId xmlns:a16="http://schemas.microsoft.com/office/drawing/2014/main" id="{B4D6E92B-62A5-89F1-C025-9AFA6FCB332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F2BA0AE1-3EC1-6929-E965-9C60516B99D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8CFFAAD9-97A5-7898-E5FF-36F481EB93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327462C-4CAC-FE93-D4FD-2A9AB433C22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FFAF1E4B-4B33-2BA9-8211-C368D5BF448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6914616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3 - Tex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bg1"/>
                </a:solidFill>
              </a:defRPr>
            </a:lvl1pPr>
            <a:lvl2pPr marL="239994" indent="0">
              <a:lnSpc>
                <a:spcPct val="100000"/>
              </a:lnSpc>
              <a:spcBef>
                <a:spcPts val="0"/>
              </a:spcBef>
              <a:spcAft>
                <a:spcPts val="800"/>
              </a:spcAft>
              <a:buSzPct val="70000"/>
              <a:buNone/>
              <a:defRPr sz="1600">
                <a:solidFill>
                  <a:schemeClr val="bg1"/>
                </a:solidFill>
              </a:defRPr>
            </a:lvl2pPr>
            <a:lvl3pPr marL="479988" indent="0">
              <a:lnSpc>
                <a:spcPct val="100000"/>
              </a:lnSpc>
              <a:spcBef>
                <a:spcPts val="0"/>
              </a:spcBef>
              <a:spcAft>
                <a:spcPts val="800"/>
              </a:spcAft>
              <a:buSzPct val="70000"/>
              <a:buNone/>
              <a:defRPr sz="1600">
                <a:solidFill>
                  <a:schemeClr val="bg1"/>
                </a:solidFill>
              </a:defRPr>
            </a:lvl3pPr>
            <a:lvl4pPr marL="719982" indent="0">
              <a:lnSpc>
                <a:spcPct val="100000"/>
              </a:lnSpc>
              <a:spcBef>
                <a:spcPts val="0"/>
              </a:spcBef>
              <a:spcAft>
                <a:spcPts val="800"/>
              </a:spcAft>
              <a:buSzPct val="70000"/>
              <a:buNone/>
              <a:defRPr sz="1600">
                <a:solidFill>
                  <a:schemeClr val="bg1"/>
                </a:solidFill>
              </a:defRPr>
            </a:lvl4pPr>
            <a:lvl5pPr marL="959976" indent="0">
              <a:lnSpc>
                <a:spcPct val="100000"/>
              </a:lnSpc>
              <a:spcBef>
                <a:spcPts val="0"/>
              </a:spcBef>
              <a:spcAft>
                <a:spcPts val="800"/>
              </a:spcAft>
              <a:buSzPct val="70000"/>
              <a:buNone/>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6C224637-55EA-0423-7FB7-9D4C22E954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D086BFC4-A13A-A77F-C95D-F0B63E9FC79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8436AE6-E5BF-2964-DF91-27380150947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C2C2D673-25D4-2B6C-FAA2-5DC5ACD3DD2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4D5EF703-7CFE-DDB3-F595-5A8DF378FA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3355860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4 - 1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F2203B3C-B7BE-B5F0-A84C-BF4A2D307F8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ED0C98DE-3A96-2DE1-E80F-30D10A98054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9872479-176B-250D-7009-2FACC846C88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0309984-EAE9-D958-8AA2-824142DEDD98}"/>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A8979BA-9C98-FAA1-4051-0D094CF795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314745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5 - 2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38BB2193-E2EE-013C-3734-26FE2B6F28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94D6E453-33BB-3D1A-87F2-BF23E7DB064B}"/>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25631BE9-7C06-22AD-145E-78B1BD5F79B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0A2D64AD-CA51-6052-F8E8-9F2B58C6499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Picture 7" descr="Icon&#10;&#10;Description automatically generated">
            <a:extLst>
              <a:ext uri="{FF2B5EF4-FFF2-40B4-BE49-F238E27FC236}">
                <a16:creationId xmlns:a16="http://schemas.microsoft.com/office/drawing/2014/main" id="{FE826328-3B3B-6394-6345-C5090DEFE30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0123510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6 - 3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Box 20">
            <a:extLst>
              <a:ext uri="{FF2B5EF4-FFF2-40B4-BE49-F238E27FC236}">
                <a16:creationId xmlns:a16="http://schemas.microsoft.com/office/drawing/2014/main" id="{0B09C184-344B-3A37-4BC9-5F46DC81EA5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2" name="Slide Number Placeholder 5">
            <a:extLst>
              <a:ext uri="{FF2B5EF4-FFF2-40B4-BE49-F238E27FC236}">
                <a16:creationId xmlns:a16="http://schemas.microsoft.com/office/drawing/2014/main" id="{EA23E53E-BC8E-B2D9-8857-89A24EB07F95}"/>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3" name="Footer Placeholder 2">
            <a:extLst>
              <a:ext uri="{FF2B5EF4-FFF2-40B4-BE49-F238E27FC236}">
                <a16:creationId xmlns:a16="http://schemas.microsoft.com/office/drawing/2014/main" id="{E99784FE-D6A8-9580-1007-194EF43C8A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8DE24107-2DCD-2619-7BC4-E45D28F1E65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3DEE9466-49D5-5849-BE45-0581E94616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2017655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7 - 4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Box 21">
            <a:extLst>
              <a:ext uri="{FF2B5EF4-FFF2-40B4-BE49-F238E27FC236}">
                <a16:creationId xmlns:a16="http://schemas.microsoft.com/office/drawing/2014/main" id="{3F8C1C72-A585-7ED5-651B-B528B3970818}"/>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3" name="Slide Number Placeholder 5">
            <a:extLst>
              <a:ext uri="{FF2B5EF4-FFF2-40B4-BE49-F238E27FC236}">
                <a16:creationId xmlns:a16="http://schemas.microsoft.com/office/drawing/2014/main" id="{D3FAF429-6C3E-019C-0537-840220A5BF9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4" name="Footer Placeholder 2">
            <a:extLst>
              <a:ext uri="{FF2B5EF4-FFF2-40B4-BE49-F238E27FC236}">
                <a16:creationId xmlns:a16="http://schemas.microsoft.com/office/drawing/2014/main" id="{14C8B806-8FC3-E969-CBCA-FAFFE8971D2A}"/>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F2582E6-5C26-0DFD-CCB0-AD1CB76443F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10" name="Picture 9" descr="Icon&#10;&#10;Description automatically generated">
            <a:extLst>
              <a:ext uri="{FF2B5EF4-FFF2-40B4-BE49-F238E27FC236}">
                <a16:creationId xmlns:a16="http://schemas.microsoft.com/office/drawing/2014/main" id="{1732D478-B892-E3B8-8306-FE30FB6F97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5647563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3.8 - Numbered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bg1"/>
                </a:solidFill>
              </a:defRPr>
            </a:lvl1pPr>
            <a:lvl2pPr marL="544786" indent="-304792">
              <a:lnSpc>
                <a:spcPct val="100000"/>
              </a:lnSpc>
              <a:spcBef>
                <a:spcPts val="0"/>
              </a:spcBef>
              <a:spcAft>
                <a:spcPts val="800"/>
              </a:spcAft>
              <a:buFont typeface="+mj-lt"/>
              <a:buAutoNum type="arabicPeriod" startAt="2"/>
              <a:defRPr sz="1600">
                <a:solidFill>
                  <a:schemeClr val="bg1"/>
                </a:solidFill>
              </a:defRPr>
            </a:lvl2pPr>
            <a:lvl3pPr marL="784780" indent="-304792">
              <a:lnSpc>
                <a:spcPct val="100000"/>
              </a:lnSpc>
              <a:spcBef>
                <a:spcPts val="0"/>
              </a:spcBef>
              <a:spcAft>
                <a:spcPts val="800"/>
              </a:spcAft>
              <a:buFont typeface="+mj-lt"/>
              <a:buAutoNum type="arabicPeriod" startAt="3"/>
              <a:defRPr sz="1600">
                <a:solidFill>
                  <a:schemeClr val="bg1"/>
                </a:solidFill>
              </a:defRPr>
            </a:lvl3pPr>
            <a:lvl4pPr marL="1024774" indent="-304792">
              <a:lnSpc>
                <a:spcPct val="100000"/>
              </a:lnSpc>
              <a:spcBef>
                <a:spcPts val="0"/>
              </a:spcBef>
              <a:spcAft>
                <a:spcPts val="800"/>
              </a:spcAft>
              <a:buFont typeface="+mj-lt"/>
              <a:buAutoNum type="arabicPeriod" startAt="4"/>
              <a:defRPr sz="1600">
                <a:solidFill>
                  <a:schemeClr val="bg1"/>
                </a:solidFill>
              </a:defRPr>
            </a:lvl4pPr>
            <a:lvl5pPr marL="1276168" indent="-304792">
              <a:lnSpc>
                <a:spcPct val="100000"/>
              </a:lnSpc>
              <a:spcBef>
                <a:spcPts val="0"/>
              </a:spcBef>
              <a:spcAft>
                <a:spcPts val="800"/>
              </a:spcAft>
              <a:buFont typeface="+mj-lt"/>
              <a:buAutoNum type="arabicPeriod" startAt="5"/>
              <a:defRPr sz="1600">
                <a:solidFill>
                  <a:schemeClr val="bg1"/>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9" name="TextBox 18">
            <a:extLst>
              <a:ext uri="{FF2B5EF4-FFF2-40B4-BE49-F238E27FC236}">
                <a16:creationId xmlns:a16="http://schemas.microsoft.com/office/drawing/2014/main" id="{128DC97F-4D64-0DED-88CD-EE02622DD1A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36AADFB0-EF58-B66F-9E2F-35B8CE845DF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B5E01CE8-3A1A-97F6-CB42-2A7B7096CAA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298E151C-F446-3E79-0E84-BBC74FC3796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8FD43ABA-CFE9-679E-787F-A4F79F104C3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1683230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3.9 - Title dark">
    <p:bg>
      <p:bgPr>
        <a:solidFill>
          <a:schemeClr val="tx2"/>
        </a:solidFill>
        <a:effectLst/>
      </p:bgPr>
    </p:bg>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p:nvPr>
        </p:nvSpPr>
        <p:spPr>
          <a:xfrm>
            <a:off x="556800" y="1440000"/>
            <a:ext cx="11078400" cy="2347335"/>
          </a:xfrm>
          <a:prstGeom prst="rect">
            <a:avLst/>
          </a:prstGeom>
        </p:spPr>
        <p:txBody>
          <a:bodyPr lIns="0" tIns="0" rIns="0" bIns="0"/>
          <a:lstStyle>
            <a:lvl1pPr marL="0" indent="0">
              <a:buNone/>
              <a:defRPr sz="7200" baseline="0">
                <a:solidFill>
                  <a:schemeClr val="bg1"/>
                </a:solidFill>
                <a:latin typeface="Nokia Pure Headline Ultra Light" panose="020B0204020202020204" pitchFamily="34" charset="0"/>
              </a:defRPr>
            </a:lvl1pPr>
          </a:lstStyle>
          <a:p>
            <a:pPr lvl="0"/>
            <a:r>
              <a:rPr lang="en-US"/>
              <a:t>Click to edit Master text styles</a:t>
            </a:r>
          </a:p>
        </p:txBody>
      </p:sp>
      <p:sp>
        <p:nvSpPr>
          <p:cNvPr id="17" name="TextBox 16">
            <a:extLst>
              <a:ext uri="{FF2B5EF4-FFF2-40B4-BE49-F238E27FC236}">
                <a16:creationId xmlns:a16="http://schemas.microsoft.com/office/drawing/2014/main" id="{3CFD536D-56F0-6B89-4E85-90A6E969D32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A2A18FDE-17E4-A96B-C3EE-A77EEBA83E2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A39C322E-4A8A-CA2E-DBCD-97DA4FDE15D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21" name="Text Placeholder 42">
            <a:extLst>
              <a:ext uri="{FF2B5EF4-FFF2-40B4-BE49-F238E27FC236}">
                <a16:creationId xmlns:a16="http://schemas.microsoft.com/office/drawing/2014/main" id="{B3D3C671-29A5-6951-28E5-A58089FE5D4B}"/>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3" name="Straight Connector 2">
            <a:extLst>
              <a:ext uri="{FF2B5EF4-FFF2-40B4-BE49-F238E27FC236}">
                <a16:creationId xmlns:a16="http://schemas.microsoft.com/office/drawing/2014/main" id="{0D47294A-FF96-9958-42B7-7974F6EB5E8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93C10E8-28DF-A5D6-11F0-698C34D0BB5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569608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4.1 - Cover N BlueGreen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A97BECFD-8EA7-0689-338E-FF79734814C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B8976C7B-2688-70F3-77A4-4D1113FB54EC}"/>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2" name="Title 4">
            <a:extLst>
              <a:ext uri="{FF2B5EF4-FFF2-40B4-BE49-F238E27FC236}">
                <a16:creationId xmlns:a16="http://schemas.microsoft.com/office/drawing/2014/main" id="{FCA7DC03-F552-0867-352F-D9703C6058FC}"/>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4" name="Text Placeholder 3">
            <a:extLst>
              <a:ext uri="{FF2B5EF4-FFF2-40B4-BE49-F238E27FC236}">
                <a16:creationId xmlns:a16="http://schemas.microsoft.com/office/drawing/2014/main" id="{095DCB03-B7A1-6B00-BC51-6A2712B64A79}"/>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3" name="TextBox 2">
            <a:extLst>
              <a:ext uri="{FF2B5EF4-FFF2-40B4-BE49-F238E27FC236}">
                <a16:creationId xmlns:a16="http://schemas.microsoft.com/office/drawing/2014/main" id="{659763D9-588F-2473-91CB-B8C347B72189}"/>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23FCDC52-0E62-A2F4-0387-BFC107C7F663}"/>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753EC447-D430-EA30-E1F1-75D216432106}"/>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9" name="Straight Connector 8">
            <a:extLst>
              <a:ext uri="{FF2B5EF4-FFF2-40B4-BE49-F238E27FC236}">
                <a16:creationId xmlns:a16="http://schemas.microsoft.com/office/drawing/2014/main" id="{4DFDB4CE-CF8C-D627-64FF-06A1B9B67196}"/>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DD78EB01-E225-75C7-E601-2C140FA532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67501348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4.2 - Cover N PurpleBlue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81E104F6-2E1E-CFDD-A69D-C115384F159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Graphic 4">
            <a:extLst>
              <a:ext uri="{FF2B5EF4-FFF2-40B4-BE49-F238E27FC236}">
                <a16:creationId xmlns:a16="http://schemas.microsoft.com/office/drawing/2014/main" id="{0E27FD93-255E-C585-12C2-E99681C9BE5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1201"/>
            <a:ext cx="6859200" cy="6859200"/>
          </a:xfrm>
          <a:prstGeom prst="rect">
            <a:avLst/>
          </a:prstGeom>
        </p:spPr>
      </p:pic>
      <p:sp>
        <p:nvSpPr>
          <p:cNvPr id="11" name="Title 4">
            <a:extLst>
              <a:ext uri="{FF2B5EF4-FFF2-40B4-BE49-F238E27FC236}">
                <a16:creationId xmlns:a16="http://schemas.microsoft.com/office/drawing/2014/main" id="{59E922F0-08F0-9919-8C26-CE716C3AE5B2}"/>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2" name="Text Placeholder 3">
            <a:extLst>
              <a:ext uri="{FF2B5EF4-FFF2-40B4-BE49-F238E27FC236}">
                <a16:creationId xmlns:a16="http://schemas.microsoft.com/office/drawing/2014/main" id="{FDF29A45-EE41-3151-6F22-1274BFD4DDDB}"/>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7E65701-8704-DC44-7F06-7957F6D50DDE}"/>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B0CCF65E-F2C0-F179-6CEF-6926AE13A1AD}"/>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4148E0E7-D605-6CB3-E2A2-9F865D08BD3D}"/>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1A4B502-0D47-648A-BA34-37A779D05B30}"/>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8AE701A-8C9D-3410-7D26-7EF18461D6DE}"/>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324155828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4.3 - Cover N Pink1">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C7D16BB-9265-7D3A-E136-8F028A9F86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0" name="Graphic 19">
            <a:extLst>
              <a:ext uri="{FF2B5EF4-FFF2-40B4-BE49-F238E27FC236}">
                <a16:creationId xmlns:a16="http://schemas.microsoft.com/office/drawing/2014/main" id="{A7536232-7B28-DCFA-37A3-EEBA7365A539}"/>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3B531529-C0C1-501F-B90B-E578B26E0D98}"/>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40C94059-F7F6-293D-88B1-A0CCDDB75575}"/>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98343E1B-0BDB-6D7F-D5F6-35E72B8B2568}"/>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E2FB8053-9F09-3C2A-B9CD-24AAEAF3D84E}"/>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7306076A-3983-0540-D820-0E49053ABD7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216665034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4.4 - Cover N White">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674FB718-4590-313D-1532-FE817A22ACB4}"/>
              </a:ext>
            </a:extLst>
          </p:cNvPr>
          <p:cNvSpPr/>
          <p:nvPr/>
        </p:nvSpPr>
        <p:spPr>
          <a:xfrm>
            <a:off x="0" y="0"/>
            <a:ext cx="6859200" cy="6859200"/>
          </a:xfrm>
          <a:custGeom>
            <a:avLst/>
            <a:gdLst>
              <a:gd name="connsiteX0" fmla="*/ 0 w 5144400"/>
              <a:gd name="connsiteY0" fmla="*/ 0 h 5144400"/>
              <a:gd name="connsiteX1" fmla="*/ 5144400 w 5144400"/>
              <a:gd name="connsiteY1" fmla="*/ 0 h 5144400"/>
              <a:gd name="connsiteX2" fmla="*/ 5144400 w 5144400"/>
              <a:gd name="connsiteY2" fmla="*/ 5144400 h 5144400"/>
              <a:gd name="connsiteX3" fmla="*/ 0 w 5144400"/>
              <a:gd name="connsiteY3" fmla="*/ 5144400 h 5144400"/>
            </a:gdLst>
            <a:ahLst/>
            <a:cxnLst>
              <a:cxn ang="0">
                <a:pos x="connsiteX0" y="connsiteY0"/>
              </a:cxn>
              <a:cxn ang="0">
                <a:pos x="connsiteX1" y="connsiteY1"/>
              </a:cxn>
              <a:cxn ang="0">
                <a:pos x="connsiteX2" y="connsiteY2"/>
              </a:cxn>
              <a:cxn ang="0">
                <a:pos x="connsiteX3" y="connsiteY3"/>
              </a:cxn>
            </a:cxnLst>
            <a:rect l="l" t="t" r="r" b="b"/>
            <a:pathLst>
              <a:path w="5144400" h="5144400">
                <a:moveTo>
                  <a:pt x="0" y="0"/>
                </a:moveTo>
                <a:lnTo>
                  <a:pt x="5144400" y="0"/>
                </a:lnTo>
                <a:lnTo>
                  <a:pt x="5144400" y="5144400"/>
                </a:lnTo>
                <a:lnTo>
                  <a:pt x="0" y="5144400"/>
                </a:lnTo>
                <a:close/>
              </a:path>
            </a:pathLst>
          </a:custGeom>
          <a:noFill/>
          <a:ln w="26789" cap="flat">
            <a:noFill/>
            <a:prstDash val="solid"/>
            <a:miter/>
          </a:ln>
        </p:spPr>
        <p:txBody>
          <a:bodyPr rtlCol="0" anchor="ctr"/>
          <a:lstStyle/>
          <a:p>
            <a:endParaRPr lang="en-US" sz="2400"/>
          </a:p>
        </p:txBody>
      </p:sp>
      <p:sp>
        <p:nvSpPr>
          <p:cNvPr id="5" name="Freeform: Shape 4">
            <a:extLst>
              <a:ext uri="{FF2B5EF4-FFF2-40B4-BE49-F238E27FC236}">
                <a16:creationId xmlns:a16="http://schemas.microsoft.com/office/drawing/2014/main" id="{6585F427-7AA2-BA79-9FAB-3B20B348D66A}"/>
              </a:ext>
            </a:extLst>
          </p:cNvPr>
          <p:cNvSpPr/>
          <p:nvPr/>
        </p:nvSpPr>
        <p:spPr>
          <a:xfrm>
            <a:off x="0" y="0"/>
            <a:ext cx="6859200" cy="6859200"/>
          </a:xfrm>
          <a:custGeom>
            <a:avLst/>
            <a:gdLst>
              <a:gd name="connsiteX0" fmla="*/ 0 w 5144400"/>
              <a:gd name="connsiteY0" fmla="*/ 0 h 5144400"/>
              <a:gd name="connsiteX1" fmla="*/ 0 w 5144400"/>
              <a:gd name="connsiteY1" fmla="*/ 5144400 h 5144400"/>
              <a:gd name="connsiteX2" fmla="*/ 794971 w 5144400"/>
              <a:gd name="connsiteY2" fmla="*/ 5144400 h 5144400"/>
              <a:gd name="connsiteX3" fmla="*/ 794971 w 5144400"/>
              <a:gd name="connsiteY3" fmla="*/ 1741594 h 5144400"/>
              <a:gd name="connsiteX4" fmla="*/ 5144400 w 5144400"/>
              <a:gd name="connsiteY4" fmla="*/ 5144400 h 5144400"/>
              <a:gd name="connsiteX5" fmla="*/ 5144400 w 5144400"/>
              <a:gd name="connsiteY5" fmla="*/ 4142850 h 5144400"/>
              <a:gd name="connsiteX6" fmla="*/ 0 w 5144400"/>
              <a:gd name="connsiteY6" fmla="*/ 0 h 5144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44400" h="5144400">
                <a:moveTo>
                  <a:pt x="0" y="0"/>
                </a:moveTo>
                <a:lnTo>
                  <a:pt x="0" y="5144400"/>
                </a:lnTo>
                <a:cubicBezTo>
                  <a:pt x="0" y="5144400"/>
                  <a:pt x="794971" y="5144400"/>
                  <a:pt x="794971" y="5144400"/>
                </a:cubicBezTo>
                <a:lnTo>
                  <a:pt x="794971" y="1741594"/>
                </a:lnTo>
                <a:cubicBezTo>
                  <a:pt x="794971" y="1741594"/>
                  <a:pt x="5144400" y="5144400"/>
                  <a:pt x="5144400" y="5144400"/>
                </a:cubicBezTo>
                <a:lnTo>
                  <a:pt x="5144400" y="4142850"/>
                </a:lnTo>
                <a:lnTo>
                  <a:pt x="0" y="0"/>
                </a:lnTo>
                <a:close/>
              </a:path>
            </a:pathLst>
          </a:custGeom>
          <a:solidFill>
            <a:schemeClr val="accent1"/>
          </a:solidFill>
          <a:ln w="26789" cap="flat">
            <a:noFill/>
            <a:prstDash val="solid"/>
            <a:miter/>
          </a:ln>
        </p:spPr>
        <p:txBody>
          <a:bodyPr rtlCol="0" anchor="ctr"/>
          <a:lstStyle/>
          <a:p>
            <a:endParaRPr lang="en-US" sz="2400"/>
          </a:p>
        </p:txBody>
      </p:sp>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4" name="TextBox 23">
            <a:extLst>
              <a:ext uri="{FF2B5EF4-FFF2-40B4-BE49-F238E27FC236}">
                <a16:creationId xmlns:a16="http://schemas.microsoft.com/office/drawing/2014/main" id="{EE447E57-9E3B-2030-9902-A8BA6E7583E4}"/>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5" name="Slide Number Placeholder 5">
            <a:extLst>
              <a:ext uri="{FF2B5EF4-FFF2-40B4-BE49-F238E27FC236}">
                <a16:creationId xmlns:a16="http://schemas.microsoft.com/office/drawing/2014/main" id="{B61C7B4D-5A69-FF1F-0F31-D16D75C7921B}"/>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6" name="Footer Placeholder 2">
            <a:extLst>
              <a:ext uri="{FF2B5EF4-FFF2-40B4-BE49-F238E27FC236}">
                <a16:creationId xmlns:a16="http://schemas.microsoft.com/office/drawing/2014/main" id="{AD544843-BF44-8F0F-4D23-F80C60F60B55}"/>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6" name="Straight Connector 5">
            <a:extLst>
              <a:ext uri="{FF2B5EF4-FFF2-40B4-BE49-F238E27FC236}">
                <a16:creationId xmlns:a16="http://schemas.microsoft.com/office/drawing/2014/main" id="{5AD29DC4-2C23-651D-9C15-EFF2A0DCC1B7}"/>
              </a:ext>
            </a:extLst>
          </p:cNvPr>
          <p:cNvCxnSpPr>
            <a:cxnSpLocks/>
          </p:cNvCxnSpPr>
          <p:nvPr userDrawn="1"/>
        </p:nvCxnSpPr>
        <p:spPr>
          <a:xfrm>
            <a:off x="8371345"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3" name="Picture 2" descr="Logo, icon&#10;&#10;Description automatically generated">
            <a:extLst>
              <a:ext uri="{FF2B5EF4-FFF2-40B4-BE49-F238E27FC236}">
                <a16:creationId xmlns:a16="http://schemas.microsoft.com/office/drawing/2014/main" id="{A246F6C7-83D5-BFEE-0EE8-9CC09AAD4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181680475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5.1 - Cover O BlueGreen2">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8A7CBB0-A767-7247-8638-81BC366967B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3" name="Graphic 12">
            <a:extLst>
              <a:ext uri="{FF2B5EF4-FFF2-40B4-BE49-F238E27FC236}">
                <a16:creationId xmlns:a16="http://schemas.microsoft.com/office/drawing/2014/main" id="{8CEF710E-39E1-082B-B52C-E37B4EEF550E}"/>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4" name="Title 4">
            <a:extLst>
              <a:ext uri="{FF2B5EF4-FFF2-40B4-BE49-F238E27FC236}">
                <a16:creationId xmlns:a16="http://schemas.microsoft.com/office/drawing/2014/main" id="{2C6BDD68-E8AC-9D13-ED1D-D43FFC8357C6}"/>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5" name="Text Placeholder 3">
            <a:extLst>
              <a:ext uri="{FF2B5EF4-FFF2-40B4-BE49-F238E27FC236}">
                <a16:creationId xmlns:a16="http://schemas.microsoft.com/office/drawing/2014/main" id="{76BF5CE8-2417-2D5D-75FE-27E0BE07F509}"/>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6" name="TextBox 15">
            <a:extLst>
              <a:ext uri="{FF2B5EF4-FFF2-40B4-BE49-F238E27FC236}">
                <a16:creationId xmlns:a16="http://schemas.microsoft.com/office/drawing/2014/main" id="{CC8B88A2-C8A9-A342-E8B5-C91DF5E71FF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9EC2290D-5934-145E-499C-1CB0349E5FA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BD471F30-B344-A63E-287D-45299C34768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B546994-6297-B34D-7D3F-FEAAF99F39B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550A4A4D-1A2B-7E5F-7823-2719F8EF15F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5957785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5.2 - Cover O BluePink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B7370059-157B-625C-8521-D3FCF8A22DA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4" name="Graphic 13">
            <a:extLst>
              <a:ext uri="{FF2B5EF4-FFF2-40B4-BE49-F238E27FC236}">
                <a16:creationId xmlns:a16="http://schemas.microsoft.com/office/drawing/2014/main" id="{F41E3DBD-A4E2-6EF5-8073-EED87395D745}"/>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5" name="Title 4">
            <a:extLst>
              <a:ext uri="{FF2B5EF4-FFF2-40B4-BE49-F238E27FC236}">
                <a16:creationId xmlns:a16="http://schemas.microsoft.com/office/drawing/2014/main" id="{60E8CE17-B2D0-B92F-1A9F-C72280B6E9A3}"/>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6" name="Text Placeholder 3">
            <a:extLst>
              <a:ext uri="{FF2B5EF4-FFF2-40B4-BE49-F238E27FC236}">
                <a16:creationId xmlns:a16="http://schemas.microsoft.com/office/drawing/2014/main" id="{6BEF90E0-A2AA-9B05-58FB-3D4109E95C42}"/>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3B132D8A-9E85-B335-C2FD-9D2508FEAF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5D1F556C-703D-0EB9-35BD-0A7DE6122BF2}"/>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F61D5928-67F7-A4E5-2767-E072B8F67A2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BAF7AE3-4CA8-632D-9971-72776B7D43D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31B8EEB-24AC-5795-13AA-2A8F1779C51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3078608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5.3 - Cover O BlueGreen3">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7A20ED13-DCC3-ED6C-4FB2-2B64E7F0411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6" name="Graphic 15">
            <a:extLst>
              <a:ext uri="{FF2B5EF4-FFF2-40B4-BE49-F238E27FC236}">
                <a16:creationId xmlns:a16="http://schemas.microsoft.com/office/drawing/2014/main" id="{B9438AB4-120A-6B68-C6A3-6BD51CF52D24}"/>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7" name="Title 4">
            <a:extLst>
              <a:ext uri="{FF2B5EF4-FFF2-40B4-BE49-F238E27FC236}">
                <a16:creationId xmlns:a16="http://schemas.microsoft.com/office/drawing/2014/main" id="{184C4A7B-1AC5-72AD-EB05-210AB3D4C140}"/>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5F506F4-DF34-76FB-83D6-A513173F8EFA}"/>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20759C7-94BC-8FC1-9A43-A40A4BE7AC1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83D4680A-11B6-A841-EC68-FFF11409500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AE485A1C-8A6A-5C51-5E3F-5685AAA904F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34C74111-FD50-7C19-C9ED-B5ACBA2EC07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55F03A1-AAAC-2AD3-EFE6-257BC0F3D6C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2564808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5.4 - Cover O White">
    <p:spTree>
      <p:nvGrpSpPr>
        <p:cNvPr id="1" name=""/>
        <p:cNvGrpSpPr/>
        <p:nvPr/>
      </p:nvGrpSpPr>
      <p:grpSpPr>
        <a:xfrm>
          <a:off x="0" y="0"/>
          <a:ext cx="0" cy="0"/>
          <a:chOff x="0" y="0"/>
          <a:chExt cx="0" cy="0"/>
        </a:xfrm>
      </p:grpSpPr>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pic>
        <p:nvPicPr>
          <p:cNvPr id="20" name="Picture 19" descr="Circle&#10;&#10;Description automatically generated with medium confidence">
            <a:extLst>
              <a:ext uri="{FF2B5EF4-FFF2-40B4-BE49-F238E27FC236}">
                <a16:creationId xmlns:a16="http://schemas.microsoft.com/office/drawing/2014/main" id="{87D5AF06-6AF8-9002-BEDC-176CB57496A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r="25084"/>
          <a:stretch/>
        </p:blipFill>
        <p:spPr>
          <a:xfrm>
            <a:off x="6835701" y="-6395"/>
            <a:ext cx="5356300" cy="6858000"/>
          </a:xfrm>
          <a:prstGeom prst="rect">
            <a:avLst/>
          </a:prstGeom>
        </p:spPr>
      </p:pic>
      <p:sp>
        <p:nvSpPr>
          <p:cNvPr id="16" name="TextBox 15">
            <a:extLst>
              <a:ext uri="{FF2B5EF4-FFF2-40B4-BE49-F238E27FC236}">
                <a16:creationId xmlns:a16="http://schemas.microsoft.com/office/drawing/2014/main" id="{8D94EDB0-D38F-0FE8-27C1-80BAE2455A1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EFAF1A61-3518-0ABC-1BC0-5990D5EF88D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496FB4B1-7F2F-CF04-74B8-D3A7467B0ED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D7602F8-4BD9-B6B1-C7A6-FD4801224633}"/>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4" name="Picture 3" descr="Logo, icon&#10;&#10;Description automatically generated">
            <a:extLst>
              <a:ext uri="{FF2B5EF4-FFF2-40B4-BE49-F238E27FC236}">
                <a16:creationId xmlns:a16="http://schemas.microsoft.com/office/drawing/2014/main" id="{EC77C1F8-BB9C-3828-A548-A2507A3DF0C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66800622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6.1 - Cover K Orange1">
    <p:spTree>
      <p:nvGrpSpPr>
        <p:cNvPr id="1" name=""/>
        <p:cNvGrpSpPr/>
        <p:nvPr/>
      </p:nvGrpSpPr>
      <p:grpSpPr>
        <a:xfrm>
          <a:off x="0" y="0"/>
          <a:ext cx="0" cy="0"/>
          <a:chOff x="0" y="0"/>
          <a:chExt cx="0" cy="0"/>
        </a:xfrm>
      </p:grpSpPr>
      <p:pic>
        <p:nvPicPr>
          <p:cNvPr id="16" name="Picture 15" descr="Background pattern&#10;&#10;Description automatically generated">
            <a:extLst>
              <a:ext uri="{FF2B5EF4-FFF2-40B4-BE49-F238E27FC236}">
                <a16:creationId xmlns:a16="http://schemas.microsoft.com/office/drawing/2014/main" id="{38FCEB48-BE41-308F-33AB-94163C02BF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0" name="Graphic 9">
            <a:extLst>
              <a:ext uri="{FF2B5EF4-FFF2-40B4-BE49-F238E27FC236}">
                <a16:creationId xmlns:a16="http://schemas.microsoft.com/office/drawing/2014/main" id="{193793F7-1073-3781-E44D-DD541B786672}"/>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17" name="Title 4">
            <a:extLst>
              <a:ext uri="{FF2B5EF4-FFF2-40B4-BE49-F238E27FC236}">
                <a16:creationId xmlns:a16="http://schemas.microsoft.com/office/drawing/2014/main" id="{4A761E77-5CBD-451F-FA38-EA3EF19CE9E8}"/>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1349CF4D-C3F5-69B9-4227-EC331C16F094}"/>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801FC38E-29E5-B44A-FE96-F713B08050E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7AAAD9DC-C952-84F6-32BA-CE8084E916D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B603A7C0-7450-F57A-CF86-135B131E63C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D81CA0E-B5D2-6BEA-A531-1C416A10C98E}"/>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75DEA05F-B223-816A-CC61-2EF92B5073E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33148707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6.2 - Cover K BlueGreen4">
    <p:spTree>
      <p:nvGrpSpPr>
        <p:cNvPr id="1" name=""/>
        <p:cNvGrpSpPr/>
        <p:nvPr/>
      </p:nvGrpSpPr>
      <p:grpSpPr>
        <a:xfrm>
          <a:off x="0" y="0"/>
          <a:ext cx="0" cy="0"/>
          <a:chOff x="0" y="0"/>
          <a:chExt cx="0" cy="0"/>
        </a:xfrm>
      </p:grpSpPr>
      <p:pic>
        <p:nvPicPr>
          <p:cNvPr id="26" name="Picture 25" descr="Background pattern&#10;&#10;Description automatically generated">
            <a:extLst>
              <a:ext uri="{FF2B5EF4-FFF2-40B4-BE49-F238E27FC236}">
                <a16:creationId xmlns:a16="http://schemas.microsoft.com/office/drawing/2014/main" id="{8FF1A58D-53A4-65F6-8F2B-645D65C5331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Graphic 3">
            <a:extLst>
              <a:ext uri="{FF2B5EF4-FFF2-40B4-BE49-F238E27FC236}">
                <a16:creationId xmlns:a16="http://schemas.microsoft.com/office/drawing/2014/main" id="{5166BBE5-C86E-3E87-A7C5-F29BE64D716D}"/>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5C4391E8-E519-220E-82C7-E7E85659A4E4}"/>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F3E219A7-8ADF-6CBF-872C-AEF07B645E6D}"/>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7" name="TextBox 16">
            <a:extLst>
              <a:ext uri="{FF2B5EF4-FFF2-40B4-BE49-F238E27FC236}">
                <a16:creationId xmlns:a16="http://schemas.microsoft.com/office/drawing/2014/main" id="{D9CCAE72-315B-6DC4-6ED3-6C32104BB037}"/>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9F6B1C01-19BD-7D67-4E40-88818E2139B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7C973916-701B-92E4-FA4C-28A5746F5C0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9EC7BAF-A22F-6738-77B4-F51F884ED11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09B52E8E-3458-89EB-4F51-F878723BC94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42725981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6.3 - Cover K Pink1">
    <p:spTree>
      <p:nvGrpSpPr>
        <p:cNvPr id="1" name=""/>
        <p:cNvGrpSpPr/>
        <p:nvPr/>
      </p:nvGrpSpPr>
      <p:grpSpPr>
        <a:xfrm>
          <a:off x="0" y="0"/>
          <a:ext cx="0" cy="0"/>
          <a:chOff x="0" y="0"/>
          <a:chExt cx="0" cy="0"/>
        </a:xfrm>
      </p:grpSpPr>
      <p:pic>
        <p:nvPicPr>
          <p:cNvPr id="4" name="Picture 3" descr="Background pattern&#10;&#10;Description automatically generated">
            <a:extLst>
              <a:ext uri="{FF2B5EF4-FFF2-40B4-BE49-F238E27FC236}">
                <a16:creationId xmlns:a16="http://schemas.microsoft.com/office/drawing/2014/main" id="{DBC0B63B-5EB2-C517-FFAF-0A5B2B5AB93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 name="Graphic 1">
            <a:extLst>
              <a:ext uri="{FF2B5EF4-FFF2-40B4-BE49-F238E27FC236}">
                <a16:creationId xmlns:a16="http://schemas.microsoft.com/office/drawing/2014/main" id="{D2D54FC7-5739-CC9E-8372-80A8BD5BD489}"/>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FADBBE10-EF5A-37AA-E18F-F9B27AA61FED}"/>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0DF69E35-608B-F57E-3615-F9FB9D11DD83}"/>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8" name="TextBox 17">
            <a:extLst>
              <a:ext uri="{FF2B5EF4-FFF2-40B4-BE49-F238E27FC236}">
                <a16:creationId xmlns:a16="http://schemas.microsoft.com/office/drawing/2014/main" id="{5AE80B1C-FD35-F288-8BFD-2F827D4C51A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0B17E72F-0CE2-D4D0-F696-BEA9F83EF5A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AB4C8BF7-D6EA-CCEB-F116-FF8F674A1D0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E9AF91A8-961C-A189-FE31-F20EC310BEB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8A738E76-8413-40D6-063B-2820F6CFF9A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232295976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6.4 - Cover K Whit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3F4EAC9-01A1-ED6A-B271-D7FC17A6D29B}"/>
              </a:ext>
            </a:extLst>
          </p:cNvPr>
          <p:cNvPicPr>
            <a:picLocks noChangeAspect="1"/>
          </p:cNvPicPr>
          <p:nvPr userDrawn="1"/>
        </p:nvPicPr>
        <p:blipFill rotWithShape="1">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r="18798"/>
          <a:stretch/>
        </p:blipFill>
        <p:spPr>
          <a:xfrm>
            <a:off x="6622168" y="0"/>
            <a:ext cx="5569832" cy="6859200"/>
          </a:xfrm>
          <a:prstGeom prst="rect">
            <a:avLst/>
          </a:prstGeom>
        </p:spPr>
      </p:pic>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685118FE-3A69-7878-D9BB-1A3313720C8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0F609D8D-5CB0-9FB7-12C3-CB2F81E54A6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A6A581A3-9568-ADAA-C577-D08AD5F1385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D145F5C9-B0D7-A853-4611-85FEFFB68BA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descr="Logo, icon&#10;&#10;Description automatically generated">
            <a:extLst>
              <a:ext uri="{FF2B5EF4-FFF2-40B4-BE49-F238E27FC236}">
                <a16:creationId xmlns:a16="http://schemas.microsoft.com/office/drawing/2014/main" id="{BA046007-1DC4-1745-E53F-44DBA02352F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34763225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7.1 - Divider BlueGreen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98BFE0-FEAC-1333-6BF5-7907903B2D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A3AA9E6A-3B54-EBA8-25AB-52211D52F5EA}"/>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0FC82D3C-5CAB-DDEA-5BAD-0CE49311B44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F275CFF-10A6-01B8-606D-73D7A564226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5" name="Text Placeholder 42">
            <a:extLst>
              <a:ext uri="{FF2B5EF4-FFF2-40B4-BE49-F238E27FC236}">
                <a16:creationId xmlns:a16="http://schemas.microsoft.com/office/drawing/2014/main" id="{56D07526-2E9D-2AAD-EE94-167EEE1536FF}"/>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A1FCC02C-AA09-DFA8-8A6A-D41F9345081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D866DE3A-281D-02D9-50A0-99ED34A25CC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94670056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7.2 - Divider BlueGreen3">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82BC244E-62D2-236F-4DC8-EEBFE9AF287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8" name="Text Placeholder 42">
            <a:extLst>
              <a:ext uri="{FF2B5EF4-FFF2-40B4-BE49-F238E27FC236}">
                <a16:creationId xmlns:a16="http://schemas.microsoft.com/office/drawing/2014/main" id="{BE7F6530-2B80-C2AA-C92D-861D7E8FD530}"/>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4FBBDEB0-7315-4214-F9C8-48DBCC502C8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3976F6A6-5835-91B8-5B94-A197DCCF65D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146445DD-AC0A-C4BA-03CB-A346CF3E927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ED3C240-0F31-AD4B-E3D6-E9E2DFC4EB67}"/>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486B89F7-9432-082D-BED0-08937C3ACD3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5BE6BFC3-C804-C0C6-5C51-BE68C6F4228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84371441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7.3 - Divider BlueGreen5">
    <p:spTree>
      <p:nvGrpSpPr>
        <p:cNvPr id="1" name=""/>
        <p:cNvGrpSpPr/>
        <p:nvPr/>
      </p:nvGrpSpPr>
      <p:grpSpPr>
        <a:xfrm>
          <a:off x="0" y="0"/>
          <a:ext cx="0" cy="0"/>
          <a:chOff x="0" y="0"/>
          <a:chExt cx="0" cy="0"/>
        </a:xfrm>
      </p:grpSpPr>
      <p:pic>
        <p:nvPicPr>
          <p:cNvPr id="5" name="Picture 4" descr="Background pattern&#10;&#10;Description automatically generated">
            <a:extLst>
              <a:ext uri="{FF2B5EF4-FFF2-40B4-BE49-F238E27FC236}">
                <a16:creationId xmlns:a16="http://schemas.microsoft.com/office/drawing/2014/main" id="{1ACC9534-D4F4-B471-C3A8-8380F72B349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BC0FACD4-71CC-9E35-CDCC-22C146E52E9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823572DF-299F-8B6C-1E42-1A659F39324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F374EA10-DD32-7823-1E8C-8A5B6454CCC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B4CCFE40-D40E-A7E0-E99F-0E9E3E7CA3B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01BDB6A4-726E-6BA2-355D-D90953F3B74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5F3E4E5B-ADBB-7BA4-987C-43F00755E1A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7550176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7.4 - Divider PurpleBlue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E01D2CA4-939C-12C2-DF49-53BE4EA4C10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0DABAD96-0284-76FF-D804-48E7FFCA08F5}"/>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06758511-3EE8-4852-763C-F4F1187FA97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486F512-1927-A0E0-A1C2-79941992D99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8DEF3F3-5CAD-FC0C-F7DD-4A913E71BD3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E790325F-8E1D-1D8F-9BC9-63324BDA4002}"/>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20D065A-4A42-3865-710B-715654120A9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5C23879-9F0A-CFAC-879C-4C43FD86821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2971054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7.5 - Divider BluePink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FEF07AED-C885-0A94-CE92-AD0235762C6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5" name="Text Placeholder 42">
            <a:extLst>
              <a:ext uri="{FF2B5EF4-FFF2-40B4-BE49-F238E27FC236}">
                <a16:creationId xmlns:a16="http://schemas.microsoft.com/office/drawing/2014/main" id="{513AFDC9-7EA7-195A-AC21-49A03E74AF4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35665458-1735-3CFE-DB60-E654932058A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B8EAC92C-19BC-5473-42AE-69A4371F2861}"/>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E2C85D8-A3A9-A261-1BCF-70106685644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21CF4E5-14D0-7A0E-3B20-BC1F539D9BFE}"/>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E794429-E1E5-FB82-7B63-0A97C77621D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49BC0B2-8B2B-3EBB-CDB6-0EAE64E0E7C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71440072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7.6 - Divider Pink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D17980-F783-4A27-87DC-42985B6C77B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522A1BAB-7805-96E3-BA5B-3E8B26D8AA37}"/>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C4C0B05D-F0F7-15F3-4C17-EED0899C7AF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9857B24-CF63-C1F9-6FBA-114618B4AAB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9CB5136-AC36-0B5E-A3A9-2D5B7B13CF9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45165F11-ACDF-2F83-0960-B38B3A16DAD5}"/>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2EB5D894-EDB4-4163-1A2E-B13CED147E53}"/>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285EBC4A-70BE-D7C6-A8B6-A6C85F11F90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9508399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7.7 - Divider Orange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734BF0FE-66B0-30DC-7C7E-0C60AC62082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4" name="Text Placeholder 42">
            <a:extLst>
              <a:ext uri="{FF2B5EF4-FFF2-40B4-BE49-F238E27FC236}">
                <a16:creationId xmlns:a16="http://schemas.microsoft.com/office/drawing/2014/main" id="{915CB6A6-17E7-3E33-E841-80BBD7036B36}"/>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849B4D71-50D7-0502-EF7E-5AAF38E865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256B84B-A641-FF3B-04A5-7875DE216F3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B5AF0F0-B002-CB3B-6A1E-945904E802D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BFB53FB7-1753-80D0-CDCE-10664D914FBD}"/>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314D2010-F695-A04D-EBC0-D0464C30EF4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C8C803A5-93F7-94B2-027A-41E534EBF95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405313638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8.1 - End BlueGreen2">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3A71822B-C712-A4E6-919B-405BA7F21A5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6C29765E-7F2C-B17B-0281-56F38BFCD18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06873871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8.3 - End BlueGreen5">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08FFEE3-9429-FB20-94DA-036B3BA28AF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CEC9323-964A-6961-8E6A-B60A79C0C22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23875758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8.4 - End PurpleBlue2">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3465075C-3A04-8F21-2D96-F11146239A8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316DE3BF-7777-0490-C2A7-5AFB00C6E1D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6628532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8.5 - End BluePink1">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39F40A4-C4FE-CE81-4DDE-1096BF05B17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D9A120A1-103E-9D5F-7D1D-6423CDFF9DA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84226974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8.6 - End Pink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21011232-FEC1-556E-5D81-2627C46F6D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1EE57701-5D93-7321-C659-BD0776DA8EB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84955029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8.7 - Divider Orange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AC7C13A4-489B-3211-82FF-868A0A256E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4CD636C-50BC-813D-8C70-C021A3721ED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16610652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8.2 - End BlueGreen3">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0EF89375-E21D-F63F-06A8-C59355F1254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8C930ED2-8DA8-EDDB-F5FC-06193DCAC90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25529657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8.8 - Divider White">
    <p:bg>
      <p:bgPr>
        <a:solidFill>
          <a:schemeClr val="bg1"/>
        </a:solidFill>
        <a:effectLst/>
      </p:bgPr>
    </p:bg>
    <p:spTree>
      <p:nvGrpSpPr>
        <p:cNvPr id="1" name=""/>
        <p:cNvGrpSpPr/>
        <p:nvPr/>
      </p:nvGrpSpPr>
      <p:grpSpPr>
        <a:xfrm>
          <a:off x="0" y="0"/>
          <a:ext cx="0" cy="0"/>
          <a:chOff x="0" y="0"/>
          <a:chExt cx="0" cy="0"/>
        </a:xfrm>
      </p:grpSpPr>
      <p:pic>
        <p:nvPicPr>
          <p:cNvPr id="2" name="Picture 1" descr="Logo, icon&#10;&#10;Description automatically generated">
            <a:extLst>
              <a:ext uri="{FF2B5EF4-FFF2-40B4-BE49-F238E27FC236}">
                <a16:creationId xmlns:a16="http://schemas.microsoft.com/office/drawing/2014/main" id="{B06A5004-39BB-9DF5-83D9-F6646DB51C5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26828269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slideLayout" Target="../slideLayouts/slideLayout51.xml"/><Relationship Id="rId41" Type="http://schemas.openxmlformats.org/officeDocument/2006/relationships/slideLayout" Target="../slideLayouts/slideLayout52.xml"/><Relationship Id="rId42" Type="http://schemas.openxmlformats.org/officeDocument/2006/relationships/slideLayout" Target="../slideLayouts/slideLayout53.xml"/><Relationship Id="rId43" Type="http://schemas.openxmlformats.org/officeDocument/2006/relationships/slideLayout" Target="../slideLayouts/slideLayout54.xml"/><Relationship Id="rId44" Type="http://schemas.openxmlformats.org/officeDocument/2006/relationships/slideLayout" Target="../slideLayouts/slideLayout55.xml"/><Relationship Id="rId45" Type="http://schemas.openxmlformats.org/officeDocument/2006/relationships/slideLayout" Target="../slideLayouts/slideLayout56.xml"/><Relationship Id="rId46" Type="http://schemas.openxmlformats.org/officeDocument/2006/relationships/slideLayout" Target="../slideLayouts/slideLayout57.xml"/><Relationship Id="rId47" Type="http://schemas.openxmlformats.org/officeDocument/2006/relationships/slideLayout" Target="../slideLayouts/slideLayout58.xml"/><Relationship Id="rId48" Type="http://schemas.openxmlformats.org/officeDocument/2006/relationships/slideLayout" Target="../slideLayouts/slideLayout59.xml"/><Relationship Id="rId49" Type="http://schemas.openxmlformats.org/officeDocument/2006/relationships/slideLayout" Target="../slideLayouts/slideLayout60.xml"/><Relationship Id="rId5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756DB1-1893-2588-3EB8-FB8AEC9810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IT"/>
          </a:p>
        </p:txBody>
      </p:sp>
      <p:sp>
        <p:nvSpPr>
          <p:cNvPr id="3" name="Text Placeholder 2">
            <a:extLst>
              <a:ext uri="{FF2B5EF4-FFF2-40B4-BE49-F238E27FC236}">
                <a16:creationId xmlns:a16="http://schemas.microsoft.com/office/drawing/2014/main" id="{9E5CE88F-CAB3-40A4-697A-C1BC74A6BF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22056322-A1B2-D5AA-9535-70C236EA1527}"/>
              </a:ext>
            </a:extLst>
          </p:cNvPr>
          <p:cNvSpPr>
            <a:spLocks noGrp="1"/>
          </p:cNvSpPr>
          <p:nvPr>
            <p:ph type="dt" sz="half" idx="2"/>
          </p:nvPr>
        </p:nvSpPr>
        <p:spPr>
          <a:xfrm>
            <a:off x="8610600" y="6356349"/>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B42A8EC-065D-994A-8D55-A1E577DFD1A3}" type="datetime1">
              <a:rPr lang="it-IT" smtClean="0"/>
              <a:t>22/08/26</a:t>
            </a:fld>
            <a:endParaRPr lang="en-IT"/>
          </a:p>
        </p:txBody>
      </p:sp>
      <p:sp>
        <p:nvSpPr>
          <p:cNvPr id="5" name="Footer Placeholder 4">
            <a:extLst>
              <a:ext uri="{FF2B5EF4-FFF2-40B4-BE49-F238E27FC236}">
                <a16:creationId xmlns:a16="http://schemas.microsoft.com/office/drawing/2014/main" id="{1017BD14-B613-799B-7CE1-EAF8F54683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7D8D6CF9-F404-7790-F601-47A49BD79627}"/>
              </a:ext>
            </a:extLst>
          </p:cNvPr>
          <p:cNvSpPr>
            <a:spLocks noGrp="1"/>
          </p:cNvSpPr>
          <p:nvPr>
            <p:ph type="sldNum" sz="quarter" idx="4"/>
          </p:nvPr>
        </p:nvSpPr>
        <p:spPr>
          <a:xfrm>
            <a:off x="0" y="6492875"/>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algn="l"/>
            <a:fld id="{A5A6EFC7-8735-7E44-BFA7-969B9F5B451D}" type="slidenum">
              <a:rPr lang="en-IT" smtClean="0"/>
              <a:pPr algn="l"/>
              <a:t>‹#›</a:t>
            </a:fld>
            <a:endParaRPr lang="en-IT" dirty="0"/>
          </a:p>
        </p:txBody>
      </p:sp>
    </p:spTree>
    <p:extLst>
      <p:ext uri="{BB962C8B-B14F-4D97-AF65-F5344CB8AC3E}">
        <p14:creationId xmlns:p14="http://schemas.microsoft.com/office/powerpoint/2010/main" val="3473743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99021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Lst>
  <p:hf sldNum="0" hd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png"/><Relationship Id="rId7" Type="http://schemas.microsoft.com/office/2007/relationships/hdphoto" Target="../media/hdphoto2.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54;p13">
            <a:extLst>
              <a:ext uri="{FF2B5EF4-FFF2-40B4-BE49-F238E27FC236}">
                <a16:creationId xmlns:a16="http://schemas.microsoft.com/office/drawing/2014/main" id="{A35DDA13-8241-05A3-C923-0BBF4F839A5C}"/>
              </a:ext>
            </a:extLst>
          </p:cNvPr>
          <p:cNvSpPr txBox="1">
            <a:spLocks/>
          </p:cNvSpPr>
          <p:nvPr/>
        </p:nvSpPr>
        <p:spPr>
          <a:xfrm>
            <a:off x="415600" y="1080647"/>
            <a:ext cx="11360800" cy="193084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p:txBody>
      </p:sp>
      <p:pic>
        <p:nvPicPr>
          <p:cNvPr id="6" name="Google Shape;56;p13">
            <a:extLst>
              <a:ext uri="{FF2B5EF4-FFF2-40B4-BE49-F238E27FC236}">
                <a16:creationId xmlns:a16="http://schemas.microsoft.com/office/drawing/2014/main" id="{8BA00BCC-45DB-91CE-DF96-CEC4B49F424B}"/>
              </a:ext>
            </a:extLst>
          </p:cNvPr>
          <p:cNvPicPr preferRelativeResize="0"/>
          <p:nvPr/>
        </p:nvPicPr>
        <p:blipFill>
          <a:blip r:embed="rId3">
            <a:alphaModFix/>
          </a:blip>
          <a:stretch>
            <a:fillRect/>
          </a:stretch>
        </p:blipFill>
        <p:spPr>
          <a:xfrm>
            <a:off x="0" y="0"/>
            <a:ext cx="12192000" cy="1056800"/>
          </a:xfrm>
          <a:prstGeom prst="rect">
            <a:avLst/>
          </a:prstGeom>
          <a:noFill/>
          <a:ln>
            <a:noFill/>
          </a:ln>
        </p:spPr>
      </p:pic>
      <p:pic>
        <p:nvPicPr>
          <p:cNvPr id="7" name="Google Shape;58;p13">
            <a:extLst>
              <a:ext uri="{FF2B5EF4-FFF2-40B4-BE49-F238E27FC236}">
                <a16:creationId xmlns:a16="http://schemas.microsoft.com/office/drawing/2014/main" id="{3E80D904-D97B-158A-561E-FD0FD0F8D4E1}"/>
              </a:ext>
            </a:extLst>
          </p:cNvPr>
          <p:cNvPicPr preferRelativeResize="0"/>
          <p:nvPr/>
        </p:nvPicPr>
        <p:blipFill>
          <a:blip r:embed="rId3">
            <a:alphaModFix/>
          </a:blip>
          <a:stretch>
            <a:fillRect/>
          </a:stretch>
        </p:blipFill>
        <p:spPr>
          <a:xfrm>
            <a:off x="0" y="6329200"/>
            <a:ext cx="12192000" cy="528800"/>
          </a:xfrm>
          <a:prstGeom prst="rect">
            <a:avLst/>
          </a:prstGeom>
          <a:noFill/>
          <a:ln>
            <a:noFill/>
          </a:ln>
        </p:spPr>
      </p:pic>
      <p:sp>
        <p:nvSpPr>
          <p:cNvPr id="8" name="Google Shape;59;p13">
            <a:extLst>
              <a:ext uri="{FF2B5EF4-FFF2-40B4-BE49-F238E27FC236}">
                <a16:creationId xmlns:a16="http://schemas.microsoft.com/office/drawing/2014/main" id="{6380BA05-8101-1416-1C7B-621656F337EF}"/>
              </a:ext>
            </a:extLst>
          </p:cNvPr>
          <p:cNvSpPr txBox="1"/>
          <p:nvPr/>
        </p:nvSpPr>
        <p:spPr>
          <a:xfrm>
            <a:off x="520504" y="4956291"/>
            <a:ext cx="11360800" cy="989974"/>
          </a:xfrm>
          <a:prstGeom prst="rect">
            <a:avLst/>
          </a:prstGeom>
          <a:noFill/>
          <a:ln>
            <a:noFill/>
          </a:ln>
        </p:spPr>
        <p:txBody>
          <a:bodyPr spcFirstLastPara="1" wrap="square" lIns="121900" tIns="121900" rIns="121900" bIns="121900" numCol="1" anchor="t" anchorCtr="0">
            <a:spAutoFit/>
          </a:bodyPr>
          <a:lstStyle/>
          <a:p/>
        </p:txBody>
      </p:sp>
      <p:sp>
        <p:nvSpPr>
          <p:cNvPr id="9" name="Google Shape;60;p13">
            <a:extLst>
              <a:ext uri="{FF2B5EF4-FFF2-40B4-BE49-F238E27FC236}">
                <a16:creationId xmlns:a16="http://schemas.microsoft.com/office/drawing/2014/main" id="{4D143047-4F4D-CBE4-149B-59898FF003CA}"/>
              </a:ext>
            </a:extLst>
          </p:cNvPr>
          <p:cNvSpPr txBox="1"/>
          <p:nvPr/>
        </p:nvSpPr>
        <p:spPr>
          <a:xfrm>
            <a:off x="5247000" y="6329200"/>
            <a:ext cx="1698000" cy="492402"/>
          </a:xfrm>
          <a:prstGeom prst="rect">
            <a:avLst/>
          </a:prstGeom>
          <a:noFill/>
          <a:ln>
            <a:noFill/>
          </a:ln>
        </p:spPr>
        <p:txBody>
          <a:bodyPr spcFirstLastPara="1" wrap="square" lIns="121900" tIns="121900" rIns="121900" bIns="121900" anchor="t" anchorCtr="0">
            <a:spAutoFit/>
          </a:bodyPr>
          <a:lstStyle/>
          <a:p>
            <a:pPr algn="ctr">
              <a:defRPr sz="1400" b="1">
                <a:solidFill>
                  <a:srgbClr val="FFFFFF"/>
                </a:solidFill>
                <a:latin typeface="Arial"/>
              </a:defRPr>
            </a:pPr>
            <a:r>
              <a:t>September 2026</a:t>
            </a:r>
          </a:p>
        </p:txBody>
      </p:sp>
      <p:pic>
        <p:nvPicPr>
          <p:cNvPr id="10" name="Picture 4" descr="ccsiec | IEC">
            <a:extLst>
              <a:ext uri="{FF2B5EF4-FFF2-40B4-BE49-F238E27FC236}">
                <a16:creationId xmlns:a16="http://schemas.microsoft.com/office/drawing/2014/main" id="{2826A1DA-C070-4BFE-DA57-DFDBCFCA10B2}"/>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artisticPhotocopy trans="0"/>
                    </a14:imgEffect>
                  </a14:imgLayer>
                </a14:imgProps>
              </a:ext>
              <a:ext uri="{28A0092B-C50C-407E-A947-70E740481C1C}">
                <a14:useLocalDpi xmlns:a14="http://schemas.microsoft.com/office/drawing/2010/main" val="0"/>
              </a:ext>
            </a:extLst>
          </a:blip>
          <a:srcRect/>
          <a:stretch>
            <a:fillRect/>
          </a:stretch>
        </p:blipFill>
        <p:spPr bwMode="auto">
          <a:xfrm>
            <a:off x="415600" y="118907"/>
            <a:ext cx="3473753" cy="818985"/>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1FAD4C78-B2D7-F092-3028-AA3A913DA2E3}"/>
              </a:ext>
            </a:extLst>
          </p:cNvPr>
          <p:cNvCxnSpPr>
            <a:cxnSpLocks/>
          </p:cNvCxnSpPr>
          <p:nvPr/>
        </p:nvCxnSpPr>
        <p:spPr>
          <a:xfrm>
            <a:off x="3097877" y="3111515"/>
            <a:ext cx="5996247" cy="0"/>
          </a:xfrm>
          <a:prstGeom prst="line">
            <a:avLst/>
          </a:prstGeom>
          <a:ln w="38100">
            <a:solidFill>
              <a:srgbClr val="0F2C53"/>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F01073B-477C-AB84-4671-1F596BAA2C96}"/>
              </a:ext>
            </a:extLst>
          </p:cNvPr>
          <p:cNvSpPr txBox="1"/>
          <p:nvPr/>
        </p:nvSpPr>
        <p:spPr>
          <a:xfrm>
            <a:off x="6316173" y="266789"/>
            <a:ext cx="5875827" cy="523220"/>
          </a:xfrm>
          <a:prstGeom prst="rect">
            <a:avLst/>
          </a:prstGeom>
          <a:noFill/>
        </p:spPr>
        <p:txBody>
          <a:bodyPr wrap="square" rtlCol="0">
            <a:spAutoFit/>
          </a:bodyPr>
          <a:lstStyle/>
          <a:p>
            <a:pPr algn="ctr"/>
            <a:r>
              <a:rPr lang="it-IT" altLang="en-US" sz="1400" dirty="0">
                <a:solidFill>
                  <a:schemeClr val="bg1"/>
                </a:solidFill>
              </a:rPr>
              <a:t>Dipartimento di Elettronica, Informazione e Bioingegneria</a:t>
            </a:r>
          </a:p>
          <a:p>
            <a:pPr algn="ctr"/>
            <a:r>
              <a:rPr lang="en-US" altLang="en-US" sz="1400" dirty="0" err="1">
                <a:solidFill>
                  <a:schemeClr val="bg1"/>
                </a:solidFill>
              </a:rPr>
              <a:t>Politecnico</a:t>
            </a:r>
            <a:r>
              <a:rPr lang="en-US" altLang="en-US" sz="1400" dirty="0">
                <a:solidFill>
                  <a:schemeClr val="bg1"/>
                </a:solidFill>
              </a:rPr>
              <a:t> </a:t>
            </a:r>
            <a:r>
              <a:rPr lang="en-US" altLang="en-US" sz="1400">
                <a:solidFill>
                  <a:schemeClr val="bg1"/>
                </a:solidFill>
              </a:rPr>
              <a:t>di Milano</a:t>
            </a:r>
            <a:endParaRPr lang="it-IT" altLang="en-US" sz="1400" dirty="0">
              <a:solidFill>
                <a:schemeClr val="bg1"/>
              </a:solidFill>
            </a:endParaRPr>
          </a:p>
        </p:txBody>
      </p:sp>
      <p:sp>
        <p:nvSpPr>
          <p:cNvPr id="13" name="TextBox 12"/>
          <p:cNvSpPr txBox="1"/>
          <p:nvPr/>
        </p:nvSpPr>
        <p:spPr>
          <a:xfrm>
            <a:off x="731520" y="1371600"/>
            <a:ext cx="10698480" cy="2011680"/>
          </a:xfrm>
          <a:prstGeom prst="rect">
            <a:avLst/>
          </a:prstGeom>
          <a:noFill/>
        </p:spPr>
        <p:txBody>
          <a:bodyPr wrap="square">
            <a:spAutoFit/>
          </a:bodyPr>
          <a:lstStyle/>
          <a:p>
            <a:pPr algn="ctr">
              <a:defRPr sz="3200" b="1">
                <a:solidFill>
                  <a:srgbClr val="85200C"/>
                </a:solidFill>
                <a:latin typeface="Titillium Web SemiBold"/>
              </a:defRPr>
            </a:pPr>
            <a:r>
              <a:t>LLM-Assisted Risk-Adaptive Neurosymbolic Intent Planning</a:t>
            </a:r>
            <a:br/>
            <a:r>
              <a:t>for Optical Networks</a:t>
            </a:r>
          </a:p>
          <a:p>
            <a:pPr algn="ctr">
              <a:defRPr sz="1800">
                <a:solidFill>
                  <a:srgbClr val="0F2C53"/>
                </a:solidFill>
                <a:latin typeface="Arial"/>
              </a:defRPr>
            </a:pPr>
            <a:r>
              <a:t>A Pre-Deployment Decision Mechanism with Joint Semantic and QoT Assessment</a:t>
            </a:r>
          </a:p>
        </p:txBody>
      </p:sp>
      <p:sp>
        <p:nvSpPr>
          <p:cNvPr id="14" name="TextBox 13"/>
          <p:cNvSpPr txBox="1"/>
          <p:nvPr/>
        </p:nvSpPr>
        <p:spPr>
          <a:xfrm>
            <a:off x="2286000" y="3931920"/>
            <a:ext cx="7589520" cy="2011680"/>
          </a:xfrm>
          <a:prstGeom prst="rect">
            <a:avLst/>
          </a:prstGeom>
          <a:noFill/>
        </p:spPr>
        <p:txBody>
          <a:bodyPr wrap="square">
            <a:spAutoFit/>
          </a:bodyPr>
          <a:lstStyle/>
          <a:p>
            <a:pPr algn="ctr">
              <a:defRPr sz="1600" b="1">
                <a:solidFill>
                  <a:srgbClr val="222222"/>
                </a:solidFill>
                <a:latin typeface="Arial"/>
              </a:defRPr>
            </a:pPr>
            <a:r>
              <a:t>Candidate: Felipe Abadía</a:t>
            </a:r>
          </a:p>
          <a:p>
            <a:pPr algn="ctr">
              <a:defRPr sz="1500" b="1">
                <a:solidFill>
                  <a:srgbClr val="0F2C53"/>
                </a:solidFill>
                <a:latin typeface="Arial"/>
              </a:defRPr>
            </a:pPr>
            <a:r>
              <a:t>Academic Advisor: Prof. Massimo Tornatore</a:t>
            </a:r>
          </a:p>
          <a:p>
            <a:pPr algn="ctr">
              <a:defRPr sz="1300">
                <a:solidFill>
                  <a:srgbClr val="5A6B82"/>
                </a:solidFill>
                <a:latin typeface="Arial"/>
              </a:defRPr>
            </a:pPr>
            <a:r>
              <a:t>Dipartimento di Elettronica, Informazione e Bioingegneria — Politecnico di Milano</a:t>
            </a:r>
          </a:p>
        </p:txBody>
      </p:sp>
    </p:spTree>
    <p:extLst>
      <p:ext uri="{BB962C8B-B14F-4D97-AF65-F5344CB8AC3E}">
        <p14:creationId xmlns:p14="http://schemas.microsoft.com/office/powerpoint/2010/main" val="3934854283"/>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OUTLINE</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188720"/>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188720"/>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[01] Bottleneck</a:t>
            </a:r>
          </a:p>
        </p:txBody>
      </p:sp>
      <p:sp>
        <p:nvSpPr>
          <p:cNvPr id="9" name="TextBox 8"/>
          <p:cNvSpPr txBox="1"/>
          <p:nvPr/>
        </p:nvSpPr>
        <p:spPr>
          <a:xfrm>
            <a:off x="2880360" y="1188720"/>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The Optical Intent Planning Bottleneck</a:t>
            </a:r>
          </a:p>
          <a:p>
            <a:pPr>
              <a:defRPr sz="1200">
                <a:solidFill>
                  <a:srgbClr val="222222"/>
                </a:solidFill>
              </a:defRPr>
            </a:pPr>
            <a:r>
              <a:rPr sz="1200" b="0">
                <a:solidFill>
                  <a:srgbClr val="222222"/>
                </a:solidFill>
                <a:latin typeface="Arial"/>
              </a:rPr>
              <a:t>Physical-layer constraints, token saturation, and hallucinated routing in optical backbones</a:t>
            </a:r>
          </a:p>
        </p:txBody>
      </p:sp>
      <p:sp>
        <p:nvSpPr>
          <p:cNvPr id="10" name="Rounded Rectangle 9"/>
          <p:cNvSpPr/>
          <p:nvPr/>
        </p:nvSpPr>
        <p:spPr>
          <a:xfrm>
            <a:off x="731520" y="2242108"/>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2242108"/>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[02] Architecture</a:t>
            </a:r>
          </a:p>
        </p:txBody>
      </p:sp>
      <p:sp>
        <p:nvSpPr>
          <p:cNvPr id="12" name="TextBox 11"/>
          <p:cNvSpPr txBox="1"/>
          <p:nvPr/>
        </p:nvSpPr>
        <p:spPr>
          <a:xfrm>
            <a:off x="2880360" y="2242108"/>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Neurosymbolic Intent Planning Pipeline</a:t>
            </a:r>
          </a:p>
          <a:p>
            <a:pPr>
              <a:defRPr sz="1200">
                <a:solidFill>
                  <a:srgbClr val="222222"/>
                </a:solidFill>
              </a:defRPr>
            </a:pPr>
            <a:r>
              <a:rPr sz="1200" b="0">
                <a:solidFill>
                  <a:srgbClr val="222222"/>
                </a:solidFill>
                <a:latin typeface="Arial"/>
              </a:rPr>
              <a:t>Decoupling probabilistic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200" b="0">
                <a:solidFill>
                  <a:srgbClr val="222222"/>
                </a:solidFill>
                <a:latin typeface="Arial"/>
              </a:rPr>
              <a:t>) from deterministic solvers and physics tools</a:t>
            </a:r>
          </a:p>
        </p:txBody>
      </p:sp>
      <p:sp>
        <p:nvSpPr>
          <p:cNvPr id="13" name="Rounded Rectangle 12"/>
          <p:cNvSpPr/>
          <p:nvPr/>
        </p:nvSpPr>
        <p:spPr>
          <a:xfrm>
            <a:off x="731520" y="3295497"/>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3295497"/>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[03] Risk Gates</a:t>
            </a:r>
          </a:p>
        </p:txBody>
      </p:sp>
      <p:sp>
        <p:nvSpPr>
          <p:cNvPr id="15" name="TextBox 14"/>
          <p:cNvSpPr txBox="1"/>
          <p:nvPr/>
        </p:nvSpPr>
        <p:spPr>
          <a:xfrm>
            <a:off x="2880360" y="3295497"/>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Pre-Deployment Risk Gates: Semantic &amp; Physical Validation</a:t>
            </a:r>
          </a:p>
          <a:p>
            <a:pPr>
              <a:defRPr sz="1200">
                <a:solidFill>
                  <a:srgbClr val="222222"/>
                </a:solidFill>
              </a:defRPr>
            </a:pPr>
            <a:r>
              <a:rPr sz="1200" b="0">
                <a:solidFill>
                  <a:srgbClr val="222222"/>
                </a:solidFill>
                <a:latin typeface="Arial"/>
              </a:rPr>
              <a:t>Sequential fail-fast decision via Layer 1/2 semantic gate (</a:t>
            </a:r>
            <a14:m xmlns:a14="http://schemas.microsoft.com/office/drawing/2010/main" xmlns:m="http://schemas.openxmlformats.org/officeDocument/2006/math">
              <m:oMath>
                <m:sSub>
                  <m:e>
                    <m:r>
                      <m:t>U</m:t>
                    </m:r>
                  </m:e>
                  <m:sub>
                    <m:r>
                      <m:t>sem</m:t>
                    </m:r>
                  </m:sub>
                </m:sSub>
              </m:oMath>
            </a14:m>
            <a:r>
              <a:rPr sz="1200" b="0">
                <a:solidFill>
                  <a:srgbClr val="222222"/>
                </a:solidFill>
                <a:latin typeface="Arial"/>
              </a:rPr>
              <a:t>) and GN-model QoT gate (</a:t>
            </a:r>
            <a14:m xmlns:a14="http://schemas.microsoft.com/office/drawing/2010/main" xmlns:m="http://schemas.openxmlformats.org/officeDocument/2006/math">
              <m:oMath>
                <m:sSub>
                  <m:e>
                    <m:r>
                      <m:t>QoT</m:t>
                    </m:r>
                  </m:e>
                  <m:sub>
                    <m:r>
                      <m:t>valid</m:t>
                    </m:r>
                  </m:sub>
                </m:sSub>
              </m:oMath>
            </a14:m>
            <a:r>
              <a:rPr sz="1200" b="0">
                <a:solidFill>
                  <a:srgbClr val="222222"/>
                </a:solidFill>
                <a:latin typeface="Arial"/>
              </a:rPr>
              <a:t>)</a:t>
            </a:r>
          </a:p>
        </p:txBody>
      </p:sp>
      <p:sp>
        <p:nvSpPr>
          <p:cNvPr id="16" name="Rounded Rectangle 15"/>
          <p:cNvSpPr/>
          <p:nvPr/>
        </p:nvSpPr>
        <p:spPr>
          <a:xfrm>
            <a:off x="731520" y="4348886"/>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4348886"/>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[04] Evaluation</a:t>
            </a:r>
          </a:p>
        </p:txBody>
      </p:sp>
      <p:sp>
        <p:nvSpPr>
          <p:cNvPr id="18" name="TextBox 17"/>
          <p:cNvSpPr txBox="1"/>
          <p:nvPr/>
        </p:nvSpPr>
        <p:spPr>
          <a:xfrm>
            <a:off x="2880360" y="4348886"/>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Experimental Testbed Validation on 17-Node Optical Topology</a:t>
            </a:r>
          </a:p>
          <a:p>
            <a:pPr>
              <a:defRPr sz="1200">
                <a:solidFill>
                  <a:srgbClr val="222222"/>
                </a:solidFill>
              </a:defRPr>
            </a:pPr>
            <a:r>
              <a:rPr sz="1200" b="0">
                <a:solidFill>
                  <a:srgbClr val="222222"/>
                </a:solidFill>
                <a:latin typeface="Arial"/>
              </a:rPr>
              <a:t>Benchmarking safety (</a:t>
            </a:r>
            <a14:m xmlns:a14="http://schemas.microsoft.com/office/drawing/2010/main" xmlns:m="http://schemas.openxmlformats.org/officeDocument/2006/math">
              <m:oMath>
                <m:r>
                  <m:t>UAR = 100%</m:t>
                </m:r>
              </m:oMath>
            </a14:m>
            <a:r>
              <a:rPr sz="1200" b="0">
                <a:solidFill>
                  <a:srgbClr val="222222"/>
                </a:solidFill>
                <a:latin typeface="Arial"/>
              </a:rPr>
              <a:t>), human intervention reduction, and orchestration latency against baselines</a:t>
            </a:r>
          </a:p>
        </p:txBody>
      </p:sp>
      <p:sp>
        <p:nvSpPr>
          <p:cNvPr id="19" name="Rounded Rectangle 18"/>
          <p:cNvSpPr/>
          <p:nvPr/>
        </p:nvSpPr>
        <p:spPr>
          <a:xfrm>
            <a:off x="731520" y="5402275"/>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5402275"/>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[05] Outlook</a:t>
            </a:r>
          </a:p>
        </p:txBody>
      </p:sp>
      <p:sp>
        <p:nvSpPr>
          <p:cNvPr id="21" name="TextBox 20"/>
          <p:cNvSpPr txBox="1"/>
          <p:nvPr/>
        </p:nvSpPr>
        <p:spPr>
          <a:xfrm>
            <a:off x="2880360" y="5402275"/>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Key Takeaways, System Guarantees &amp; Future Directions</a:t>
            </a:r>
          </a:p>
          <a:p>
            <a:pPr>
              <a:defRPr sz="1200">
                <a:solidFill>
                  <a:srgbClr val="222222"/>
                </a:solidFill>
              </a:defRPr>
            </a:pPr>
            <a:r>
              <a:rPr sz="1200" b="0">
                <a:solidFill>
                  <a:srgbClr val="222222"/>
                </a:solidFill>
                <a:latin typeface="Arial"/>
              </a:rPr>
              <a:t>Summary of thesis contributions, operational guarantees, and extension to joint compute scheduling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Motivation: The Vision of Intent-Based Optical Networks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Titillium Web SemiBold"/>
              </a:defRPr>
            </a:pPr>
            <a:r>
              <a:t>⚠️ Operational Shift: Manual Bottleneck</a:t>
            </a:r>
          </a:p>
        </p:txBody>
      </p:sp>
      <p:sp>
        <p:nvSpPr>
          <p:cNvPr id="9" name="TextBox 8"/>
          <p:cNvSpPr txBox="1"/>
          <p:nvPr/>
        </p:nvSpPr>
        <p:spPr>
          <a:xfrm>
            <a:off x="868680" y="1892808"/>
            <a:ext cx="4846320" cy="2606040"/>
          </a:xfrm>
          <a:prstGeom prst="rect">
            <a:avLst/>
          </a:prstGeom>
          <a:noFill/>
        </p:spPr>
        <p:txBody>
          <a:bodyPr wrap="square">
            <a:spAutoFit/>
          </a:bodyPr>
          <a:lstStyle/>
          <a:p>
            <a:pPr>
              <a:spcBef>
                <a:spcPts val="0"/>
              </a:spcBef>
              <a:spcAft>
                <a:spcPts val="400"/>
              </a:spcAft>
              <a:defRPr sz="1150">
                <a:solidFill>
                  <a:srgbClr val="222222"/>
                </a:solidFill>
              </a:defRPr>
            </a:pPr>
            <a:r>
              <a:rPr sz="1150" b="0">
                <a:solidFill>
                  <a:srgbClr val="222222"/>
                </a:solidFill>
                <a:latin typeface="Arial"/>
              </a:rPr>
              <a:t>•  Optical backbones carry terabits of core traffic across ROADM networks</a:t>
            </a:r>
          </a:p>
          <a:p>
            <a:pPr>
              <a:spcBef>
                <a:spcPts val="0"/>
              </a:spcBef>
              <a:spcAft>
                <a:spcPts val="400"/>
              </a:spcAft>
              <a:defRPr sz="1150">
                <a:solidFill>
                  <a:srgbClr val="222222"/>
                </a:solidFill>
              </a:defRPr>
            </a:pPr>
            <a:r>
              <a:rPr sz="1150" b="0">
                <a:solidFill>
                  <a:srgbClr val="222222"/>
                </a:solidFill>
                <a:latin typeface="Arial"/>
              </a:rPr>
              <a:t>•  Traditional workflow: manual CLI scripts and complex RESTConf payloads</a:t>
            </a:r>
          </a:p>
          <a:p>
            <a:pPr>
              <a:spcBef>
                <a:spcPts val="0"/>
              </a:spcBef>
              <a:spcAft>
                <a:spcPts val="400"/>
              </a:spcAft>
              <a:defRPr sz="1150">
                <a:solidFill>
                  <a:srgbClr val="222222"/>
                </a:solidFill>
              </a:defRPr>
            </a:pPr>
            <a:r>
              <a:rPr sz="1150" b="0">
                <a:solidFill>
                  <a:srgbClr val="222222"/>
                </a:solidFill>
                <a:latin typeface="Arial"/>
              </a:rPr>
              <a:t>•  Human configuration delays lightpath provisioning by hours or days</a:t>
            </a:r>
          </a:p>
          <a:p>
            <a:pPr>
              <a:spcBef>
                <a:spcPts val="0"/>
              </a:spcBef>
              <a:spcAft>
                <a:spcPts val="400"/>
              </a:spcAft>
              <a:defRPr sz="1150">
                <a:solidFill>
                  <a:srgbClr val="222222"/>
                </a:solidFill>
              </a:defRPr>
            </a:pPr>
            <a:r>
              <a:rPr sz="1150" b="0">
                <a:solidFill>
                  <a:srgbClr val="222222"/>
                </a:solidFill>
                <a:latin typeface="Arial"/>
              </a:rPr>
              <a:t>•  High cognitive load and misconfiguration risk across multi-vendor links</a:t>
            </a:r>
          </a:p>
        </p:txBody>
      </p:sp>
      <p:sp>
        <p:nvSpPr>
          <p:cNvPr id="10" name="Rounded Rectangle 9"/>
          <p:cNvSpPr/>
          <p:nvPr/>
        </p:nvSpPr>
        <p:spPr>
          <a:xfrm>
            <a:off x="868680" y="4617720"/>
            <a:ext cx="4846320" cy="731520"/>
          </a:xfrm>
          <a:prstGeom prst="roundRect">
            <a:avLst/>
          </a:prstGeom>
          <a:solidFill>
            <a:srgbClr val="FFFFFF"/>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73152" lIns="109728" rIns="109728"/>
          <a:lstStyle/>
          <a:p>
            <a:pPr algn="ctr">
              <a:defRPr sz="1100" b="1">
                <a:solidFill>
                  <a:srgbClr val="85200C"/>
                </a:solidFill>
              </a:defRPr>
            </a:pPr>
            <a:r>
              <a:rPr sz="1100" b="1">
                <a:solidFill>
                  <a:srgbClr val="85200C"/>
                </a:solidFill>
                <a:latin typeface="Titillium Web SemiBold"/>
              </a:rPr>
              <a:t>🎯 Goal: Transition to autonomous Intent-Based Networking (IBN)</a:t>
            </a:r>
          </a:p>
        </p:txBody>
      </p:sp>
      <p:sp>
        <p:nvSpPr>
          <p:cNvPr id="11" name="Rounded Rectangle 10"/>
          <p:cNvSpPr/>
          <p:nvPr/>
        </p:nvSpPr>
        <p:spPr>
          <a:xfrm>
            <a:off x="621792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1792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latin typeface="Titillium Web SemiBold"/>
              </a:defRPr>
            </a:pPr>
            <a:r>
              <a:t>⚡ Operational Promise: Autonomous Vision</a:t>
            </a:r>
          </a:p>
        </p:txBody>
      </p:sp>
      <p:sp>
        <p:nvSpPr>
          <p:cNvPr id="13" name="TextBox 12"/>
          <p:cNvSpPr txBox="1"/>
          <p:nvPr/>
        </p:nvSpPr>
        <p:spPr>
          <a:xfrm>
            <a:off x="6400800" y="1892808"/>
            <a:ext cx="4846320" cy="2606040"/>
          </a:xfrm>
          <a:prstGeom prst="rect">
            <a:avLst/>
          </a:prstGeom>
          <a:noFill/>
        </p:spPr>
        <p:txBody>
          <a:bodyPr wrap="square">
            <a:spAutoFit/>
          </a:bodyPr>
          <a:lstStyle/>
          <a:p>
            <a:pPr>
              <a:spcBef>
                <a:spcPts val="0"/>
              </a:spcBef>
              <a:spcAft>
                <a:spcPts val="400"/>
              </a:spcAft>
              <a:defRPr sz="1150">
                <a:solidFill>
                  <a:srgbClr val="222222"/>
                </a:solidFill>
              </a:defRPr>
            </a:pPr>
            <a:r>
              <a:rPr sz="1150" b="0">
                <a:solidFill>
                  <a:srgbClr val="222222"/>
                </a:solidFill>
                <a:latin typeface="Arial"/>
              </a:rPr>
              <a:t>•  High-level abstraction: specify what is needed, not how to configure it</a:t>
            </a:r>
          </a:p>
          <a:p>
            <a:pPr>
              <a:spcBef>
                <a:spcPts val="0"/>
              </a:spcBef>
              <a:spcAft>
                <a:spcPts val="400"/>
              </a:spcAft>
              <a:defRPr sz="1150">
                <a:solidFill>
                  <a:srgbClr val="222222"/>
                </a:solidFill>
              </a:defRPr>
            </a:pPr>
            <a:r>
              <a:rPr sz="1150" b="0">
                <a:solidFill>
                  <a:srgbClr val="222222"/>
                </a:solidFill>
                <a:latin typeface="Arial"/>
              </a:rPr>
              <a:t>•  Realistic carrier intent: 'Establish a 400G lightpath between Milan and Rome avoiding link L2'</a:t>
            </a:r>
          </a:p>
          <a:p>
            <a:pPr>
              <a:spcBef>
                <a:spcPts val="0"/>
              </a:spcBef>
              <a:spcAft>
                <a:spcPts val="400"/>
              </a:spcAft>
              <a:defRPr sz="1150">
                <a:solidFill>
                  <a:srgbClr val="222222"/>
                </a:solidFill>
              </a:defRPr>
            </a:pPr>
            <a:r>
              <a:rPr sz="1150" b="0">
                <a:solidFill>
                  <a:srgbClr val="222222"/>
                </a:solidFill>
                <a:latin typeface="Arial"/>
              </a:rPr>
              <a:t>•  Autonomous translation into verified, collision-free physical lightpaths</a:t>
            </a:r>
          </a:p>
          <a:p>
            <a:pPr>
              <a:spcBef>
                <a:spcPts val="0"/>
              </a:spcBef>
              <a:spcAft>
                <a:spcPts val="400"/>
              </a:spcAft>
              <a:defRPr sz="1150">
                <a:solidFill>
                  <a:srgbClr val="222222"/>
                </a:solidFill>
              </a:defRPr>
            </a:pPr>
            <a:r>
              <a:rPr sz="1150" b="0">
                <a:solidFill>
                  <a:srgbClr val="222222"/>
                </a:solidFill>
                <a:latin typeface="Arial"/>
              </a:rPr>
              <a:t>•  Rapid sub-second provisioning reducing operational delays by orders of magnitude</a:t>
            </a:r>
          </a:p>
        </p:txBody>
      </p:sp>
      <p:sp>
        <p:nvSpPr>
          <p:cNvPr id="14" name="Rounded Rectangle 13"/>
          <p:cNvSpPr/>
          <p:nvPr/>
        </p:nvSpPr>
        <p:spPr>
          <a:xfrm>
            <a:off x="6400800" y="4617720"/>
            <a:ext cx="4846320" cy="731520"/>
          </a:xfrm>
          <a:prstGeom prst="roundRect">
            <a:avLst/>
          </a:prstGeom>
          <a:solidFill>
            <a:srgbClr val="FFFFFF"/>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73152" lIns="109728" rIns="109728"/>
          <a:lstStyle/>
          <a:p>
            <a:pPr algn="ctr">
              <a:defRPr sz="1100" b="1">
                <a:solidFill>
                  <a:srgbClr val="0F2C53"/>
                </a:solidFill>
              </a:defRPr>
            </a:pPr>
            <a:r>
              <a:rPr sz="1100" b="1">
                <a:solidFill>
                  <a:srgbClr val="0F2C53"/>
                </a:solidFill>
                <a:latin typeface="Titillium Web SemiBold"/>
              </a:rPr>
              <a:t>⚠️ Critical Challenge: Optical networks do not tolerate probabilistic errors</a:t>
            </a:r>
          </a:p>
        </p:txBody>
      </p:sp>
      <p:sp>
        <p:nvSpPr>
          <p:cNvPr id="15" name="Rounded Rectangle 14"/>
          <p:cNvSpPr/>
          <p:nvPr/>
        </p:nvSpPr>
        <p:spPr>
          <a:xfrm>
            <a:off x="685800" y="5669280"/>
            <a:ext cx="10744200" cy="5943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F2C53"/>
                </a:solidFill>
              </a:defRPr>
            </a:pPr>
            <a:r>
              <a:rPr sz="1200" b="1">
                <a:solidFill>
                  <a:srgbClr val="0F2C53"/>
                </a:solidFill>
                <a:latin typeface="Titillium Web SemiBold"/>
              </a:rPr>
              <a:t>Operational Flow:  [Operator NL Intent]  ➔  [AI Intent Orchestrator]  ➔  [Zero-Error Physical Lightpath]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Illustrative Failure: Why Standard LLMs Break Optical Backbones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150" b="1">
                <a:solidFill>
                  <a:srgbClr val="FFFFFF"/>
                </a:solidFill>
                <a:latin typeface="Titillium Web SemiBold"/>
              </a:defRPr>
            </a:pPr>
            <a:r>
              <a:t>⚠️ 1. Token Budget Saturation</a:t>
            </a:r>
          </a:p>
        </p:txBody>
      </p:sp>
      <p:sp>
        <p:nvSpPr>
          <p:cNvPr id="9" name="TextBox 8"/>
          <p:cNvSpPr txBox="1"/>
          <p:nvPr/>
        </p:nvSpPr>
        <p:spPr>
          <a:xfrm>
            <a:off x="4160520" y="1188720"/>
            <a:ext cx="7132320" cy="749808"/>
          </a:xfrm>
          <a:prstGeom prst="rect">
            <a:avLst/>
          </a:prstGeom>
          <a:noFill/>
        </p:spPr>
        <p:txBody>
          <a:bodyPr wrap="square" tIns="128016">
            <a:spAutoFit/>
          </a:bodyPr>
          <a:lstStyle/>
          <a:p>
            <a:pPr>
              <a:defRPr sz="1150">
                <a:solidFill>
                  <a:srgbClr val="222222"/>
                </a:solidFill>
              </a:defRPr>
            </a:pPr>
            <a:r>
              <a:rPr sz="1150" b="0">
                <a:solidFill>
                  <a:srgbClr val="222222"/>
                </a:solidFill>
                <a:latin typeface="Arial"/>
              </a:rPr>
              <a:t>Telemetry dumps trigger attention degradation, dropping critical route exclusions</a:t>
            </a:r>
          </a:p>
        </p:txBody>
      </p:sp>
      <p:sp>
        <p:nvSpPr>
          <p:cNvPr id="10" name="Rounded Rectangle 9"/>
          <p:cNvSpPr/>
          <p:nvPr/>
        </p:nvSpPr>
        <p:spPr>
          <a:xfrm>
            <a:off x="685800" y="2066544"/>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066544"/>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150" b="1">
                <a:solidFill>
                  <a:srgbClr val="FFFFFF"/>
                </a:solidFill>
                <a:latin typeface="Titillium Web SemiBold"/>
              </a:defRPr>
            </a:pPr>
            <a:r>
              <a:t>🚫 2. Hallucinated Physics</a:t>
            </a:r>
          </a:p>
        </p:txBody>
      </p:sp>
      <p:sp>
        <p:nvSpPr>
          <p:cNvPr id="12" name="TextBox 11"/>
          <p:cNvSpPr txBox="1"/>
          <p:nvPr/>
        </p:nvSpPr>
        <p:spPr>
          <a:xfrm>
            <a:off x="4160520" y="2066544"/>
            <a:ext cx="7132320" cy="749808"/>
          </a:xfrm>
          <a:prstGeom prst="rect">
            <a:avLst/>
          </a:prstGeom>
          <a:noFill/>
        </p:spPr>
        <p:txBody>
          <a:bodyPr wrap="square" tIns="128016">
            <a:spAutoFit/>
          </a:bodyPr>
          <a:lstStyle/>
          <a:p>
            <a:pPr>
              <a:defRPr sz="1150">
                <a:solidFill>
                  <a:srgbClr val="222222"/>
                </a:solidFill>
              </a:defRPr>
            </a:pPr>
            <a:r>
              <a:rPr sz="1150" b="0">
                <a:solidFill>
                  <a:srgbClr val="222222"/>
                </a:solidFill>
                <a:latin typeface="Arial"/>
              </a:rPr>
              <a:t>Probabilistic predictors lack wave propagation engines, violating non-linear </a:t>
            </a:r>
            <a14:m xmlns:a14="http://schemas.microsoft.com/office/drawing/2010/main" xmlns:m="http://schemas.openxmlformats.org/officeDocument/2006/math">
              <m:oMath>
                <m:r>
                  <m:t>GSNR</m:t>
                </m:r>
              </m:oMath>
            </a14:m>
            <a:r>
              <a:rPr sz="1150" b="0">
                <a:solidFill>
                  <a:srgbClr val="222222"/>
                </a:solidFill>
                <a:latin typeface="Arial"/>
              </a:rPr>
              <a:t> margins</a:t>
            </a:r>
          </a:p>
        </p:txBody>
      </p:sp>
      <p:sp>
        <p:nvSpPr>
          <p:cNvPr id="13" name="Rounded Rectangle 12"/>
          <p:cNvSpPr/>
          <p:nvPr/>
        </p:nvSpPr>
        <p:spPr>
          <a:xfrm>
            <a:off x="685800" y="2944368"/>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2944368"/>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150" b="1">
                <a:solidFill>
                  <a:srgbClr val="FFFFFF"/>
                </a:solidFill>
                <a:latin typeface="Titillium Web SemiBold"/>
              </a:defRPr>
            </a:pPr>
            <a:r>
              <a:t>🔄 3. Semantic Drift</a:t>
            </a:r>
          </a:p>
        </p:txBody>
      </p:sp>
      <p:sp>
        <p:nvSpPr>
          <p:cNvPr id="15" name="TextBox 14"/>
          <p:cNvSpPr txBox="1"/>
          <p:nvPr/>
        </p:nvSpPr>
        <p:spPr>
          <a:xfrm>
            <a:off x="4160520" y="2944368"/>
            <a:ext cx="7132320" cy="749808"/>
          </a:xfrm>
          <a:prstGeom prst="rect">
            <a:avLst/>
          </a:prstGeom>
          <a:noFill/>
        </p:spPr>
        <p:txBody>
          <a:bodyPr wrap="square" tIns="128016">
            <a:spAutoFit/>
          </a:bodyPr>
          <a:lstStyle/>
          <a:p>
            <a:pPr>
              <a:defRPr sz="1150">
                <a:solidFill>
                  <a:srgbClr val="222222"/>
                </a:solidFill>
              </a:defRPr>
            </a:pPr>
            <a:r>
              <a:rPr sz="1150" b="0">
                <a:solidFill>
                  <a:srgbClr val="222222"/>
                </a:solidFill>
                <a:latin typeface="Arial"/>
              </a:rPr>
              <a:t>Unconstrained multi-turn conversational loops mutate or drop initial boundary constraints</a:t>
            </a:r>
          </a:p>
        </p:txBody>
      </p:sp>
      <p:sp>
        <p:nvSpPr>
          <p:cNvPr id="16" name="Rounded Rectangle 15"/>
          <p:cNvSpPr/>
          <p:nvPr/>
        </p:nvSpPr>
        <p:spPr>
          <a:xfrm>
            <a:off x="685800" y="3822192"/>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822192"/>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150" b="1">
                <a:solidFill>
                  <a:srgbClr val="FFFFFF"/>
                </a:solidFill>
                <a:latin typeface="Titillium Web SemiBold"/>
              </a:defRPr>
            </a:pPr>
            <a:r>
              <a:t>⏱️ 4. Reactive Deployment Latency</a:t>
            </a:r>
          </a:p>
        </p:txBody>
      </p:sp>
      <p:sp>
        <p:nvSpPr>
          <p:cNvPr id="18" name="TextBox 17"/>
          <p:cNvSpPr txBox="1"/>
          <p:nvPr/>
        </p:nvSpPr>
        <p:spPr>
          <a:xfrm>
            <a:off x="4160520" y="3822192"/>
            <a:ext cx="7132320" cy="749808"/>
          </a:xfrm>
          <a:prstGeom prst="rect">
            <a:avLst/>
          </a:prstGeom>
          <a:noFill/>
        </p:spPr>
        <p:txBody>
          <a:bodyPr wrap="square" tIns="128016">
            <a:spAutoFit/>
          </a:bodyPr>
          <a:lstStyle/>
          <a:p>
            <a:pPr>
              <a:defRPr sz="1150">
                <a:solidFill>
                  <a:srgbClr val="222222"/>
                </a:solidFill>
              </a:defRPr>
            </a:pPr>
            <a:r>
              <a:rPr sz="1150" b="0">
                <a:solidFill>
                  <a:srgbClr val="222222"/>
                </a:solidFill>
                <a:latin typeface="Arial"/>
              </a:rPr>
              <a:t>Trial-and-error configuration risks live outages and introduces high control-plane recovery latency</a:t>
            </a:r>
          </a:p>
        </p:txBody>
      </p:sp>
      <p:sp>
        <p:nvSpPr>
          <p:cNvPr id="19" name="Rounded Rectangle 18"/>
          <p:cNvSpPr/>
          <p:nvPr/>
        </p:nvSpPr>
        <p:spPr>
          <a:xfrm>
            <a:off x="685800" y="4700016"/>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5800" y="4700016"/>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150" b="1">
                <a:solidFill>
                  <a:srgbClr val="FFFFFF"/>
                </a:solidFill>
                <a:latin typeface="Titillium Web SemiBold"/>
              </a:defRPr>
            </a:pPr>
            <a:r>
              <a:t>👥 5. Suboptimal HITL Friction</a:t>
            </a:r>
          </a:p>
        </p:txBody>
      </p:sp>
      <p:sp>
        <p:nvSpPr>
          <p:cNvPr id="21" name="TextBox 20"/>
          <p:cNvSpPr txBox="1"/>
          <p:nvPr/>
        </p:nvSpPr>
        <p:spPr>
          <a:xfrm>
            <a:off x="4160520" y="4700016"/>
            <a:ext cx="7132320" cy="749808"/>
          </a:xfrm>
          <a:prstGeom prst="rect">
            <a:avLst/>
          </a:prstGeom>
          <a:noFill/>
        </p:spPr>
        <p:txBody>
          <a:bodyPr wrap="square" tIns="128016">
            <a:spAutoFit/>
          </a:bodyPr>
          <a:lstStyle/>
          <a:p>
            <a:pPr>
              <a:defRPr sz="1150">
                <a:solidFill>
                  <a:srgbClr val="222222"/>
                </a:solidFill>
              </a:defRPr>
            </a:pPr>
            <a:r>
              <a:rPr sz="1150" b="0">
                <a:solidFill>
                  <a:srgbClr val="222222"/>
                </a:solidFill>
                <a:latin typeface="Arial"/>
              </a:rPr>
              <a:t>Binary all-or-nothing review causes operator fatigue or outages; models fail to fail-early</a:t>
            </a:r>
          </a:p>
        </p:txBody>
      </p:sp>
      <p:sp>
        <p:nvSpPr>
          <p:cNvPr id="22" name="Rounded Rectangle 21"/>
          <p:cNvSpPr/>
          <p:nvPr/>
        </p:nvSpPr>
        <p:spPr>
          <a:xfrm>
            <a:off x="685800" y="5669280"/>
            <a:ext cx="10744200" cy="59436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85200C"/>
                </a:solidFill>
              </a:defRPr>
            </a:pPr>
            <a:r>
              <a:rPr sz="1150" b="1">
                <a:solidFill>
                  <a:srgbClr val="85200C"/>
                </a:solidFill>
                <a:latin typeface="Titillium Web SemiBold"/>
              </a:rPr>
              <a:t>Empirical Risk: Unconstrained LLMs allow up to 34% unfeasible deployments, semantic drift loops, and critical control-plane latency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Problem Statement: Given, Decide, Objective &amp; Constraints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[1] Given (System Inputs)</a:t>
            </a:r>
          </a:p>
        </p:txBody>
      </p:sp>
      <p:sp>
        <p:nvSpPr>
          <p:cNvPr id="9" name="TextBox 8"/>
          <p:cNvSpPr txBox="1"/>
          <p:nvPr/>
        </p:nvSpPr>
        <p:spPr>
          <a:xfrm>
            <a:off x="795528" y="1719072"/>
            <a:ext cx="3209544" cy="1828800"/>
          </a:xfrm>
          <a:prstGeom prst="rect">
            <a:avLst/>
          </a:prstGeom>
          <a:noFill/>
        </p:spPr>
        <p:txBody>
          <a:bodyPr wrap="square" tIns="18288" lIns="45720" rIns="45720">
            <a:spAutoFit/>
          </a:bodyPr>
          <a:lstStyle/>
          <a:p>
            <a:pPr>
              <a:spcBef>
                <a:spcPts val="0"/>
              </a:spcBef>
              <a:spcAft>
                <a:spcPts val="300"/>
              </a:spcAft>
              <a:defRPr sz="1000">
                <a:solidFill>
                  <a:srgbClr val="222222"/>
                </a:solidFill>
              </a:defRPr>
            </a:pPr>
            <a:r>
              <a:rPr sz="1000" b="0">
                <a:solidFill>
                  <a:srgbClr val="222222"/>
                </a:solidFill>
                <a:latin typeface="Arial"/>
              </a:rPr>
              <a:t>•  Unstructured operator intent: </a:t>
            </a:r>
            <a14:m xmlns:a14="http://schemas.microsoft.com/office/drawing/2010/main" xmlns:m="http://schemas.openxmlformats.org/officeDocument/2006/math">
              <m:oMath>
                <m:sSub>
                  <m:e>
                    <m:r>
                      <m:t>ℐ</m:t>
                    </m:r>
                  </m:e>
                  <m:sub>
                    <m:r>
                      <m:t>NL</m:t>
                    </m:r>
                  </m:sub>
                </m:sSub>
              </m:oMath>
            </a14:m>
          </a:p>
          <a:p>
            <a:pPr>
              <a:spcBef>
                <a:spcPts val="0"/>
              </a:spcBef>
              <a:spcAft>
                <a:spcPts val="300"/>
              </a:spcAft>
              <a:defRPr sz="1000">
                <a:solidFill>
                  <a:srgbClr val="222222"/>
                </a:solidFill>
              </a:defRPr>
            </a:pPr>
            <a:r>
              <a:rPr sz="1000" b="0">
                <a:solidFill>
                  <a:srgbClr val="222222"/>
                </a:solidFill>
                <a:latin typeface="Arial"/>
              </a:rPr>
              <a:t>•  Active optical topology graph: </a:t>
            </a:r>
            <a14:m xmlns:a14="http://schemas.microsoft.com/office/drawing/2010/main" xmlns:m="http://schemas.openxmlformats.org/officeDocument/2006/math">
              <m:oMath>
                <m:r>
                  <m:t>G(V, E)</m:t>
                </m:r>
              </m:oMath>
            </a14:m>
            <a:r>
              <a:rPr sz="1000" b="0">
                <a:solidFill>
                  <a:srgbClr val="222222"/>
                </a:solidFill>
                <a:latin typeface="Arial"/>
              </a:rPr>
              <a:t> via RESTConf</a:t>
            </a:r>
          </a:p>
          <a:p>
            <a:pPr>
              <a:spcBef>
                <a:spcPts val="0"/>
              </a:spcBef>
              <a:spcAft>
                <a:spcPts val="300"/>
              </a:spcAft>
              <a:defRPr sz="1000">
                <a:solidFill>
                  <a:srgbClr val="222222"/>
                </a:solidFill>
              </a:defRPr>
            </a:pPr>
            <a:r>
              <a:rPr sz="1000" b="0">
                <a:solidFill>
                  <a:srgbClr val="222222"/>
                </a:solidFill>
                <a:latin typeface="Arial"/>
              </a:rPr>
              <a:t>•  Physical parameters: span length </a:t>
            </a:r>
            <a14:m xmlns:a14="http://schemas.microsoft.com/office/drawing/2010/main" xmlns:m="http://schemas.openxmlformats.org/officeDocument/2006/math">
              <m:oMath>
                <m:r>
                  <m:t>L</m:t>
                </m:r>
              </m:oMath>
            </a14:m>
            <a:r>
              <a:rPr sz="1000" b="0">
                <a:solidFill>
                  <a:srgbClr val="222222"/>
                </a:solidFill>
                <a:latin typeface="Arial"/>
              </a:rPr>
              <a:t>, attenuation </a:t>
            </a:r>
            <a14:m xmlns:a14="http://schemas.microsoft.com/office/drawing/2010/main" xmlns:m="http://schemas.openxmlformats.org/officeDocument/2006/math">
              <m:oMath>
                <m:r>
                  <m:t>α</m:t>
                </m:r>
              </m:oMath>
            </a14:m>
            <a:r>
              <a:rPr sz="1000" b="0">
                <a:solidFill>
                  <a:srgbClr val="222222"/>
                </a:solidFill>
                <a:latin typeface="Arial"/>
              </a:rPr>
              <a:t>, gain </a:t>
            </a:r>
            <a14:m xmlns:a14="http://schemas.microsoft.com/office/drawing/2010/main" xmlns:m="http://schemas.openxmlformats.org/officeDocument/2006/math">
              <m:oMath>
                <m:sSub>
                  <m:e>
                    <m:r>
                      <m:t>G</m:t>
                    </m:r>
                  </m:e>
                  <m:sub>
                    <m:r>
                      <m:t>m</m:t>
                    </m:r>
                  </m:sub>
                </m:sSub>
              </m:oMath>
            </a14:m>
          </a:p>
          <a:p>
            <a:pPr>
              <a:spcBef>
                <a:spcPts val="0"/>
              </a:spcBef>
              <a:spcAft>
                <a:spcPts val="300"/>
              </a:spcAft>
              <a:defRPr sz="1000">
                <a:solidFill>
                  <a:srgbClr val="222222"/>
                </a:solidFill>
              </a:defRPr>
            </a:pPr>
            <a:r>
              <a:rPr sz="1000" b="0">
                <a:solidFill>
                  <a:srgbClr val="222222"/>
                </a:solidFill>
                <a:latin typeface="Arial"/>
              </a:rPr>
              <a:t>•  Feasibility threshold: </a:t>
            </a:r>
            <a14:m xmlns:a14="http://schemas.microsoft.com/office/drawing/2010/main" xmlns:m="http://schemas.openxmlformats.org/officeDocument/2006/math">
              <m:oMath>
                <m:sSub>
                  <m:e>
                    <m:r>
                      <m:t>GSNR</m:t>
                    </m:r>
                  </m:e>
                  <m:sub>
                    <m:r>
                      <m:t>th</m:t>
                    </m:r>
                  </m:sub>
                </m:sSub>
                <m:r>
                  <m:t> = </m:t>
                </m:r>
                <m:sSub>
                  <m:e>
                    <m:r>
                      <m:t>SNR</m:t>
                    </m:r>
                  </m:e>
                  <m:sub>
                    <m:r>
                      <m:t>min</m:t>
                    </m:r>
                  </m:sub>
                </m:sSub>
                <m:r>
                  <m:t> + Margin</m:t>
                </m:r>
              </m:oMath>
            </a14:m>
          </a:p>
        </p:txBody>
      </p:sp>
      <p:sp>
        <p:nvSpPr>
          <p:cNvPr id="10" name="Rounded Rectangle 9"/>
          <p:cNvSpPr/>
          <p:nvPr/>
        </p:nvSpPr>
        <p:spPr>
          <a:xfrm>
            <a:off x="43434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434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[2] Decide (Variables &amp; Actions)</a:t>
            </a:r>
          </a:p>
        </p:txBody>
      </p:sp>
      <p:sp>
        <p:nvSpPr>
          <p:cNvPr id="12" name="TextBox 11"/>
          <p:cNvSpPr txBox="1"/>
          <p:nvPr/>
        </p:nvSpPr>
        <p:spPr>
          <a:xfrm>
            <a:off x="4453128" y="1719072"/>
            <a:ext cx="3209544" cy="1828800"/>
          </a:xfrm>
          <a:prstGeom prst="rect">
            <a:avLst/>
          </a:prstGeom>
          <a:noFill/>
        </p:spPr>
        <p:txBody>
          <a:bodyPr wrap="square" tIns="18288" lIns="45720" rIns="45720">
            <a:spAutoFit/>
          </a:bodyPr>
          <a:lstStyle/>
          <a:p>
            <a:pPr>
              <a:spcBef>
                <a:spcPts val="0"/>
              </a:spcBef>
              <a:spcAft>
                <a:spcPts val="300"/>
              </a:spcAft>
              <a:defRPr sz="1000">
                <a:solidFill>
                  <a:srgbClr val="222222"/>
                </a:solidFill>
              </a:defRPr>
            </a:pPr>
            <a:r>
              <a:rPr sz="1000" b="0">
                <a:solidFill>
                  <a:srgbClr val="222222"/>
                </a:solidFill>
                <a:latin typeface="Arial"/>
              </a:rPr>
              <a:t>•  Formal symbolic specification: </a:t>
            </a:r>
            <a14:m xmlns:a14="http://schemas.microsoft.com/office/drawing/2010/main" xmlns:m="http://schemas.openxmlformats.org/officeDocument/2006/math">
              <m:oMath>
                <m:sSub>
                  <m:e>
                    <m:r>
                      <m:t>𝒮</m:t>
                    </m:r>
                  </m:e>
                  <m:sub>
                    <m:r>
                      <m:t>PDDL</m:t>
                    </m:r>
                  </m:sub>
                </m:sSub>
              </m:oMath>
            </a14:m>
            <a:r>
              <a:rPr sz="1000" b="0">
                <a:solidFill>
                  <a:srgbClr val="222222"/>
                </a:solidFill>
                <a:latin typeface="Arial"/>
              </a:rPr>
              <a:t> compiled from intent</a:t>
            </a:r>
          </a:p>
          <a:p>
            <a:pPr>
              <a:spcBef>
                <a:spcPts val="0"/>
              </a:spcBef>
              <a:spcAft>
                <a:spcPts val="300"/>
              </a:spcAft>
              <a:defRPr sz="1000">
                <a:solidFill>
                  <a:srgbClr val="222222"/>
                </a:solidFill>
              </a:defRPr>
            </a:pPr>
            <a:r>
              <a:rPr sz="1000" b="0">
                <a:solidFill>
                  <a:srgbClr val="222222"/>
                </a:solidFill>
                <a:latin typeface="Arial"/>
              </a:rPr>
              <a:t>•  Optimal physical lightpath route: </a:t>
            </a:r>
            <a14:m xmlns:a14="http://schemas.microsoft.com/office/drawing/2010/main" xmlns:m="http://schemas.openxmlformats.org/officeDocument/2006/math">
              <m:oMath>
                <m:sSup>
                  <m:e>
                    <m:r>
                      <m:t>π</m:t>
                    </m:r>
                  </m:e>
                  <m:sup>
                    <m:r>
                      <m:t>*</m:t>
                    </m:r>
                  </m:sup>
                </m:sSup>
                <m:r>
                  <m:t> ∈ </m:t>
                </m:r>
                <m:sSub>
                  <m:e>
                    <m:r>
                      <m:t>𝒦</m:t>
                    </m:r>
                  </m:e>
                  <m:sub>
                    <m:r>
                      <m:t>path</m:t>
                    </m:r>
                  </m:sub>
                </m:sSub>
              </m:oMath>
            </a14:m>
            <a:r>
              <a:rPr sz="1000" b="0">
                <a:solidFill>
                  <a:srgbClr val="222222"/>
                </a:solidFill>
                <a:latin typeface="Arial"/>
              </a:rPr>
              <a:t> from candidate paths</a:t>
            </a:r>
          </a:p>
          <a:p>
            <a:pPr>
              <a:spcBef>
                <a:spcPts val="0"/>
              </a:spcBef>
              <a:spcAft>
                <a:spcPts val="300"/>
              </a:spcAft>
              <a:defRPr sz="1000">
                <a:solidFill>
                  <a:srgbClr val="222222"/>
                </a:solidFill>
              </a:defRPr>
            </a:pPr>
            <a:r>
              <a:rPr sz="1000" b="0">
                <a:solidFill>
                  <a:srgbClr val="222222"/>
                </a:solidFill>
                <a:latin typeface="Arial"/>
              </a:rPr>
              <a:t>•  Pre-deployment control action: </a:t>
            </a:r>
            <a14:m xmlns:a14="http://schemas.microsoft.com/office/drawing/2010/main" xmlns:m="http://schemas.openxmlformats.org/officeDocument/2006/math">
              <m:oMath>
                <m:r>
                  <m:t>a ∈ {approve, clarify, replan}</m:t>
                </m:r>
              </m:oMath>
            </a14:m>
          </a:p>
          <a:p>
            <a:pPr>
              <a:spcBef>
                <a:spcPts val="0"/>
              </a:spcBef>
              <a:spcAft>
                <a:spcPts val="300"/>
              </a:spcAft>
              <a:defRPr sz="1000">
                <a:solidFill>
                  <a:srgbClr val="222222"/>
                </a:solidFill>
              </a:defRPr>
            </a:pPr>
            <a:r>
              <a:rPr sz="1000" b="0">
                <a:solidFill>
                  <a:srgbClr val="222222"/>
                </a:solidFill>
                <a:latin typeface="Arial"/>
              </a:rPr>
              <a:t>•  Provisioning routing configuration: </a:t>
            </a:r>
            <a14:m xmlns:a14="http://schemas.microsoft.com/office/drawing/2010/main" xmlns:m="http://schemas.openxmlformats.org/officeDocument/2006/math">
              <m:oMath>
                <m:sSup>
                  <m:e>
                    <m:r>
                      <m:t>c</m:t>
                    </m:r>
                  </m:e>
                  <m:sup>
                    <m:r>
                      <m:t>*</m:t>
                    </m:r>
                  </m:sup>
                </m:sSup>
              </m:oMath>
            </a14:m>
            <a:r>
              <a:rPr sz="1000" b="0">
                <a:solidFill>
                  <a:srgbClr val="222222"/>
                </a:solidFill>
                <a:latin typeface="Arial"/>
              </a:rPr>
              <a:t> dispatched to controller</a:t>
            </a:r>
          </a:p>
        </p:txBody>
      </p:sp>
      <p:sp>
        <p:nvSpPr>
          <p:cNvPr id="13" name="Rounded Rectangle 12"/>
          <p:cNvSpPr/>
          <p:nvPr/>
        </p:nvSpPr>
        <p:spPr>
          <a:xfrm>
            <a:off x="8001000" y="1188720"/>
            <a:ext cx="3429000" cy="24231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01000" y="1188720"/>
            <a:ext cx="3429000" cy="45720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[3] Objective (Optimization)</a:t>
            </a:r>
          </a:p>
        </p:txBody>
      </p:sp>
      <p:sp>
        <p:nvSpPr>
          <p:cNvPr id="15" name="TextBox 14"/>
          <p:cNvSpPr txBox="1"/>
          <p:nvPr/>
        </p:nvSpPr>
        <p:spPr>
          <a:xfrm>
            <a:off x="8110728" y="1719072"/>
            <a:ext cx="3209544" cy="1828800"/>
          </a:xfrm>
          <a:prstGeom prst="rect">
            <a:avLst/>
          </a:prstGeom>
          <a:noFill/>
        </p:spPr>
        <p:txBody>
          <a:bodyPr wrap="square" tIns="18288" lIns="45720" rIns="45720">
            <a:spAutoFit/>
          </a:bodyPr>
          <a:lstStyle/>
          <a:p>
            <a:pPr>
              <a:spcBef>
                <a:spcPts val="0"/>
              </a:spcBef>
              <a:spcAft>
                <a:spcPts val="300"/>
              </a:spcAft>
              <a:defRPr sz="1000">
                <a:solidFill>
                  <a:srgbClr val="222222"/>
                </a:solidFill>
              </a:defRPr>
            </a:pPr>
            <a:r>
              <a:rPr sz="1000" b="0">
                <a:solidFill>
                  <a:srgbClr val="222222"/>
                </a:solidFill>
                <a:latin typeface="Arial"/>
              </a:rPr>
              <a:t>•  Minimize operational friction: </a:t>
            </a:r>
            <a14:m xmlns:a14="http://schemas.microsoft.com/office/drawing/2010/main" xmlns:m="http://schemas.openxmlformats.org/officeDocument/2006/math">
              <m:oMath>
                <m:r>
                  <m:t>min 𝒥 = α · </m:t>
                </m:r>
                <m:sSub>
                  <m:e>
                    <m:r>
                      <m:t>N</m:t>
                    </m:r>
                  </m:e>
                  <m:sub>
                    <m:r>
                      <m:t>hitl</m:t>
                    </m:r>
                  </m:sub>
                </m:sSub>
                <m:r>
                  <m:t> + β · </m:t>
                </m:r>
                <m:sSub>
                  <m:e>
                    <m:r>
                      <m:t>T</m:t>
                    </m:r>
                  </m:e>
                  <m:sub>
                    <m:r>
                      <m:t>tokens</m:t>
                    </m:r>
                  </m:sub>
                </m:sSub>
              </m:oMath>
            </a14:m>
          </a:p>
          <a:p>
            <a:pPr>
              <a:spcBef>
                <a:spcPts val="0"/>
              </a:spcBef>
              <a:spcAft>
                <a:spcPts val="300"/>
              </a:spcAft>
              <a:defRPr sz="1000">
                <a:solidFill>
                  <a:srgbClr val="222222"/>
                </a:solidFill>
              </a:defRPr>
            </a:pPr>
            <a:r>
              <a:rPr sz="1000" b="0">
                <a:solidFill>
                  <a:srgbClr val="222222"/>
                </a:solidFill>
                <a:latin typeface="Arial"/>
              </a:rPr>
              <a:t>•  Cut operator cognitive fatigue: </a:t>
            </a:r>
            <a14:m xmlns:a14="http://schemas.microsoft.com/office/drawing/2010/main" xmlns:m="http://schemas.openxmlformats.org/officeDocument/2006/math">
              <m:oMath>
                <m:r>
                  <m:t>min </m:t>
                </m:r>
                <m:sSub>
                  <m:e>
                    <m:r>
                      <m:t>N</m:t>
                    </m:r>
                  </m:e>
                  <m:sub>
                    <m:r>
                      <m:t>hitl</m:t>
                    </m:r>
                  </m:sub>
                </m:sSub>
              </m:oMath>
            </a14:m>
            <a:r>
              <a:rPr sz="1000" b="0">
                <a:solidFill>
                  <a:srgbClr val="222222"/>
                </a:solidFill>
                <a:latin typeface="Arial"/>
              </a:rPr>
              <a:t> (minimize human interruptions)</a:t>
            </a:r>
          </a:p>
          <a:p>
            <a:pPr>
              <a:spcBef>
                <a:spcPts val="0"/>
              </a:spcBef>
              <a:spcAft>
                <a:spcPts val="300"/>
              </a:spcAft>
              <a:defRPr sz="1000">
                <a:solidFill>
                  <a:srgbClr val="222222"/>
                </a:solidFill>
              </a:defRPr>
            </a:pPr>
            <a:r>
              <a:rPr sz="1000" b="0">
                <a:solidFill>
                  <a:srgbClr val="222222"/>
                </a:solidFill>
                <a:latin typeface="Arial"/>
              </a:rPr>
              <a:t>•  Bound compute cost and latency: </a:t>
            </a:r>
            <a14:m xmlns:a14="http://schemas.microsoft.com/office/drawing/2010/main" xmlns:m="http://schemas.openxmlformats.org/officeDocument/2006/math">
              <m:oMath>
                <m:r>
                  <m:t>min </m:t>
                </m:r>
                <m:sSub>
                  <m:e>
                    <m:r>
                      <m:t>T</m:t>
                    </m:r>
                  </m:e>
                  <m:sub>
                    <m:r>
                      <m:t>tokens</m:t>
                    </m:r>
                  </m:sub>
                </m:sSub>
              </m:oMath>
            </a14:m>
            <a:r>
              <a:rPr sz="1000" b="0">
                <a:solidFill>
                  <a:srgbClr val="222222"/>
                </a:solidFill>
                <a:latin typeface="Arial"/>
              </a:rPr>
              <a:t> (minimize prompt tokens)</a:t>
            </a:r>
          </a:p>
          <a:p>
            <a:pPr>
              <a:spcBef>
                <a:spcPts val="0"/>
              </a:spcBef>
              <a:spcAft>
                <a:spcPts val="300"/>
              </a:spcAft>
              <a:defRPr sz="1000">
                <a:solidFill>
                  <a:srgbClr val="222222"/>
                </a:solidFill>
              </a:defRPr>
            </a:pPr>
            <a:r>
              <a:rPr sz="1000" b="0">
                <a:solidFill>
                  <a:srgbClr val="222222"/>
                </a:solidFill>
                <a:latin typeface="Arial"/>
              </a:rPr>
              <a:t>•  Hard pre-deployment safety guarantee: </a:t>
            </a:r>
            <a14:m xmlns:a14="http://schemas.microsoft.com/office/drawing/2010/main" xmlns:m="http://schemas.openxmlformats.org/officeDocument/2006/math">
              <m:oMath>
                <m:r>
                  <m:t>𝒟(</m:t>
                </m:r>
                <m:sSub>
                  <m:e>
                    <m:r>
                      <m:t>U</m:t>
                    </m:r>
                  </m:e>
                  <m:sub>
                    <m:r>
                      <m:t>sem</m:t>
                    </m:r>
                  </m:sub>
                </m:sSub>
                <m:r>
                  <m:t>, </m:t>
                </m:r>
                <m:sSub>
                  <m:e>
                    <m:r>
                      <m:t>QoT</m:t>
                    </m:r>
                  </m:e>
                  <m:sub>
                    <m:r>
                      <m:t>valid</m:t>
                    </m:r>
                  </m:sub>
                </m:sSub>
                <m:r>
                  <m:t>) = approve</m:t>
                </m:r>
              </m:oMath>
            </a14:m>
          </a:p>
        </p:txBody>
      </p:sp>
      <p:sp>
        <p:nvSpPr>
          <p:cNvPr id="16" name="Rounded Rectangle 15"/>
          <p:cNvSpPr/>
          <p:nvPr/>
        </p:nvSpPr>
        <p:spPr>
          <a:xfrm>
            <a:off x="685800" y="3749039"/>
            <a:ext cx="10744200" cy="251460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749039"/>
            <a:ext cx="10744200" cy="438912"/>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[4] Constraints: Resource Limits vs. Physical &amp; Semantic Boundaries</a:t>
            </a:r>
          </a:p>
        </p:txBody>
      </p:sp>
      <p:sp>
        <p:nvSpPr>
          <p:cNvPr id="18" name="TextBox 17"/>
          <p:cNvSpPr txBox="1"/>
          <p:nvPr/>
        </p:nvSpPr>
        <p:spPr>
          <a:xfrm>
            <a:off x="868680" y="4279391"/>
            <a:ext cx="5120640" cy="1892808"/>
          </a:xfrm>
          <a:prstGeom prst="rect">
            <a:avLst/>
          </a:prstGeom>
          <a:noFill/>
        </p:spPr>
        <p:txBody>
          <a:bodyPr wrap="square">
            <a:spAutoFit/>
          </a:bodyPr>
          <a:lstStyle/>
          <a:p>
            <a:pPr>
              <a:spcAft>
                <a:spcPts val="300"/>
              </a:spcAft>
              <a:defRPr sz="1100" b="1">
                <a:solidFill>
                  <a:srgbClr val="0F2C53"/>
                </a:solidFill>
                <a:latin typeface="Titillium Web SemiBold"/>
              </a:defRPr>
            </a:pPr>
            <a:r>
              <a:t>Resource Constraints (System &amp; Solver Limits):</a:t>
            </a:r>
          </a:p>
          <a:p>
            <a:pPr>
              <a:spcBef>
                <a:spcPts val="0"/>
              </a:spcBef>
              <a:spcAft>
                <a:spcPts val="300"/>
              </a:spcAft>
              <a:defRPr sz="1000">
                <a:solidFill>
                  <a:srgbClr val="222222"/>
                </a:solidFill>
              </a:defRPr>
            </a:pPr>
            <a:r>
              <a:rPr sz="1000" b="0">
                <a:solidFill>
                  <a:srgbClr val="222222"/>
                </a:solidFill>
                <a:latin typeface="Arial"/>
              </a:rPr>
              <a:t>•  Localized prompt context window bound: </a:t>
            </a:r>
            <a14:m xmlns:a14="http://schemas.microsoft.com/office/drawing/2010/main" xmlns:m="http://schemas.openxmlformats.org/officeDocument/2006/math">
              <m:oMath>
                <m:sSub>
                  <m:e>
                    <m:r>
                      <m:t>T</m:t>
                    </m:r>
                  </m:e>
                  <m:sub>
                    <m:r>
                      <m:t>prompt</m:t>
                    </m:r>
                  </m:sub>
                </m:sSub>
                <m:r>
                  <m:t> ≤ </m:t>
                </m:r>
                <m:sSub>
                  <m:e>
                    <m:r>
                      <m:t>T</m:t>
                    </m:r>
                  </m:e>
                  <m:sub>
                    <m:r>
                      <m:t>max</m:t>
                    </m:r>
                  </m:sub>
                </m:sSub>
                <m:r>
                  <m:t> ≪ </m:t>
                </m:r>
                <m:sSub>
                  <m:e>
                    <m:r>
                      <m:t>T</m:t>
                    </m:r>
                  </m:e>
                  <m:sub>
                    <m:r>
                      <m:t>full</m:t>
                    </m:r>
                  </m:sub>
                </m:sSub>
              </m:oMath>
            </a14:m>
            <a:r>
              <a:rPr sz="1000" b="0">
                <a:solidFill>
                  <a:srgbClr val="222222"/>
                </a:solidFill>
                <a:latin typeface="Arial"/>
              </a:rPr>
              <a:t> (via </a:t>
            </a:r>
            <a14:m xmlns:a14="http://schemas.microsoft.com/office/drawing/2010/main" xmlns:m="http://schemas.openxmlformats.org/officeDocument/2006/math">
              <m:oMath>
                <m:sSub>
                  <m:e>
                    <m:r>
                      <m:t>G</m:t>
                    </m:r>
                  </m:e>
                  <m:sub>
                    <m:r>
                      <m:t>sub</m:t>
                    </m:r>
                  </m:sub>
                </m:sSub>
              </m:oMath>
            </a14:m>
            <a:r>
              <a:rPr sz="1000" b="0">
                <a:solidFill>
                  <a:srgbClr val="222222"/>
                </a:solidFill>
                <a:latin typeface="Arial"/>
              </a:rPr>
              <a:t>)</a:t>
            </a:r>
          </a:p>
          <a:p>
            <a:pPr>
              <a:spcBef>
                <a:spcPts val="0"/>
              </a:spcBef>
              <a:spcAft>
                <a:spcPts val="300"/>
              </a:spcAft>
              <a:defRPr sz="1000">
                <a:solidFill>
                  <a:srgbClr val="222222"/>
                </a:solidFill>
              </a:defRPr>
            </a:pPr>
            <a:r>
              <a:rPr sz="1000" b="0">
                <a:solidFill>
                  <a:srgbClr val="222222"/>
                </a:solidFill>
                <a:latin typeface="Arial"/>
              </a:rPr>
              <a:t>•  Strict end-to-end execution latency budget: </a:t>
            </a:r>
            <a14:m xmlns:a14="http://schemas.microsoft.com/office/drawing/2010/main" xmlns:m="http://schemas.openxmlformats.org/officeDocument/2006/math">
              <m:oMath>
                <m:sSub>
                  <m:e>
                    <m:r>
                      <m:t>t</m:t>
                    </m:r>
                  </m:e>
                  <m:sub>
                    <m:r>
                      <m:t>exec</m:t>
                    </m:r>
                  </m:sub>
                </m:sSub>
                <m:r>
                  <m:t> ≤ </m:t>
                </m:r>
                <m:sSub>
                  <m:e>
                    <m:r>
                      <m:t>t</m:t>
                    </m:r>
                  </m:e>
                  <m:sub>
                    <m:r>
                      <m:t>max_budget</m:t>
                    </m:r>
                  </m:sub>
                </m:sSub>
              </m:oMath>
            </a14:m>
          </a:p>
          <a:p>
            <a:pPr>
              <a:spcBef>
                <a:spcPts val="0"/>
              </a:spcBef>
              <a:spcAft>
                <a:spcPts val="300"/>
              </a:spcAft>
              <a:defRPr sz="1000">
                <a:solidFill>
                  <a:srgbClr val="222222"/>
                </a:solidFill>
              </a:defRPr>
            </a:pPr>
            <a:r>
              <a:rPr sz="1000" b="0">
                <a:solidFill>
                  <a:srgbClr val="222222"/>
                </a:solidFill>
                <a:latin typeface="Arial"/>
              </a:rPr>
              <a:t>•  Bounded path search complexity: </a:t>
            </a:r>
            <a14:m xmlns:a14="http://schemas.microsoft.com/office/drawing/2010/main" xmlns:m="http://schemas.openxmlformats.org/officeDocument/2006/math">
              <m:oMath>
                <m:r>
                  <m:t>K</m:t>
                </m:r>
                <m:r>
                  <m:t>-SP</m:t>
                </m:r>
              </m:oMath>
            </a14:m>
            <a:r>
              <a:rPr sz="1000" b="0">
                <a:solidFill>
                  <a:srgbClr val="222222"/>
                </a:solidFill>
                <a:latin typeface="Arial"/>
              </a:rPr>
              <a:t> with </a:t>
            </a:r>
            <a14:m xmlns:a14="http://schemas.microsoft.com/office/drawing/2010/main" xmlns:m="http://schemas.openxmlformats.org/officeDocument/2006/math">
              <m:oMath>
                <m:r>
                  <m:t>K ∈ [3, 5]</m:t>
                </m:r>
              </m:oMath>
            </a14:m>
          </a:p>
        </p:txBody>
      </p:sp>
      <p:sp>
        <p:nvSpPr>
          <p:cNvPr id="19" name="TextBox 18"/>
          <p:cNvSpPr txBox="1"/>
          <p:nvPr/>
        </p:nvSpPr>
        <p:spPr>
          <a:xfrm>
            <a:off x="6126480" y="4279391"/>
            <a:ext cx="5120640" cy="1892808"/>
          </a:xfrm>
          <a:prstGeom prst="rect">
            <a:avLst/>
          </a:prstGeom>
          <a:noFill/>
        </p:spPr>
        <p:txBody>
          <a:bodyPr wrap="square">
            <a:spAutoFit/>
          </a:bodyPr>
          <a:lstStyle/>
          <a:p>
            <a:pPr>
              <a:spcAft>
                <a:spcPts val="300"/>
              </a:spcAft>
              <a:defRPr sz="1100" b="1">
                <a:solidFill>
                  <a:srgbClr val="85200C"/>
                </a:solidFill>
                <a:latin typeface="Titillium Web SemiBold"/>
              </a:defRPr>
            </a:pPr>
            <a:r>
              <a:t>Boundary Constraints (Physical &amp; Semantic Feasibility):</a:t>
            </a:r>
          </a:p>
          <a:p>
            <a:pPr>
              <a:spcBef>
                <a:spcPts val="0"/>
              </a:spcBef>
              <a:spcAft>
                <a:spcPts val="300"/>
              </a:spcAft>
              <a:defRPr sz="1000">
                <a:solidFill>
                  <a:srgbClr val="222222"/>
                </a:solidFill>
              </a:defRPr>
            </a:pPr>
            <a:r>
              <a:rPr sz="1000" b="0">
                <a:solidFill>
                  <a:srgbClr val="222222"/>
                </a:solidFill>
                <a:latin typeface="Arial"/>
              </a:rPr>
              <a:t>•  Zero semantic drift tolerance bound: </a:t>
            </a:r>
            <a14:m xmlns:a14="http://schemas.microsoft.com/office/drawing/2010/main" xmlns:m="http://schemas.openxmlformats.org/officeDocument/2006/math">
              <m:oMath>
                <m:sSub>
                  <m:e>
                    <m:r>
                      <m:t>U</m:t>
                    </m:r>
                  </m:e>
                  <m:sub>
                    <m:r>
                      <m:t>sem</m:t>
                    </m:r>
                  </m:sub>
                </m:sSub>
                <m:r>
                  <m:t> ≤ </m:t>
                </m:r>
                <m:sSub>
                  <m:e>
                    <m:r>
                      <m:t>τ</m:t>
                    </m:r>
                  </m:e>
                  <m:sub>
                    <m:r>
                      <m:t>sem</m:t>
                    </m:r>
                  </m:sub>
                </m:sSub>
              </m:oMath>
            </a14:m>
          </a:p>
          <a:p>
            <a:pPr>
              <a:spcBef>
                <a:spcPts val="0"/>
              </a:spcBef>
              <a:spcAft>
                <a:spcPts val="300"/>
              </a:spcAft>
              <a:defRPr sz="1000">
                <a:solidFill>
                  <a:srgbClr val="222222"/>
                </a:solidFill>
              </a:defRPr>
            </a:pPr>
            <a:r>
              <a:rPr sz="1000" b="0">
                <a:solidFill>
                  <a:srgbClr val="222222"/>
                </a:solidFill>
                <a:latin typeface="Arial"/>
              </a:rPr>
              <a:t>•  Deterministic optical QoT feasibility: </a:t>
            </a:r>
            <a14:m xmlns:a14="http://schemas.microsoft.com/office/drawing/2010/main" xmlns:m="http://schemas.openxmlformats.org/officeDocument/2006/math">
              <m:oMath>
                <m:r>
                  <m:t>GSNR(</m:t>
                </m:r>
                <m:sSup>
                  <m:e>
                    <m:r>
                      <m:t>π</m:t>
                    </m:r>
                  </m:e>
                  <m:sup>
                    <m:r>
                      <m:t>*</m:t>
                    </m:r>
                  </m:sup>
                </m:sSup>
                <m:r>
                  <m:t>) ≥ </m:t>
                </m:r>
                <m:sSub>
                  <m:e>
                    <m:r>
                      <m:t>GSNR</m:t>
                    </m:r>
                  </m:e>
                  <m:sub>
                    <m:r>
                      <m:t>th</m:t>
                    </m:r>
                  </m:sub>
                </m:sSub>
                <m:r>
                  <m:t> ∧ </m:t>
                </m:r>
                <m:sSub>
                  <m:e>
                    <m:r>
                      <m:t>P</m:t>
                    </m:r>
                  </m:e>
                  <m:sub>
                    <m:r>
                      <m:t>rx</m:t>
                    </m:r>
                  </m:sub>
                </m:sSub>
                <m:r>
                  <m:t>(</m:t>
                </m:r>
                <m:sSup>
                  <m:e>
                    <m:r>
                      <m:t>π</m:t>
                    </m:r>
                  </m:e>
                  <m:sup>
                    <m:r>
                      <m:t>*</m:t>
                    </m:r>
                  </m:sup>
                </m:sSup>
                <m:r>
                  <m:t>) ≥ </m:t>
                </m:r>
                <m:sSub>
                  <m:e>
                    <m:r>
                      <m:t>P</m:t>
                    </m:r>
                  </m:e>
                  <m:sub>
                    <m:r>
                      <m:t>rx,min</m:t>
                    </m:r>
                  </m:sub>
                </m:sSub>
              </m:oMath>
            </a14:m>
          </a:p>
          <a:p>
            <a:pPr>
              <a:spcBef>
                <a:spcPts val="0"/>
              </a:spcBef>
              <a:spcAft>
                <a:spcPts val="300"/>
              </a:spcAft>
              <a:defRPr sz="1000">
                <a:solidFill>
                  <a:srgbClr val="222222"/>
                </a:solidFill>
              </a:defRPr>
            </a:pPr>
            <a:r>
              <a:rPr sz="1000" b="0">
                <a:solidFill>
                  <a:srgbClr val="222222"/>
                </a:solidFill>
                <a:latin typeface="Arial"/>
              </a:rPr>
              <a:t>•  Pre-deployment physical validity state: </a:t>
            </a:r>
            <a14:m xmlns:a14="http://schemas.microsoft.com/office/drawing/2010/main" xmlns:m="http://schemas.openxmlformats.org/officeDocument/2006/math">
              <m:oMath>
                <m:sSub>
                  <m:e>
                    <m:r>
                      <m:t>QoT</m:t>
                    </m:r>
                  </m:e>
                  <m:sub>
                    <m:r>
                      <m:t>valid</m:t>
                    </m:r>
                  </m:sub>
                </m:sSub>
                <m:r>
                  <m:t> ∈ {0, 1}</m:t>
                </m:r>
              </m:oMath>
            </a14:m>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6</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Proposed Solution: Neurosymbolic Decoupling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248716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Neural Subsystem (Semantic Domain)</a:t>
            </a:r>
          </a:p>
        </p:txBody>
      </p:sp>
      <p:sp>
        <p:nvSpPr>
          <p:cNvPr id="9" name="TextBox 8"/>
          <p:cNvSpPr txBox="1"/>
          <p:nvPr/>
        </p:nvSpPr>
        <p:spPr>
          <a:xfrm>
            <a:off x="822960" y="1719072"/>
            <a:ext cx="4937760" cy="1920240"/>
          </a:xfrm>
          <a:prstGeom prst="rect">
            <a:avLst/>
          </a:prstGeom>
          <a:noFill/>
        </p:spPr>
        <p:txBody>
          <a:bodyPr wrap="square" tIns="18288" bIns="18288">
            <a:spAutoFit/>
          </a:bodyPr>
          <a:lstStyle/>
          <a:p>
            <a:pPr>
              <a:spcBef>
                <a:spcPts val="0"/>
              </a:spcBef>
              <a:spcAft>
                <a:spcPts val="300"/>
              </a:spcAft>
              <a:defRPr sz="1100">
                <a:solidFill>
                  <a:srgbClr val="222222"/>
                </a:solidFill>
              </a:defRPr>
            </a:pPr>
            <a:r>
              <a:rPr sz="1100" b="0">
                <a:solidFill>
                  <a:srgbClr val="222222"/>
                </a:solidFill>
                <a:latin typeface="Arial"/>
              </a:rPr>
              <a:t>•  Translates unstructured natural language </a:t>
            </a:r>
            <a14:m xmlns:a14="http://schemas.microsoft.com/office/drawing/2010/main" xmlns:m="http://schemas.openxmlformats.org/officeDocument/2006/math">
              <m:oMath>
                <m:sSub>
                  <m:e>
                    <m:r>
                      <m:t>ℐ</m:t>
                    </m:r>
                  </m:e>
                  <m:sub>
                    <m:r>
                      <m:t>NL</m:t>
                    </m:r>
                  </m:sub>
                </m:sSub>
              </m:oMath>
            </a14:m>
            <a:r>
              <a:rPr sz="1100" b="0">
                <a:solidFill>
                  <a:srgbClr val="222222"/>
                </a:solidFill>
                <a:latin typeface="Arial"/>
              </a:rPr>
              <a:t> into formal PDDL </a:t>
            </a:r>
            <a14:m xmlns:a14="http://schemas.microsoft.com/office/drawing/2010/main" xmlns:m="http://schemas.openxmlformats.org/officeDocument/2006/math">
              <m:oMath>
                <m:sSub>
                  <m:e>
                    <m:r>
                      <m:t>𝒮</m:t>
                    </m:r>
                  </m:e>
                  <m:sub>
                    <m:r>
                      <m:t>PDDL</m:t>
                    </m:r>
                  </m:sub>
                </m:sSub>
              </m:oMath>
            </a14:m>
          </a:p>
          <a:p>
            <a:pPr>
              <a:spcBef>
                <a:spcPts val="0"/>
              </a:spcBef>
              <a:spcAft>
                <a:spcPts val="300"/>
              </a:spcAft>
              <a:defRPr sz="1100">
                <a:solidFill>
                  <a:srgbClr val="222222"/>
                </a:solidFill>
              </a:defRPr>
            </a:pPr>
            <a:r>
              <a:rPr sz="1100" b="0">
                <a:solidFill>
                  <a:srgbClr val="222222"/>
                </a:solidFill>
                <a:latin typeface="Arial"/>
              </a:rPr>
              <a:t>•  Zero routing arithmetic or physical SNR calculations performed by LLM</a:t>
            </a:r>
          </a:p>
          <a:p>
            <a:pPr>
              <a:spcBef>
                <a:spcPts val="0"/>
              </a:spcBef>
              <a:spcAft>
                <a:spcPts val="300"/>
              </a:spcAft>
              <a:defRPr sz="1100">
                <a:solidFill>
                  <a:srgbClr val="222222"/>
                </a:solidFill>
              </a:defRPr>
            </a:pPr>
            <a:r>
              <a:rPr sz="1100" b="0">
                <a:solidFill>
                  <a:srgbClr val="222222"/>
                </a:solidFill>
                <a:latin typeface="Arial"/>
              </a:rPr>
              <a:t>•  Reverse prompting reconstructs intent </a:t>
            </a:r>
            <a14:m xmlns:a14="http://schemas.microsoft.com/office/drawing/2010/main" xmlns:m="http://schemas.openxmlformats.org/officeDocument/2006/math">
              <m:oMath>
                <m:sSub>
                  <m:e>
                    <m:r>
                      <m:t>ℐ</m:t>
                    </m:r>
                  </m:e>
                  <m:sub>
                    <m:r>
                      <m:t>recon</m:t>
                    </m:r>
                  </m:sub>
                </m:sSub>
              </m:oMath>
            </a14:m>
            <a:r>
              <a:rPr sz="1100" b="0">
                <a:solidFill>
                  <a:srgbClr val="222222"/>
                </a:solidFill>
                <a:latin typeface="Arial"/>
              </a:rPr>
              <a:t> for validation</a:t>
            </a:r>
          </a:p>
          <a:p>
            <a:pPr>
              <a:spcBef>
                <a:spcPts val="0"/>
              </a:spcBef>
              <a:spcAft>
                <a:spcPts val="300"/>
              </a:spcAft>
              <a:defRPr sz="1100">
                <a:solidFill>
                  <a:srgbClr val="222222"/>
                </a:solidFill>
              </a:defRPr>
            </a:pPr>
            <a:r>
              <a:rPr sz="1100" b="0">
                <a:solidFill>
                  <a:srgbClr val="222222"/>
                </a:solidFill>
                <a:latin typeface="Arial"/>
              </a:rPr>
              <a:t>•  Interpretable intermediate representation prevents hallucinated configurations</a:t>
            </a:r>
          </a:p>
        </p:txBody>
      </p:sp>
      <p:sp>
        <p:nvSpPr>
          <p:cNvPr id="10" name="Rounded Rectangle 9"/>
          <p:cNvSpPr/>
          <p:nvPr/>
        </p:nvSpPr>
        <p:spPr>
          <a:xfrm>
            <a:off x="685800" y="3822191"/>
            <a:ext cx="5212080" cy="248716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3822191"/>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Symbolic Subsystem (Optical Domain)</a:t>
            </a:r>
          </a:p>
        </p:txBody>
      </p:sp>
      <p:sp>
        <p:nvSpPr>
          <p:cNvPr id="12" name="TextBox 11"/>
          <p:cNvSpPr txBox="1"/>
          <p:nvPr/>
        </p:nvSpPr>
        <p:spPr>
          <a:xfrm>
            <a:off x="822960" y="4352543"/>
            <a:ext cx="4937760" cy="1920240"/>
          </a:xfrm>
          <a:prstGeom prst="rect">
            <a:avLst/>
          </a:prstGeom>
          <a:noFill/>
        </p:spPr>
        <p:txBody>
          <a:bodyPr wrap="square" tIns="18288" bIns="18288">
            <a:spAutoFit/>
          </a:bodyPr>
          <a:lstStyle/>
          <a:p>
            <a:pPr>
              <a:spcBef>
                <a:spcPts val="0"/>
              </a:spcBef>
              <a:spcAft>
                <a:spcPts val="300"/>
              </a:spcAft>
              <a:defRPr sz="1100">
                <a:solidFill>
                  <a:srgbClr val="222222"/>
                </a:solidFill>
              </a:defRPr>
            </a:pPr>
            <a:r>
              <a:rPr sz="1100" b="0">
                <a:solidFill>
                  <a:srgbClr val="222222"/>
                </a:solidFill>
                <a:latin typeface="Arial"/>
              </a:rPr>
              <a:t>•  Subtopology extraction via scoped Mock GraphRAG (</a:t>
            </a:r>
            <a14:m xmlns:a14="http://schemas.microsoft.com/office/drawing/2010/main" xmlns:m="http://schemas.openxmlformats.org/officeDocument/2006/math">
              <m:oMath>
                <m:r>
                  <m:t>k</m:t>
                </m:r>
                <m:r>
                  <m:t>-hop</m:t>
                </m:r>
              </m:oMath>
            </a14:m>
            <a:r>
              <a:rPr sz="1100" b="0">
                <a:solidFill>
                  <a:srgbClr val="222222"/>
                </a:solidFill>
                <a:latin typeface="Arial"/>
              </a:rPr>
              <a:t> neighborhood)</a:t>
            </a:r>
          </a:p>
          <a:p>
            <a:pPr>
              <a:spcBef>
                <a:spcPts val="0"/>
              </a:spcBef>
              <a:spcAft>
                <a:spcPts val="300"/>
              </a:spcAft>
              <a:defRPr sz="1100">
                <a:solidFill>
                  <a:srgbClr val="222222"/>
                </a:solidFill>
              </a:defRPr>
            </a:pPr>
            <a:r>
              <a:rPr sz="1100" b="0">
                <a:solidFill>
                  <a:srgbClr val="222222"/>
                </a:solidFill>
                <a:latin typeface="Arial"/>
              </a:rPr>
              <a:t>•  Deterministic routing via Yen's </a:t>
            </a:r>
            <a14:m xmlns:a14="http://schemas.microsoft.com/office/drawing/2010/main" xmlns:m="http://schemas.openxmlformats.org/officeDocument/2006/math">
              <m:oMath>
                <m:r>
                  <m:t>K</m:t>
                </m:r>
                <m:r>
                  <m:t>-SP</m:t>
                </m:r>
              </m:oMath>
            </a14:m>
            <a:r>
              <a:rPr sz="1100" b="0">
                <a:solidFill>
                  <a:srgbClr val="222222"/>
                </a:solidFill>
                <a:latin typeface="Arial"/>
              </a:rPr>
              <a:t> constrained graph algorithm</a:t>
            </a:r>
          </a:p>
          <a:p>
            <a:pPr>
              <a:spcBef>
                <a:spcPts val="0"/>
              </a:spcBef>
              <a:spcAft>
                <a:spcPts val="300"/>
              </a:spcAft>
              <a:defRPr sz="1100">
                <a:solidFill>
                  <a:srgbClr val="222222"/>
                </a:solidFill>
              </a:defRPr>
            </a:pPr>
            <a:r>
              <a:rPr sz="1100" b="0">
                <a:solidFill>
                  <a:srgbClr val="222222"/>
                </a:solidFill>
                <a:latin typeface="Arial"/>
              </a:rPr>
              <a:t>•  Physical QoT validation via pure Python analytical GN-model engine</a:t>
            </a:r>
          </a:p>
          <a:p>
            <a:pPr>
              <a:spcBef>
                <a:spcPts val="0"/>
              </a:spcBef>
              <a:spcAft>
                <a:spcPts val="300"/>
              </a:spcAft>
              <a:defRPr sz="1100">
                <a:solidFill>
                  <a:srgbClr val="222222"/>
                </a:solidFill>
              </a:defRPr>
            </a:pPr>
            <a:r>
              <a:rPr sz="1100" b="0">
                <a:solidFill>
                  <a:srgbClr val="222222"/>
                </a:solidFill>
                <a:latin typeface="Arial"/>
              </a:rPr>
              <a:t>•  Evaluates </a:t>
            </a:r>
            <a14:m xmlns:a14="http://schemas.microsoft.com/office/drawing/2010/main" xmlns:m="http://schemas.openxmlformats.org/officeDocument/2006/math">
              <m:oMath>
                <m:r>
                  <m:t>GSNR ≥ </m:t>
                </m:r>
                <m:sSub>
                  <m:e>
                    <m:r>
                      <m:t>GSNR</m:t>
                    </m:r>
                  </m:e>
                  <m:sub>
                    <m:r>
                      <m:t>th</m:t>
                    </m:r>
                  </m:sub>
                </m:sSub>
              </m:oMath>
            </a14:m>
            <a:r>
              <a:rPr sz="1100" b="0">
                <a:solidFill>
                  <a:srgbClr val="222222"/>
                </a:solidFill>
                <a:latin typeface="Arial"/>
              </a:rPr>
              <a:t> and </a:t>
            </a:r>
            <a14:m xmlns:a14="http://schemas.microsoft.com/office/drawing/2010/main" xmlns:m="http://schemas.openxmlformats.org/officeDocument/2006/math">
              <m:oMath>
                <m:sSub>
                  <m:e>
                    <m:r>
                      <m:t>P</m:t>
                    </m:r>
                  </m:e>
                  <m:sub>
                    <m:r>
                      <m:t>rx</m:t>
                    </m:r>
                  </m:sub>
                </m:sSub>
                <m:r>
                  <m:t> ≥ </m:t>
                </m:r>
                <m:sSub>
                  <m:e>
                    <m:r>
                      <m:t>P</m:t>
                    </m:r>
                  </m:e>
                  <m:sub>
                    <m:r>
                      <m:t>rx,min</m:t>
                    </m:r>
                  </m:sub>
                </m:sSub>
              </m:oMath>
            </a14:m>
            <a:r>
              <a:rPr sz="1100" b="0">
                <a:solidFill>
                  <a:srgbClr val="222222"/>
                </a:solidFill>
                <a:latin typeface="Arial"/>
              </a:rPr>
              <a:t> with zero hallucination</a:t>
            </a:r>
          </a:p>
        </p:txBody>
      </p:sp>
      <p:sp>
        <p:nvSpPr>
          <p:cNvPr id="13" name="Rounded Rectangle 12"/>
          <p:cNvSpPr/>
          <p:nvPr/>
        </p:nvSpPr>
        <p:spPr>
          <a:xfrm>
            <a:off x="6217920" y="1188720"/>
            <a:ext cx="525780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Core Thesis Contributions (Architectural Novelties)</a:t>
            </a:r>
          </a:p>
        </p:txBody>
      </p:sp>
      <p:sp>
        <p:nvSpPr>
          <p:cNvPr id="14" name="Rounded Rectangle 13"/>
          <p:cNvSpPr/>
          <p:nvPr/>
        </p:nvSpPr>
        <p:spPr>
          <a:xfrm>
            <a:off x="6217920" y="1783080"/>
            <a:ext cx="5257800" cy="143560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1856232"/>
            <a:ext cx="4983480" cy="1289304"/>
          </a:xfrm>
          <a:prstGeom prst="rect">
            <a:avLst/>
          </a:prstGeom>
          <a:noFill/>
        </p:spPr>
        <p:txBody>
          <a:bodyPr wrap="square" tIns="18288" bIns="18288">
            <a:spAutoFit/>
          </a:bodyPr>
          <a:lstStyle/>
          <a:p>
            <a:pPr>
              <a:spcAft>
                <a:spcPts val="200"/>
              </a:spcAft>
              <a:defRPr sz="1200" b="1">
                <a:solidFill>
                  <a:srgbClr val="0F2C53"/>
                </a:solidFill>
              </a:defRPr>
            </a:pPr>
            <a:r>
              <a:rPr sz="1200" b="1">
                <a:solidFill>
                  <a:srgbClr val="0F2C53"/>
                </a:solidFill>
                <a:latin typeface="Titillium Web SemiBold"/>
              </a:rPr>
              <a:t>1. Neurosymbolic Decoupling &amp; Scoped GraphRAG</a:t>
            </a:r>
          </a:p>
          <a:p>
            <a:pPr>
              <a:spcBef>
                <a:spcPts val="0"/>
              </a:spcBef>
              <a:spcAft>
                <a:spcPts val="200"/>
              </a:spcAft>
              <a:defRPr sz="1000">
                <a:solidFill>
                  <a:srgbClr val="222222"/>
                </a:solidFill>
              </a:defRPr>
            </a:pPr>
            <a:r>
              <a:rPr sz="1000" b="0">
                <a:solidFill>
                  <a:srgbClr val="222222"/>
                </a:solidFill>
                <a:latin typeface="Arial"/>
              </a:rPr>
              <a:t>•  Strict separation: probabilistic semantic translation vs deterministic physics</a:t>
            </a:r>
          </a:p>
          <a:p>
            <a:pPr>
              <a:spcBef>
                <a:spcPts val="0"/>
              </a:spcBef>
              <a:spcAft>
                <a:spcPts val="200"/>
              </a:spcAft>
              <a:defRPr sz="1000">
                <a:solidFill>
                  <a:srgbClr val="222222"/>
                </a:solidFill>
              </a:defRPr>
            </a:pPr>
            <a:r>
              <a:rPr sz="1000" b="0">
                <a:solidFill>
                  <a:srgbClr val="222222"/>
                </a:solidFill>
                <a:latin typeface="Arial"/>
              </a:rPr>
              <a:t>•  Subtopology scoping reduces prompt tokens by &gt;75%, eliminating attention loss</a:t>
            </a:r>
          </a:p>
        </p:txBody>
      </p:sp>
      <p:sp>
        <p:nvSpPr>
          <p:cNvPr id="16" name="Rounded Rectangle 15"/>
          <p:cNvSpPr/>
          <p:nvPr/>
        </p:nvSpPr>
        <p:spPr>
          <a:xfrm>
            <a:off x="6217920" y="3328416"/>
            <a:ext cx="5257800" cy="1435608"/>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3401568"/>
            <a:ext cx="4983480" cy="1289304"/>
          </a:xfrm>
          <a:prstGeom prst="rect">
            <a:avLst/>
          </a:prstGeom>
          <a:noFill/>
        </p:spPr>
        <p:txBody>
          <a:bodyPr wrap="square" tIns="18288" bIns="18288">
            <a:spAutoFit/>
          </a:bodyPr>
          <a:lstStyle/>
          <a:p>
            <a:pPr>
              <a:spcAft>
                <a:spcPts val="200"/>
              </a:spcAft>
              <a:defRPr sz="1200" b="1">
                <a:solidFill>
                  <a:srgbClr val="B07D00"/>
                </a:solidFill>
              </a:defRPr>
            </a:pPr>
            <a:r>
              <a:rPr sz="1200" b="1">
                <a:solidFill>
                  <a:srgbClr val="B07D00"/>
                </a:solidFill>
                <a:latin typeface="Titillium Web SemiBold"/>
              </a:rPr>
              <a:t>2. Dual-Layer Semantic Uncertainty Gate (</a:t>
            </a:r>
            <a14:m xmlns:a14="http://schemas.microsoft.com/office/drawing/2010/main" xmlns:m="http://schemas.openxmlformats.org/officeDocument/2006/math">
              <m:oMath>
                <m:sSub>
                  <m:e>
                    <m:r>
                      <m:t>U</m:t>
                    </m:r>
                  </m:e>
                  <m:sub>
                    <m:r>
                      <m:t>sem</m:t>
                    </m:r>
                  </m:sub>
                </m:sSub>
              </m:oMath>
            </a14:m>
            <a:r>
              <a:rPr sz="1200" b="1">
                <a:solidFill>
                  <a:srgbClr val="B07D00"/>
                </a:solidFill>
                <a:latin typeface="Titillium Web SemiBold"/>
              </a:rPr>
              <a:t>)</a:t>
            </a:r>
          </a:p>
          <a:p>
            <a:pPr>
              <a:spcBef>
                <a:spcPts val="0"/>
              </a:spcBef>
              <a:spcAft>
                <a:spcPts val="200"/>
              </a:spcAft>
              <a:defRPr sz="1000">
                <a:solidFill>
                  <a:srgbClr val="222222"/>
                </a:solidFill>
              </a:defRPr>
            </a:pPr>
            <a:r>
              <a:rPr sz="1000" b="0">
                <a:solidFill>
                  <a:srgbClr val="222222"/>
                </a:solidFill>
                <a:latin typeface="Arial"/>
              </a:rPr>
              <a:t>•  Layer 1 syntax check (</a:t>
            </a:r>
            <a14:m xmlns:a14="http://schemas.microsoft.com/office/drawing/2010/main" xmlns:m="http://schemas.openxmlformats.org/officeDocument/2006/math">
              <m:oMath>
                <m:sSub>
                  <m:e>
                    <m:r>
                      <m:t>v</m:t>
                    </m:r>
                  </m:e>
                  <m:sub>
                    <m:r>
                      <m:t>struct</m:t>
                    </m:r>
                  </m:sub>
                </m:sSub>
                <m:r>
                  <m:t> ∈ {0, 1}</m:t>
                </m:r>
              </m:oMath>
            </a14:m>
            <a:r>
              <a:rPr sz="1000" b="0">
                <a:solidFill>
                  <a:srgbClr val="222222"/>
                </a:solidFill>
                <a:latin typeface="Arial"/>
              </a:rPr>
              <a:t>) + Layer 2 semantic discrepancy (</a:t>
            </a:r>
            <a14:m xmlns:a14="http://schemas.microsoft.com/office/drawing/2010/main" xmlns:m="http://schemas.openxmlformats.org/officeDocument/2006/math">
              <m:oMath>
                <m:sSub>
                  <m:e>
                    <m:r>
                      <m:t>d</m:t>
                    </m:r>
                  </m:e>
                  <m:sub>
                    <m:r>
                      <m:t>sem</m:t>
                    </m:r>
                  </m:sub>
                </m:sSub>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Pauses via LangGraph interrupt() when </a:t>
            </a:r>
            <a14:m xmlns:a14="http://schemas.microsoft.com/office/drawing/2010/main" xmlns:m="http://schemas.openxmlformats.org/officeDocument/2006/math">
              <m:oMath>
                <m:sSub>
                  <m:e>
                    <m:r>
                      <m:t>U</m:t>
                    </m:r>
                  </m:e>
                  <m:sub>
                    <m:r>
                      <m:t>sem</m:t>
                    </m:r>
                  </m:sub>
                </m:sSub>
                <m:r>
                  <m:t> &gt; </m:t>
                </m:r>
                <m:sSub>
                  <m:e>
                    <m:r>
                      <m:t>τ</m:t>
                    </m:r>
                  </m:e>
                  <m:sub>
                    <m:r>
                      <m:t>sem</m:t>
                    </m:r>
                  </m:sub>
                </m:sSub>
              </m:oMath>
            </a14:m>
            <a:r>
              <a:rPr sz="1000" b="0">
                <a:solidFill>
                  <a:srgbClr val="222222"/>
                </a:solidFill>
                <a:latin typeface="Arial"/>
              </a:rPr>
              <a:t> to clarify ambiguity</a:t>
            </a:r>
          </a:p>
        </p:txBody>
      </p:sp>
      <p:sp>
        <p:nvSpPr>
          <p:cNvPr id="18" name="Rounded Rectangle 17"/>
          <p:cNvSpPr/>
          <p:nvPr/>
        </p:nvSpPr>
        <p:spPr>
          <a:xfrm>
            <a:off x="6217920" y="4873752"/>
            <a:ext cx="5257800" cy="143560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946904"/>
            <a:ext cx="4983480" cy="1289304"/>
          </a:xfrm>
          <a:prstGeom prst="rect">
            <a:avLst/>
          </a:prstGeom>
          <a:noFill/>
        </p:spPr>
        <p:txBody>
          <a:bodyPr wrap="square" tIns="18288" bIns="18288">
            <a:spAutoFit/>
          </a:bodyPr>
          <a:lstStyle/>
          <a:p>
            <a:pPr>
              <a:spcAft>
                <a:spcPts val="200"/>
              </a:spcAft>
              <a:defRPr sz="1200" b="1">
                <a:solidFill>
                  <a:srgbClr val="1A7F37"/>
                </a:solidFill>
              </a:defRPr>
            </a:pPr>
            <a:r>
              <a:rPr sz="1200" b="1">
                <a:solidFill>
                  <a:srgbClr val="1A7F37"/>
                </a:solidFill>
                <a:latin typeface="Titillium Web SemiBold"/>
              </a:rPr>
              <a:t>3. Risk-Adaptive Decision Gate (RADG) &amp; QoT</a:t>
            </a:r>
          </a:p>
          <a:p>
            <a:pPr>
              <a:spcBef>
                <a:spcPts val="0"/>
              </a:spcBef>
              <a:spcAft>
                <a:spcPts val="200"/>
              </a:spcAft>
              <a:defRPr sz="1000">
                <a:solidFill>
                  <a:srgbClr val="222222"/>
                </a:solidFill>
              </a:defRPr>
            </a:pPr>
            <a:r>
              <a:rPr sz="1000" b="0">
                <a:solidFill>
                  <a:srgbClr val="222222"/>
                </a:solidFill>
                <a:latin typeface="Arial"/>
              </a:rPr>
              <a:t>•  Piecewise decision </a:t>
            </a:r>
            <a14:m xmlns:a14="http://schemas.microsoft.com/office/drawing/2010/main" xmlns:m="http://schemas.openxmlformats.org/officeDocument/2006/math">
              <m:oMath>
                <m:r>
                  <m:t>D(</m:t>
                </m:r>
                <m:sSub>
                  <m:e>
                    <m:r>
                      <m:t>U</m:t>
                    </m:r>
                  </m:e>
                  <m:sub>
                    <m:r>
                      <m:t>sem</m:t>
                    </m:r>
                  </m:sub>
                </m:sSub>
                <m:r>
                  <m:t>, </m:t>
                </m:r>
                <m:sSub>
                  <m:e>
                    <m:r>
                      <m:t>QoT</m:t>
                    </m:r>
                  </m:e>
                  <m:sub>
                    <m:r>
                      <m:t>valid</m:t>
                    </m:r>
                  </m:sub>
                </m:sSub>
                <m:r>
                  <m:t>)</m:t>
                </m:r>
              </m:oMath>
            </a14:m>
            <a:r>
              <a:rPr sz="1000" b="0">
                <a:solidFill>
                  <a:srgbClr val="222222"/>
                </a:solidFill>
                <a:latin typeface="Arial"/>
              </a:rPr>
              <a:t>: clarify, replan, or auto-approve</a:t>
            </a:r>
          </a:p>
          <a:p>
            <a:pPr>
              <a:spcBef>
                <a:spcPts val="0"/>
              </a:spcBef>
              <a:spcAft>
                <a:spcPts val="200"/>
              </a:spcAft>
              <a:defRPr sz="1000">
                <a:solidFill>
                  <a:srgbClr val="222222"/>
                </a:solidFill>
              </a:defRPr>
            </a:pPr>
            <a:r>
              <a:rPr sz="1000" b="0">
                <a:solidFill>
                  <a:srgbClr val="222222"/>
                </a:solidFill>
                <a:latin typeface="Arial"/>
              </a:rPr>
              <a:t>•  Guarantees </a:t>
            </a:r>
            <a14:m xmlns:a14="http://schemas.microsoft.com/office/drawing/2010/main" xmlns:m="http://schemas.openxmlformats.org/officeDocument/2006/math">
              <m:oMath>
                <m:r>
                  <m:t>UAR = 100%</m:t>
                </m:r>
              </m:oMath>
            </a14:m>
            <a:r>
              <a:rPr sz="1000" b="0">
                <a:solidFill>
                  <a:srgbClr val="222222"/>
                </a:solidFill>
                <a:latin typeface="Arial"/>
              </a:rPr>
              <a:t> physical safety with &lt;5 ms calculation latency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7</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End-to-End System Architecture &amp; Pipeline Flow</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1</a:t>
            </a:r>
          </a:p>
        </p:txBody>
      </p:sp>
      <p:sp>
        <p:nvSpPr>
          <p:cNvPr id="9" name="TextBox 8"/>
          <p:cNvSpPr txBox="1"/>
          <p:nvPr/>
        </p:nvSpPr>
        <p:spPr>
          <a:xfrm>
            <a:off x="67665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Optical RAG</a:t>
            </a:r>
          </a:p>
          <a:p>
            <a:pPr algn="l">
              <a:spcBef>
                <a:spcPts val="400"/>
              </a:spcBef>
              <a:defRPr sz="950">
                <a:solidFill>
                  <a:srgbClr val="222222"/>
                </a:solidFill>
              </a:defRPr>
            </a:pPr>
            <a:r>
              <a:rPr sz="950" b="0">
                <a:solidFill>
                  <a:srgbClr val="222222"/>
                </a:solidFill>
                <a:latin typeface="Arial"/>
              </a:rPr>
              <a:t>Enrich </a:t>
            </a:r>
            <a14:m xmlns:a14="http://schemas.microsoft.com/office/drawing/2010/main" xmlns:m="http://schemas.openxmlformats.org/officeDocument/2006/math">
              <m:oMath>
                <m:sSub>
                  <m:e>
                    <m:r>
                      <m:t>ℐ</m:t>
                    </m:r>
                  </m:e>
                  <m:sub>
                    <m:r>
                      <m:t>NL</m:t>
                    </m:r>
                  </m:sub>
                </m:sSub>
              </m:oMath>
            </a14:m>
            <a:r>
              <a:rPr sz="950" b="0">
                <a:solidFill>
                  <a:srgbClr val="222222"/>
                </a:solidFill>
                <a:latin typeface="Arial"/>
              </a:rPr>
              <a:t> with ITU-T grid &amp; transponders</a:t>
            </a:r>
          </a:p>
        </p:txBody>
      </p:sp>
      <p:sp>
        <p:nvSpPr>
          <p:cNvPr id="10" name="Right Arrow 9"/>
          <p:cNvSpPr/>
          <p:nvPr/>
        </p:nvSpPr>
        <p:spPr>
          <a:xfrm>
            <a:off x="20078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2326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2326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2</a:t>
            </a:r>
          </a:p>
        </p:txBody>
      </p:sp>
      <p:sp>
        <p:nvSpPr>
          <p:cNvPr id="13" name="TextBox 12"/>
          <p:cNvSpPr txBox="1"/>
          <p:nvPr/>
        </p:nvSpPr>
        <p:spPr>
          <a:xfrm>
            <a:off x="22692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PDDL Parser</a:t>
            </a:r>
          </a:p>
          <a:p>
            <a:pPr algn="l">
              <a:spcBef>
                <a:spcPts val="400"/>
              </a:spcBef>
              <a:defRPr sz="950">
                <a:solidFill>
                  <a:srgbClr val="222222"/>
                </a:solidFill>
              </a:defRPr>
            </a:pPr>
            <a:r>
              <a:rPr sz="950" b="0">
                <a:solidFill>
                  <a:srgbClr val="222222"/>
                </a:solidFill>
                <a:latin typeface="Arial"/>
              </a:rPr>
              <a:t>Translate intent into formal PDDL </a:t>
            </a:r>
            <a14:m xmlns:a14="http://schemas.microsoft.com/office/drawing/2010/main" xmlns:m="http://schemas.openxmlformats.org/officeDocument/2006/math">
              <m:oMath>
                <m:sSub>
                  <m:e>
                    <m:r>
                      <m:t>𝒮</m:t>
                    </m:r>
                  </m:e>
                  <m:sub>
                    <m:r>
                      <m:t>PDDL</m:t>
                    </m:r>
                  </m:sub>
                </m:sSub>
              </m:oMath>
            </a14:m>
            <a:r>
              <a:rPr sz="950" b="0">
                <a:solidFill>
                  <a:srgbClr val="222222"/>
                </a:solidFill>
                <a:latin typeface="Arial"/>
              </a:rPr>
              <a:t> AST</a:t>
            </a:r>
          </a:p>
        </p:txBody>
      </p:sp>
      <p:sp>
        <p:nvSpPr>
          <p:cNvPr id="14" name="Right Arrow 13"/>
          <p:cNvSpPr/>
          <p:nvPr/>
        </p:nvSpPr>
        <p:spPr>
          <a:xfrm>
            <a:off x="360045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825240" y="1234440"/>
            <a:ext cx="1325880" cy="384048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825240" y="1234440"/>
            <a:ext cx="1325880" cy="50292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3</a:t>
            </a:r>
          </a:p>
        </p:txBody>
      </p:sp>
      <p:sp>
        <p:nvSpPr>
          <p:cNvPr id="17" name="TextBox 16"/>
          <p:cNvSpPr txBox="1"/>
          <p:nvPr/>
        </p:nvSpPr>
        <p:spPr>
          <a:xfrm>
            <a:off x="3861816" y="1773936"/>
            <a:ext cx="1252728" cy="3264408"/>
          </a:xfrm>
          <a:prstGeom prst="rect">
            <a:avLst/>
          </a:prstGeom>
          <a:noFill/>
        </p:spPr>
        <p:txBody>
          <a:bodyPr wrap="square" tIns="54864" lIns="36576" rIns="36576">
            <a:spAutoFit/>
          </a:bodyPr>
          <a:lstStyle/>
          <a:p>
            <a:pPr algn="ctr">
              <a:defRPr sz="1100" b="1">
                <a:solidFill>
                  <a:srgbClr val="B07D00"/>
                </a:solidFill>
                <a:latin typeface="Titillium Web SemiBold"/>
              </a:defRPr>
            </a:pPr>
            <a:r>
              <a:t>Semantic Gate</a:t>
            </a:r>
          </a:p>
          <a:p>
            <a:pPr algn="ctr">
              <a:defRPr sz="900" b="1">
                <a:solidFill>
                  <a:srgbClr val="B07D00"/>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Evaluate CFG </a:t>
            </a:r>
            <a14:m xmlns:a14="http://schemas.microsoft.com/office/drawing/2010/main" xmlns:m="http://schemas.openxmlformats.org/officeDocument/2006/math">
              <m:oMath>
                <m:sSub>
                  <m:e>
                    <m:r>
                      <m:t>v</m:t>
                    </m:r>
                  </m:e>
                  <m:sub>
                    <m:r>
                      <m:t>struct</m:t>
                    </m:r>
                  </m:sub>
                </m:sSub>
              </m:oMath>
            </a14:m>
            <a:r>
              <a:rPr sz="950" b="0">
                <a:solidFill>
                  <a:srgbClr val="222222"/>
                </a:solidFill>
                <a:latin typeface="Arial"/>
              </a:rPr>
              <a:t> &amp; Reverse Prompting </a:t>
            </a:r>
            <a14:m xmlns:a14="http://schemas.microsoft.com/office/drawing/2010/main" xmlns:m="http://schemas.openxmlformats.org/officeDocument/2006/math">
              <m:oMath>
                <m:sSub>
                  <m:e>
                    <m:r>
                      <m:t>d</m:t>
                    </m:r>
                  </m:e>
                  <m:sub>
                    <m:r>
                      <m:t>sem</m:t>
                    </m:r>
                  </m:sub>
                </m:sSub>
              </m:oMath>
            </a14:m>
          </a:p>
        </p:txBody>
      </p:sp>
      <p:sp>
        <p:nvSpPr>
          <p:cNvPr id="18" name="Right Arrow 17"/>
          <p:cNvSpPr/>
          <p:nvPr/>
        </p:nvSpPr>
        <p:spPr>
          <a:xfrm>
            <a:off x="519303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1782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1782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4</a:t>
            </a:r>
          </a:p>
        </p:txBody>
      </p:sp>
      <p:sp>
        <p:nvSpPr>
          <p:cNvPr id="21" name="TextBox 20"/>
          <p:cNvSpPr txBox="1"/>
          <p:nvPr/>
        </p:nvSpPr>
        <p:spPr>
          <a:xfrm>
            <a:off x="545439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Symbolic Solver</a:t>
            </a:r>
          </a:p>
          <a:p>
            <a:pPr algn="l">
              <a:spcBef>
                <a:spcPts val="400"/>
              </a:spcBef>
              <a:defRPr sz="950">
                <a:solidFill>
                  <a:srgbClr val="222222"/>
                </a:solidFill>
              </a:defRPr>
            </a:pPr>
            <a:r>
              <a:rPr sz="950" b="0">
                <a:solidFill>
                  <a:srgbClr val="222222"/>
                </a:solidFill>
                <a:latin typeface="Arial"/>
              </a:rPr>
              <a:t>Scoped GraphRAG &amp; Yen's </a:t>
            </a:r>
            <a14:m xmlns:a14="http://schemas.microsoft.com/office/drawing/2010/main" xmlns:m="http://schemas.openxmlformats.org/officeDocument/2006/math">
              <m:oMath>
                <m:r>
                  <m:t>K</m:t>
                </m:r>
                <m:r>
                  <m:t>-SP</m:t>
                </m:r>
              </m:oMath>
            </a14:m>
            <a:r>
              <a:rPr sz="950" b="0">
                <a:solidFill>
                  <a:srgbClr val="222222"/>
                </a:solidFill>
                <a:latin typeface="Arial"/>
              </a:rPr>
              <a:t> routing</a:t>
            </a:r>
          </a:p>
        </p:txBody>
      </p:sp>
      <p:sp>
        <p:nvSpPr>
          <p:cNvPr id="22" name="Right Arrow 21"/>
          <p:cNvSpPr/>
          <p:nvPr/>
        </p:nvSpPr>
        <p:spPr>
          <a:xfrm>
            <a:off x="678561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1040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01040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5</a:t>
            </a:r>
          </a:p>
        </p:txBody>
      </p:sp>
      <p:sp>
        <p:nvSpPr>
          <p:cNvPr id="25" name="TextBox 24"/>
          <p:cNvSpPr txBox="1"/>
          <p:nvPr/>
        </p:nvSpPr>
        <p:spPr>
          <a:xfrm>
            <a:off x="704697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QoT Physics</a:t>
            </a:r>
          </a:p>
          <a:p>
            <a:pPr algn="l">
              <a:spcBef>
                <a:spcPts val="400"/>
              </a:spcBef>
              <a:defRPr sz="950">
                <a:solidFill>
                  <a:srgbClr val="222222"/>
                </a:solidFill>
              </a:defRPr>
            </a:pPr>
            <a:r>
              <a:rPr sz="950" b="0">
                <a:solidFill>
                  <a:srgbClr val="222222"/>
                </a:solidFill>
                <a:latin typeface="Arial"/>
              </a:rPr>
              <a:t>Deterministic GN-model </a:t>
            </a:r>
            <a14:m xmlns:a14="http://schemas.microsoft.com/office/drawing/2010/main" xmlns:m="http://schemas.openxmlformats.org/officeDocument/2006/math">
              <m:oMath>
                <m:r>
                  <m:t>GSNR</m:t>
                </m:r>
              </m:oMath>
            </a14:m>
            <a:r>
              <a:rPr sz="950" b="0">
                <a:solidFill>
                  <a:srgbClr val="222222"/>
                </a:solidFill>
                <a:latin typeface="Arial"/>
              </a:rPr>
              <a:t> calculation</a:t>
            </a:r>
          </a:p>
        </p:txBody>
      </p:sp>
      <p:sp>
        <p:nvSpPr>
          <p:cNvPr id="26" name="Right Arrow 25"/>
          <p:cNvSpPr/>
          <p:nvPr/>
        </p:nvSpPr>
        <p:spPr>
          <a:xfrm>
            <a:off x="837819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602980" y="1234440"/>
            <a:ext cx="1325880" cy="38404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02980" y="1234440"/>
            <a:ext cx="1325880" cy="50292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6</a:t>
            </a:r>
          </a:p>
        </p:txBody>
      </p:sp>
      <p:sp>
        <p:nvSpPr>
          <p:cNvPr id="29" name="TextBox 28"/>
          <p:cNvSpPr txBox="1"/>
          <p:nvPr/>
        </p:nvSpPr>
        <p:spPr>
          <a:xfrm>
            <a:off x="8639556" y="1773936"/>
            <a:ext cx="1252728" cy="3264408"/>
          </a:xfrm>
          <a:prstGeom prst="rect">
            <a:avLst/>
          </a:prstGeom>
          <a:noFill/>
        </p:spPr>
        <p:txBody>
          <a:bodyPr wrap="square" tIns="54864" lIns="36576" rIns="36576">
            <a:spAutoFit/>
          </a:bodyPr>
          <a:lstStyle/>
          <a:p>
            <a:pPr algn="ctr">
              <a:defRPr sz="1100" b="1">
                <a:solidFill>
                  <a:srgbClr val="85200C"/>
                </a:solidFill>
                <a:latin typeface="Titillium Web SemiBold"/>
              </a:defRPr>
            </a:pPr>
            <a:r>
              <a:t>Risk Gate (RADG)</a:t>
            </a:r>
          </a:p>
          <a:p>
            <a:pPr algn="ctr">
              <a:defRPr sz="900" b="1">
                <a:solidFill>
                  <a:srgbClr val="85200C"/>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Piecewise risk gate </a:t>
            </a:r>
            <a14:m xmlns:a14="http://schemas.microsoft.com/office/drawing/2010/main" xmlns:m="http://schemas.openxmlformats.org/officeDocument/2006/math">
              <m:oMath>
                <m:r>
                  <m:t>D(</m:t>
                </m:r>
                <m:sSub>
                  <m:e>
                    <m:r>
                      <m:t>U</m:t>
                    </m:r>
                  </m:e>
                  <m:sub>
                    <m:r>
                      <m:t>sem</m:t>
                    </m:r>
                  </m:sub>
                </m:sSub>
                <m:r>
                  <m:t>, QoT)</m:t>
                </m:r>
              </m:oMath>
            </a14:m>
          </a:p>
        </p:txBody>
      </p:sp>
      <p:sp>
        <p:nvSpPr>
          <p:cNvPr id="30" name="Right Arrow 29"/>
          <p:cNvSpPr/>
          <p:nvPr/>
        </p:nvSpPr>
        <p:spPr>
          <a:xfrm>
            <a:off x="99707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955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1955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7</a:t>
            </a:r>
          </a:p>
        </p:txBody>
      </p:sp>
      <p:sp>
        <p:nvSpPr>
          <p:cNvPr id="33" name="TextBox 32"/>
          <p:cNvSpPr txBox="1"/>
          <p:nvPr/>
        </p:nvSpPr>
        <p:spPr>
          <a:xfrm>
            <a:off x="102321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Plan Synthesizer</a:t>
            </a:r>
          </a:p>
          <a:p>
            <a:pPr algn="l">
              <a:spcBef>
                <a:spcPts val="400"/>
              </a:spcBef>
              <a:defRPr sz="950">
                <a:solidFill>
                  <a:srgbClr val="222222"/>
                </a:solidFill>
              </a:defRPr>
            </a:pPr>
            <a:r>
              <a:rPr sz="950" b="0">
                <a:solidFill>
                  <a:srgbClr val="222222"/>
                </a:solidFill>
                <a:latin typeface="Arial"/>
              </a:rPr>
              <a:t>Auditable report &amp; deployment commands</a:t>
            </a:r>
          </a:p>
        </p:txBody>
      </p:sp>
      <p:sp>
        <p:nvSpPr>
          <p:cNvPr id="34" name="Rounded Rectangle 33"/>
          <p:cNvSpPr/>
          <p:nvPr/>
        </p:nvSpPr>
        <p:spPr>
          <a:xfrm>
            <a:off x="640080" y="5349240"/>
            <a:ext cx="5212080" cy="868680"/>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376672"/>
            <a:ext cx="5120640" cy="804672"/>
          </a:xfrm>
          <a:prstGeom prst="rect">
            <a:avLst/>
          </a:prstGeom>
          <a:noFill/>
        </p:spPr>
        <p:txBody>
          <a:bodyPr wrap="square" tIns="36576">
            <a:spAutoFit/>
          </a:bodyPr>
          <a:lstStyle/>
          <a:p>
            <a:pPr>
              <a:defRPr sz="1200" b="1">
                <a:solidFill>
                  <a:srgbClr val="B07D00"/>
                </a:solidFill>
                <a:latin typeface="Titillium Web SemiBold"/>
              </a:defRPr>
            </a:pPr>
            <a:r>
              <a:t>⏸️ Phase 3b: Clarify Loop (LangGraph interrupt())</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U</m:t>
                    </m:r>
                  </m:e>
                  <m:sub>
                    <m:r>
                      <m:t>sem</m:t>
                    </m:r>
                  </m:sub>
                </m:sSub>
                <m:r>
                  <m:t> &gt; </m:t>
                </m:r>
                <m:sSub>
                  <m:e>
                    <m:r>
                      <m:t>τ</m:t>
                    </m:r>
                  </m:e>
                  <m:sub>
                    <m:r>
                      <m:t>sem</m:t>
                    </m:r>
                  </m:sub>
                </m:sSub>
              </m:oMath>
            </a14:m>
            <a:r>
              <a:rPr sz="1000" b="0">
                <a:solidFill>
                  <a:srgbClr val="222222"/>
                </a:solidFill>
                <a:latin typeface="Arial"/>
              </a:rPr>
              <a:t>: Pauses execution and prompts operator for intent disambiguation</a:t>
            </a:r>
          </a:p>
        </p:txBody>
      </p:sp>
      <p:sp>
        <p:nvSpPr>
          <p:cNvPr id="36" name="Rounded Rectangle 35"/>
          <p:cNvSpPr/>
          <p:nvPr/>
        </p:nvSpPr>
        <p:spPr>
          <a:xfrm>
            <a:off x="6217920" y="5349240"/>
            <a:ext cx="5212080" cy="86868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3640" y="5376672"/>
            <a:ext cx="5120640" cy="804672"/>
          </a:xfrm>
          <a:prstGeom prst="rect">
            <a:avLst/>
          </a:prstGeom>
          <a:noFill/>
        </p:spPr>
        <p:txBody>
          <a:bodyPr wrap="square" tIns="36576">
            <a:spAutoFit/>
          </a:bodyPr>
          <a:lstStyle/>
          <a:p>
            <a:pPr>
              <a:defRPr sz="1200" b="1">
                <a:solidFill>
                  <a:srgbClr val="85200C"/>
                </a:solidFill>
                <a:latin typeface="Titillium Web SemiBold"/>
              </a:defRPr>
            </a:pPr>
            <a:r>
              <a:t>↺ Phase 6: Suggest Replan Loop (Physics Unfeasible)</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QoT</m:t>
                    </m:r>
                  </m:e>
                  <m:sub>
                    <m:r>
                      <m:t>valid</m:t>
                    </m:r>
                  </m:sub>
                </m:sSub>
                <m:r>
                  <m:t> = 0</m:t>
                </m:r>
              </m:oMath>
            </a14:m>
            <a:r>
              <a:rPr sz="1000" b="0">
                <a:solidFill>
                  <a:srgbClr val="222222"/>
                </a:solidFill>
                <a:latin typeface="Arial"/>
              </a:rPr>
              <a:t>: Suggests operator to relax constraints (lower baud rate, alternate link)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8</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Token Saturation: Scoped Optical GraphRAG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12064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1206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Deterministic k-hop Subtopology Scoping</a:t>
            </a:r>
          </a:p>
        </p:txBody>
      </p:sp>
      <p:sp>
        <p:nvSpPr>
          <p:cNvPr id="9" name="TextBox 8"/>
          <p:cNvSpPr txBox="1"/>
          <p:nvPr/>
        </p:nvSpPr>
        <p:spPr>
          <a:xfrm>
            <a:off x="868680" y="1874520"/>
            <a:ext cx="4754880" cy="4114800"/>
          </a:xfrm>
          <a:prstGeom prst="rect">
            <a:avLst/>
          </a:prstGeom>
          <a:noFill/>
        </p:spPr>
        <p:txBody>
          <a:bodyPr wrap="square">
            <a:spAutoFit/>
          </a:bodyPr>
          <a:lstStyle/>
          <a:p>
            <a:pPr>
              <a:spcBef>
                <a:spcPts val="0"/>
              </a:spcBef>
              <a:spcAft>
                <a:spcPts val="500"/>
              </a:spcAft>
              <a:defRPr sz="1100">
                <a:solidFill>
                  <a:srgbClr val="222222"/>
                </a:solidFill>
              </a:defRPr>
            </a:pPr>
            <a:r>
              <a:rPr sz="1100" b="0">
                <a:solidFill>
                  <a:srgbClr val="222222"/>
                </a:solidFill>
                <a:latin typeface="Arial"/>
              </a:rPr>
              <a:t>•  Full topology dumps overwhelm LLM context windows</a:t>
            </a:r>
          </a:p>
          <a:p>
            <a:pPr>
              <a:spcBef>
                <a:spcPts val="0"/>
              </a:spcBef>
              <a:spcAft>
                <a:spcPts val="500"/>
              </a:spcAft>
              <a:defRPr sz="1100">
                <a:solidFill>
                  <a:srgbClr val="222222"/>
                </a:solidFill>
              </a:defRPr>
            </a:pPr>
            <a:r>
              <a:rPr sz="1100" b="0">
                <a:solidFill>
                  <a:srgbClr val="222222"/>
                </a:solidFill>
                <a:latin typeface="Arial"/>
              </a:rPr>
              <a:t>•  Raw JSON contains excessive telemetry: ROADM ports, EDFAs, fibers</a:t>
            </a:r>
          </a:p>
          <a:p>
            <a:pPr>
              <a:spcBef>
                <a:spcPts val="0"/>
              </a:spcBef>
              <a:spcAft>
                <a:spcPts val="500"/>
              </a:spcAft>
              <a:defRPr sz="1100">
                <a:solidFill>
                  <a:srgbClr val="222222"/>
                </a:solidFill>
              </a:defRPr>
            </a:pPr>
            <a:r>
              <a:rPr sz="1100" b="0">
                <a:solidFill>
                  <a:srgbClr val="222222"/>
                </a:solidFill>
                <a:latin typeface="Arial"/>
              </a:rPr>
              <a:t>•  Mock GraphRAG extracts localized subtopology </a:t>
            </a:r>
            <a14:m xmlns:a14="http://schemas.microsoft.com/office/drawing/2010/main" xmlns:m="http://schemas.openxmlformats.org/officeDocument/2006/math">
              <m:oMath>
                <m:sSub>
                  <m:e>
                    <m:r>
                      <m:t>G</m:t>
                    </m:r>
                  </m:e>
                  <m:sub>
                    <m:r>
                      <m:t>sub</m:t>
                    </m:r>
                  </m:sub>
                </m:sSub>
                <m:r>
                  <m:t> ⊆ G</m:t>
                </m:r>
              </m:oMath>
            </a14:m>
          </a:p>
          <a:p>
            <a:pPr>
              <a:spcBef>
                <a:spcPts val="0"/>
              </a:spcBef>
              <a:spcAft>
                <a:spcPts val="500"/>
              </a:spcAft>
              <a:defRPr sz="1100">
                <a:solidFill>
                  <a:srgbClr val="222222"/>
                </a:solidFill>
              </a:defRPr>
            </a:pPr>
            <a:r>
              <a:rPr sz="1100" b="0">
                <a:solidFill>
                  <a:srgbClr val="222222"/>
                </a:solidFill>
                <a:latin typeface="Arial"/>
              </a:rPr>
              <a:t>•  Bounding </a:t>
            </a:r>
            <a14:m xmlns:a14="http://schemas.microsoft.com/office/drawing/2010/main" xmlns:m="http://schemas.openxmlformats.org/officeDocument/2006/math">
              <m:oMath>
                <m:r>
                  <m:t>k</m:t>
                </m:r>
                <m:r>
                  <m:t>-hop</m:t>
                </m:r>
              </m:oMath>
            </a14:m>
            <a:r>
              <a:rPr sz="1100" b="0">
                <a:solidFill>
                  <a:srgbClr val="222222"/>
                </a:solidFill>
                <a:latin typeface="Arial"/>
              </a:rPr>
              <a:t> neighborhood between candidate endpoints</a:t>
            </a:r>
          </a:p>
          <a:p>
            <a:pPr>
              <a:spcBef>
                <a:spcPts val="0"/>
              </a:spcBef>
              <a:spcAft>
                <a:spcPts val="500"/>
              </a:spcAft>
              <a:defRPr sz="1100">
                <a:solidFill>
                  <a:srgbClr val="222222"/>
                </a:solidFill>
              </a:defRPr>
            </a:pPr>
            <a:r>
              <a:rPr sz="1100" b="0">
                <a:solidFill>
                  <a:srgbClr val="222222"/>
                </a:solidFill>
                <a:latin typeface="Arial"/>
              </a:rPr>
              <a:t>•  Quantitative Impact: Over 75% reduction in prompt token payload</a:t>
            </a:r>
          </a:p>
          <a:p>
            <a:pPr>
              <a:spcBef>
                <a:spcPts val="0"/>
              </a:spcBef>
              <a:spcAft>
                <a:spcPts val="500"/>
              </a:spcAft>
              <a:defRPr sz="1100">
                <a:solidFill>
                  <a:srgbClr val="222222"/>
                </a:solidFill>
              </a:defRPr>
            </a:pPr>
            <a:r>
              <a:rPr sz="1100" b="0">
                <a:solidFill>
                  <a:srgbClr val="222222"/>
                </a:solidFill>
                <a:latin typeface="Arial"/>
              </a:rPr>
              <a:t>•  Sub-millisecond graph extraction: </a:t>
            </a:r>
            <a14:m xmlns:a14="http://schemas.microsoft.com/office/drawing/2010/main" xmlns:m="http://schemas.openxmlformats.org/officeDocument/2006/math">
              <m:oMath>
                <m:r>
                  <m:t>𝒪(|V| + |E|)</m:t>
                </m:r>
              </m:oMath>
            </a14:m>
            <a:r>
              <a:rPr sz="1100" b="0">
                <a:solidFill>
                  <a:srgbClr val="222222"/>
                </a:solidFill>
                <a:latin typeface="Arial"/>
              </a:rPr>
              <a:t> executed in pure Python</a:t>
            </a:r>
          </a:p>
          <a:p>
            <a:pPr>
              <a:spcBef>
                <a:spcPts val="0"/>
              </a:spcBef>
              <a:spcAft>
                <a:spcPts val="500"/>
              </a:spcAft>
              <a:defRPr sz="1100">
                <a:solidFill>
                  <a:srgbClr val="222222"/>
                </a:solidFill>
              </a:defRPr>
            </a:pPr>
            <a:r>
              <a:rPr sz="1100" b="0">
                <a:solidFill>
                  <a:srgbClr val="222222"/>
                </a:solidFill>
                <a:latin typeface="Arial"/>
              </a:rPr>
              <a:t>•  Guarantees sharp LLM attention focus on active optical constraints</a:t>
            </a:r>
          </a:p>
          <a:p>
            <a:pPr>
              <a:spcBef>
                <a:spcPts val="400"/>
              </a:spcBef>
              <a:defRPr sz="1100" b="1">
                <a:solidFill>
                  <a:srgbClr val="0F2C53"/>
                </a:solidFill>
                <a:latin typeface="Titillium Web SemiBold"/>
              </a:defRPr>
            </a:pPr>
            <a:r>
              <a:t>Mathematical Scoping Bound:</a:t>
            </a:r>
          </a:p>
          <a:p>
            <a:pPr algn="ctr">
              <a:defRPr sz="1200">
                <a:solidFill>
                  <a:srgbClr val="0F2C53"/>
                </a:solidFill>
              </a:defRPr>
            </a:pPr>
            <a14:m xmlns:a14="http://schemas.microsoft.com/office/drawing/2010/main" xmlns:m="http://schemas.openxmlformats.org/officeDocument/2006/math">
              <m:oMathPara>
                <m:oMath>
                  <m:sSub>
                    <m:e>
                      <m:r>
                        <m:t>G</m:t>
                      </m:r>
                    </m:e>
                    <m:sub>
                      <m:r>
                        <m:t>sub</m:t>
                      </m:r>
                    </m:sub>
                  </m:sSub>
                  <m:r>
                    <m:t> = (</m:t>
                  </m:r>
                  <m:sSub>
                    <m:e>
                      <m:r>
                        <m:t>V</m:t>
                      </m:r>
                    </m:e>
                    <m:sub>
                      <m:r>
                        <m:t>sub</m:t>
                      </m:r>
                    </m:sub>
                  </m:sSub>
                  <m:r>
                    <m:t>, </m:t>
                  </m:r>
                  <m:sSub>
                    <m:e>
                      <m:r>
                        <m:t>E</m:t>
                      </m:r>
                    </m:e>
                    <m:sub>
                      <m:r>
                        <m:t>sub</m:t>
                      </m:r>
                    </m:sub>
                  </m:sSub>
                  <m:r>
                    <m:t>) ⊆ G</m:t>
                  </m:r>
                </m:oMath>
              </m:oMathPara>
            </a14:m>
          </a:p>
          <a:p>
            <a:pPr algn="ctr">
              <a:defRPr sz="1200">
                <a:solidFill>
                  <a:srgbClr val="0F2C53"/>
                </a:solidFill>
              </a:defRPr>
            </a:pPr>
            <a14:m xmlns:a14="http://schemas.microsoft.com/office/drawing/2010/main" xmlns:m="http://schemas.openxmlformats.org/officeDocument/2006/math">
              <m:oMathPara>
                <m:oMath>
                  <m:sSub>
                    <m:e>
                      <m:r>
                        <m:t>T</m:t>
                      </m:r>
                    </m:e>
                    <m:sub>
                      <m:r>
                        <m:t>prompt</m:t>
                      </m:r>
                    </m:sub>
                  </m:sSub>
                  <m:r>
                    <m:t>(</m:t>
                  </m:r>
                  <m:sSub>
                    <m:e>
                      <m:r>
                        <m:t>G</m:t>
                      </m:r>
                    </m:e>
                    <m:sub>
                      <m:r>
                        <m:t>sub</m:t>
                      </m:r>
                    </m:sub>
                  </m:sSub>
                  <m:r>
                    <m:t>) ≪ </m:t>
                  </m:r>
                  <m:sSub>
                    <m:e>
                      <m:r>
                        <m:t>T</m:t>
                      </m:r>
                    </m:e>
                    <m:sub>
                      <m:r>
                        <m:t>prompt</m:t>
                      </m:r>
                    </m:sub>
                  </m:sSub>
                  <m:r>
                    <m:t>(G)</m:t>
                  </m:r>
                </m:oMath>
              </m:oMathPara>
            </a14:m>
          </a:p>
        </p:txBody>
      </p:sp>
      <p:sp>
        <p:nvSpPr>
          <p:cNvPr id="10" name="Rounded Rectangle 9"/>
          <p:cNvSpPr/>
          <p:nvPr/>
        </p:nvSpPr>
        <p:spPr>
          <a:xfrm>
            <a:off x="6080760" y="1188720"/>
            <a:ext cx="539496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80760" y="1188720"/>
            <a:ext cx="539496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17-Node German Backbone: Subnetwork Scoping</a:t>
            </a:r>
          </a:p>
        </p:txBody>
      </p:sp>
      <p:sp>
        <p:nvSpPr>
          <p:cNvPr id="12" name="Rounded Rectangle 11"/>
          <p:cNvSpPr/>
          <p:nvPr/>
        </p:nvSpPr>
        <p:spPr>
          <a:xfrm>
            <a:off x="6263640" y="5532120"/>
            <a:ext cx="5029200" cy="43891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3"/>
                </a:solidFill>
                <a:latin typeface="Titillium Web SemiBold"/>
              </a:defRPr>
            </a:pPr>
            <a:r>
              <a:t>⚡ Frankfurt ➔ Munich demand: Northern nodes pruned from LLM prompt</a:t>
            </a:r>
          </a:p>
        </p:txBody>
      </p:sp>
      <p:pic>
        <p:nvPicPr>
          <p:cNvPr id="13" name="Picture 12"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pic>
        <p:nvPicPr>
          <p:cNvPr id="14" name="Picture 13" descr="germany_17nodes_opaco.jpg"/>
          <p:cNvPicPr>
            <a:picLocks noChangeAspect="1"/>
          </p:cNvPicPr>
          <p:nvPr/>
        </p:nvPicPr>
        <p:blipFill>
          <a:blip r:embed="rId3"/>
          <a:stretch>
            <a:fillRect/>
          </a:stretch>
        </p:blipFill>
        <p:spPr>
          <a:xfrm>
            <a:off x="6263640" y="1897380"/>
            <a:ext cx="5029200" cy="3355848"/>
          </a:xfrm>
          <a:prstGeom prst="rect">
            <a:avLst/>
          </a:prstGeom>
          <a:ln w="12700">
            <a:solidFill>
              <a:srgbClr val="D0D7DE"/>
            </a:solid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9</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Semantic Drift: Reverse Prompting &amp; HITL</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sz="1500" b="1">
                <a:solidFill>
                  <a:srgbClr val="FFFFFF"/>
                </a:solidFill>
                <a:latin typeface="Titillium Web SemiBold"/>
              </a:rPr>
              <a:t>🧠 Two-Layer Semantic Uncertainty (</a:t>
            </a:r>
            <a14:m xmlns:a14="http://schemas.microsoft.com/office/drawing/2010/main" xmlns:m="http://schemas.openxmlformats.org/officeDocument/2006/math">
              <m:oMath>
                <m:sSub>
                  <m:e>
                    <m:r>
                      <m:t>U</m:t>
                    </m:r>
                  </m:e>
                  <m:sub>
                    <m:r>
                      <m:t>sem</m:t>
                    </m:r>
                  </m:sub>
                </m:sSub>
              </m:oMath>
            </a14:m>
            <a:r>
              <a:rPr sz="1500" b="1">
                <a:solidFill>
                  <a:srgbClr val="FFFFFF"/>
                </a:solidFill>
                <a:latin typeface="Titillium Web SemiBold"/>
              </a:rPr>
              <a:t>)</a:t>
            </a:r>
          </a:p>
        </p:txBody>
      </p:sp>
      <p:sp>
        <p:nvSpPr>
          <p:cNvPr id="9" name="TextBox 8"/>
          <p:cNvSpPr txBox="1"/>
          <p:nvPr/>
        </p:nvSpPr>
        <p:spPr>
          <a:xfrm>
            <a:off x="868680" y="1874519"/>
            <a:ext cx="4846320" cy="352044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Layer 1 (Structural): CFG regex AST check (</a:t>
            </a:r>
            <a14:m xmlns:a14="http://schemas.microsoft.com/office/drawing/2010/main" xmlns:m="http://schemas.openxmlformats.org/officeDocument/2006/math">
              <m:oMath>
                <m:sSub>
                  <m:e>
                    <m:r>
                      <m:t>v</m:t>
                    </m:r>
                  </m:e>
                  <m:sub>
                    <m:r>
                      <m:t>struct</m:t>
                    </m:r>
                  </m:sub>
                </m:sSub>
                <m:r>
                  <m:t> ∈ {0, 1}</m:t>
                </m:r>
              </m:oMath>
            </a14:m>
            <a:r>
              <a:rPr sz="1200" b="0">
                <a:solidFill>
                  <a:srgbClr val="222222"/>
                </a:solidFill>
                <a:latin typeface="Arial"/>
              </a:rPr>
              <a:t>) catches syntax errors</a:t>
            </a:r>
          </a:p>
          <a:p>
            <a:pPr>
              <a:spcBef>
                <a:spcPts val="0"/>
              </a:spcBef>
              <a:spcAft>
                <a:spcPts val="600"/>
              </a:spcAft>
              <a:defRPr sz="1200">
                <a:solidFill>
                  <a:srgbClr val="222222"/>
                </a:solidFill>
              </a:defRPr>
            </a:pPr>
            <a:r>
              <a:rPr sz="1200" b="0">
                <a:solidFill>
                  <a:srgbClr val="222222"/>
                </a:solidFill>
                <a:latin typeface="Arial"/>
              </a:rPr>
              <a:t>•  Layer 2 (Semantic): Reverse Prompting reconstructs NL </a:t>
            </a:r>
            <a14:m xmlns:a14="http://schemas.microsoft.com/office/drawing/2010/main" xmlns:m="http://schemas.openxmlformats.org/officeDocument/2006/math">
              <m:oMath>
                <m:sSub>
                  <m:e>
                    <m:r>
                      <m:t>ℐ</m:t>
                    </m:r>
                  </m:e>
                  <m:sub>
                    <m:r>
                      <m:t>recon</m:t>
                    </m:r>
                  </m:sub>
                </m:sSub>
              </m:oMath>
            </a14:m>
            <a:r>
              <a:rPr sz="1200" b="0">
                <a:solidFill>
                  <a:srgbClr val="222222"/>
                </a:solidFill>
                <a:latin typeface="Arial"/>
              </a:rPr>
              <a:t> directly from PDDL</a:t>
            </a:r>
          </a:p>
          <a:p>
            <a:pPr>
              <a:spcBef>
                <a:spcPts val="0"/>
              </a:spcBef>
              <a:spcAft>
                <a:spcPts val="600"/>
              </a:spcAft>
              <a:defRPr sz="1200">
                <a:solidFill>
                  <a:srgbClr val="222222"/>
                </a:solidFill>
              </a:defRPr>
            </a:pPr>
            <a:r>
              <a:rPr sz="1200" b="0">
                <a:solidFill>
                  <a:srgbClr val="222222"/>
                </a:solidFill>
                <a:latin typeface="Arial"/>
              </a:rPr>
              <a:t>•  Independent LLM judge measures semantic discrepancy </a:t>
            </a:r>
            <a14:m xmlns:a14="http://schemas.microsoft.com/office/drawing/2010/main" xmlns:m="http://schemas.openxmlformats.org/officeDocument/2006/math">
              <m:oMath>
                <m:sSub>
                  <m:e>
                    <m:r>
                      <m:t>d</m:t>
                    </m:r>
                  </m:e>
                  <m:sub>
                    <m:r>
                      <m:t>sem</m:t>
                    </m:r>
                  </m:sub>
                </m:sSub>
                <m:r>
                  <m:t> ∈ [0, 1]</m:t>
                </m:r>
              </m:oMath>
            </a14:m>
          </a:p>
          <a:p>
            <a:pPr>
              <a:spcBef>
                <a:spcPts val="400"/>
              </a:spcBef>
              <a:defRPr sz="1200" b="1">
                <a:solidFill>
                  <a:srgbClr val="0F2C53"/>
                </a:solidFill>
                <a:latin typeface="Titillium Web SemiBold"/>
              </a:defRPr>
            </a:pPr>
            <a:r>
              <a:t>Uncertainty Formulation:</a:t>
            </a:r>
          </a:p>
          <a:p>
            <a:pPr algn="ctr">
              <a:defRPr sz="1200">
                <a:solidFill>
                  <a:srgbClr val="0F2C53"/>
                </a:solidFill>
              </a:defRPr>
            </a:pPr>
            <a14:m xmlns:a14="http://schemas.microsoft.com/office/drawing/2010/main" xmlns:m="http://schemas.openxmlformats.org/officeDocument/2006/math">
              <m:oMathPara>
                <m:oMath>
                  <m:sSub>
                    <m:e>
                      <m:r>
                        <m:t>U</m:t>
                      </m:r>
                    </m:e>
                    <m:sub>
                      <m:r>
                        <m:t>sem</m:t>
                      </m:r>
                    </m:sub>
                  </m:sSub>
                  <m:r>
                    <m:t> = </m:t>
                  </m:r>
                  <m:d>
                    <m:dPr>
                      <m:begChr m:val="{"/>
                      <m:endChr m:val=""/>
                      <m:grow m:val="1"/>
                    </m:dPr>
                    <m:e>
                      <m:eqArr>
                        <m:e>
                          <m:r>
                            <m:t>1        if </m:t>
                          </m:r>
                          <m:sSub>
                            <m:e>
                              <m:r>
                                <m:t>v</m:t>
                              </m:r>
                            </m:e>
                            <m:sub>
                              <m:r>
                                <m:t>struct</m:t>
                              </m:r>
                            </m:sub>
                          </m:sSub>
                          <m:r>
                            <m:t> = 0</m:t>
                          </m:r>
                        </m:e>
                        <m:e>
                          <m:sSub>
                            <m:e>
                              <m:r>
                                <m:t>d</m:t>
                              </m:r>
                            </m:e>
                            <m:sub>
                              <m:r>
                                <m:t>sem</m:t>
                              </m:r>
                            </m:sub>
                          </m:sSub>
                          <m:r>
                            <m:t>    if </m:t>
                          </m:r>
                          <m:sSub>
                            <m:e>
                              <m:r>
                                <m:t>v</m:t>
                              </m:r>
                            </m:e>
                            <m:sub>
                              <m:r>
                                <m:t>struct</m:t>
                              </m:r>
                            </m:sub>
                          </m:sSub>
                          <m:r>
                            <m:t> = 1</m:t>
                          </m:r>
                        </m:e>
                      </m:eqArr>
                    </m:e>
                  </m:d>
                </m:oMath>
              </m:oMathPara>
            </a14:m>
          </a:p>
        </p:txBody>
      </p:sp>
      <p:sp>
        <p:nvSpPr>
          <p:cNvPr id="10" name="Rounded Rectangle 9"/>
          <p:cNvSpPr/>
          <p:nvPr/>
        </p:nvSpPr>
        <p:spPr>
          <a:xfrm>
            <a:off x="6217920" y="1188720"/>
            <a:ext cx="5212080" cy="4297680"/>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Fail-Fast HITL Clarification Loop</a:t>
            </a:r>
          </a:p>
        </p:txBody>
      </p:sp>
      <p:sp>
        <p:nvSpPr>
          <p:cNvPr id="12" name="TextBox 11"/>
          <p:cNvSpPr txBox="1"/>
          <p:nvPr/>
        </p:nvSpPr>
        <p:spPr>
          <a:xfrm>
            <a:off x="6400800" y="1874519"/>
            <a:ext cx="4846320" cy="352044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Evaluated BEFORE invoking graph solvers or physical tools</a:t>
            </a:r>
          </a:p>
          <a:p>
            <a:pPr>
              <a:spcBef>
                <a:spcPts val="0"/>
              </a:spcBef>
              <a:spcAft>
                <a:spcPts val="600"/>
              </a:spcAft>
              <a:defRPr sz="1200">
                <a:solidFill>
                  <a:srgbClr val="222222"/>
                </a:solidFill>
              </a:defRPr>
            </a:pPr>
            <a:r>
              <a:rPr sz="1200" b="0">
                <a:solidFill>
                  <a:srgbClr val="222222"/>
                </a:solidFill>
                <a:latin typeface="Arial"/>
              </a:rPr>
              <a:t>•  If </a:t>
            </a:r>
            <a14:m xmlns:a14="http://schemas.microsoft.com/office/drawing/2010/main" xmlns:m="http://schemas.openxmlformats.org/officeDocument/2006/math">
              <m:oMath>
                <m:sSub>
                  <m:e>
                    <m:r>
                      <m:t>U</m:t>
                    </m:r>
                  </m:e>
                  <m:sub>
                    <m:r>
                      <m:t>sem</m:t>
                    </m:r>
                  </m:sub>
                </m:sSub>
                <m:r>
                  <m:t> &gt; </m:t>
                </m:r>
                <m:sSub>
                  <m:e>
                    <m:r>
                      <m:t>τ</m:t>
                    </m:r>
                  </m:e>
                  <m:sub>
                    <m:r>
                      <m:t>sem</m:t>
                    </m:r>
                  </m:sub>
                </m:sSub>
              </m:oMath>
            </a14:m>
            <a:r>
              <a:rPr sz="1200" b="0">
                <a:solidFill>
                  <a:srgbClr val="222222"/>
                </a:solidFill>
                <a:latin typeface="Arial"/>
              </a:rPr>
              <a:t>: Pipeline pauses via LangGraph interrupt()</a:t>
            </a:r>
          </a:p>
          <a:p>
            <a:pPr>
              <a:spcBef>
                <a:spcPts val="0"/>
              </a:spcBef>
              <a:spcAft>
                <a:spcPts val="600"/>
              </a:spcAft>
              <a:defRPr sz="1200">
                <a:solidFill>
                  <a:srgbClr val="222222"/>
                </a:solidFill>
              </a:defRPr>
            </a:pPr>
            <a:r>
              <a:rPr sz="1200" b="0">
                <a:solidFill>
                  <a:srgbClr val="222222"/>
                </a:solidFill>
                <a:latin typeface="Arial"/>
              </a:rPr>
              <a:t>•  Prompts operator to clarify ambiguous parameters or missing nodes</a:t>
            </a:r>
          </a:p>
          <a:p>
            <a:pPr>
              <a:spcBef>
                <a:spcPts val="0"/>
              </a:spcBef>
              <a:spcAft>
                <a:spcPts val="600"/>
              </a:spcAft>
              <a:defRPr sz="1200">
                <a:solidFill>
                  <a:srgbClr val="222222"/>
                </a:solidFill>
              </a:defRPr>
            </a:pPr>
            <a:r>
              <a:rPr sz="1200" b="0">
                <a:solidFill>
                  <a:srgbClr val="222222"/>
                </a:solidFill>
                <a:latin typeface="Arial"/>
              </a:rPr>
              <a:t>•  Eliminates infinite trial-and-error conversational loops</a:t>
            </a:r>
          </a:p>
          <a:p>
            <a:pPr>
              <a:spcBef>
                <a:spcPts val="0"/>
              </a:spcBef>
              <a:spcAft>
                <a:spcPts val="600"/>
              </a:spcAft>
              <a:defRPr sz="1200">
                <a:solidFill>
                  <a:srgbClr val="222222"/>
                </a:solidFill>
              </a:defRPr>
            </a:pPr>
            <a:r>
              <a:rPr sz="1200" b="0">
                <a:solidFill>
                  <a:srgbClr val="222222"/>
                </a:solidFill>
                <a:latin typeface="Arial"/>
              </a:rPr>
              <a:t>•  Guarantees downstream tools receive mathematically verified intent</a:t>
            </a:r>
          </a:p>
          <a:p>
            <a:pPr>
              <a:spcBef>
                <a:spcPts val="0"/>
              </a:spcBef>
              <a:spcAft>
                <a:spcPts val="600"/>
              </a:spcAft>
              <a:defRPr sz="1200">
                <a:solidFill>
                  <a:srgbClr val="222222"/>
                </a:solidFill>
              </a:defRPr>
            </a:pPr>
            <a:r>
              <a:rPr sz="1200" b="0">
                <a:solidFill>
                  <a:srgbClr val="222222"/>
                </a:solidFill>
                <a:latin typeface="Arial"/>
              </a:rPr>
              <a:t>•  If operator approves valid syntax (</a:t>
            </a:r>
            <a14:m xmlns:a14="http://schemas.microsoft.com/office/drawing/2010/main" xmlns:m="http://schemas.openxmlformats.org/officeDocument/2006/math">
              <m:oMath>
                <m:sSub>
                  <m:e>
                    <m:r>
                      <m:t>v</m:t>
                    </m:r>
                  </m:e>
                  <m:sub>
                    <m:r>
                      <m:t>struct</m:t>
                    </m:r>
                  </m:sub>
                </m:sSub>
                <m:r>
                  <m:t> = 1</m:t>
                </m:r>
              </m:oMath>
            </a14:m>
            <a:r>
              <a:rPr sz="1200" b="0">
                <a:solidFill>
                  <a:srgbClr val="222222"/>
                </a:solidFill>
                <a:latin typeface="Arial"/>
              </a:rPr>
              <a:t>): Bypasses parsing straight to solver</a:t>
            </a:r>
          </a:p>
        </p:txBody>
      </p:sp>
      <p:sp>
        <p:nvSpPr>
          <p:cNvPr id="13" name="Rounded Rectangle 12"/>
          <p:cNvSpPr/>
          <p:nvPr/>
        </p:nvSpPr>
        <p:spPr>
          <a:xfrm>
            <a:off x="685800" y="5669280"/>
            <a:ext cx="10744200" cy="5943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A7F37"/>
                </a:solidFill>
                <a:latin typeface="Titillium Web SemiBold"/>
              </a:defRPr>
            </a:pPr>
            <a:r>
              <a:t>Fail-Fast Guarantee: Zero computational waste on physics simulation when intent is ambiguous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10</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Pre-Deployment Risk Gate: The RADG Decision Function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89920" cy="2011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10424160" cy="1828800"/>
          </a:xfrm>
          <a:prstGeom prst="rect">
            <a:avLst/>
          </a:prstGeom>
          <a:noFill/>
        </p:spPr>
        <p:txBody>
          <a:bodyPr wrap="square">
            <a:spAutoFit/>
          </a:bodyPr>
          <a:lstStyle/>
          <a:p>
            <a:pPr>
              <a:defRPr sz="1400" b="1">
                <a:solidFill>
                  <a:srgbClr val="0F2C53"/>
                </a:solidFill>
              </a:defRPr>
            </a:pPr>
            <a:r>
              <a:rPr sz="1400" b="1">
                <a:solidFill>
                  <a:srgbClr val="0F2C53"/>
                </a:solidFill>
                <a:latin typeface="Titillium Web SemiBold"/>
              </a:rPr>
              <a:t>Piecewise Decision Formulation </a:t>
            </a:r>
            <a14:m xmlns:a14="http://schemas.microsoft.com/office/drawing/2010/main" xmlns:m="http://schemas.openxmlformats.org/officeDocument/2006/math">
              <m:oMath>
                <m:r>
                  <m:t>D(</m:t>
                </m:r>
                <m:sSub>
                  <m:e>
                    <m:r>
                      <m:t>U</m:t>
                    </m:r>
                  </m:e>
                  <m:sub>
                    <m:r>
                      <m:t>sem</m:t>
                    </m:r>
                  </m:sub>
                </m:sSub>
                <m:r>
                  <m:t>, </m:t>
                </m:r>
                <m:sSub>
                  <m:e>
                    <m:r>
                      <m:t>QoT</m:t>
                    </m:r>
                  </m:e>
                  <m:sub>
                    <m:r>
                      <m:t>valid</m:t>
                    </m:r>
                  </m:sub>
                </m:sSub>
                <m:r>
                  <m:t>)</m:t>
                </m:r>
              </m:oMath>
            </a14:m>
            <a:r>
              <a:rPr sz="1400" b="1">
                <a:solidFill>
                  <a:srgbClr val="0F2C53"/>
                </a:solidFill>
                <a:latin typeface="Titillium Web SemiBold"/>
              </a:rPr>
              <a:t>:</a:t>
            </a:r>
          </a:p>
          <a:p>
            <a:pPr algn="ctr">
              <a:defRPr sz="1300">
                <a:solidFill>
                  <a:srgbClr val="0F2C53"/>
                </a:solidFill>
              </a:defRPr>
            </a:pPr>
            <a14:m xmlns:a14="http://schemas.microsoft.com/office/drawing/2010/main" xmlns:m="http://schemas.openxmlformats.org/officeDocument/2006/math">
              <m:oMathPara>
                <m:oMath>
                  <m:r>
                    <m:t>D(</m:t>
                  </m:r>
                  <m:sSub>
                    <m:e>
                      <m:r>
                        <m:t>U</m:t>
                      </m:r>
                    </m:e>
                    <m:sub>
                      <m:r>
                        <m:t>sem</m:t>
                      </m:r>
                    </m:sub>
                  </m:sSub>
                  <m:r>
                    <m:t>, </m:t>
                  </m:r>
                  <m:sSub>
                    <m:e>
                      <m:r>
                        <m:t>QoT</m:t>
                      </m:r>
                    </m:e>
                    <m:sub>
                      <m:r>
                        <m:t>valid</m:t>
                      </m:r>
                    </m:sub>
                  </m:sSub>
                  <m:r>
                    <m:t>) = </m:t>
                  </m:r>
                  <m:d>
                    <m:dPr>
                      <m:begChr m:val="{"/>
                      <m:endChr m:val=""/>
                      <m:grow m:val="1"/>
                    </m:dPr>
                    <m:e>
                      <m:eqArr>
                        <m:e>
                          <m:r>
                            <m:t>clarify</m:t>
                          </m:r>
                          <m:r>
                            <m:t>    if </m:t>
                          </m:r>
                          <m:sSub>
                            <m:e>
                              <m:r>
                                <m:t>U</m:t>
                              </m:r>
                            </m:e>
                            <m:sub>
                              <m:r>
                                <m:t>sem</m:t>
                              </m:r>
                            </m:sub>
                          </m:sSub>
                          <m:r>
                            <m:t> &gt; </m:t>
                          </m:r>
                          <m:sSub>
                            <m:e>
                              <m:r>
                                <m:t>τ</m:t>
                              </m:r>
                            </m:e>
                            <m:sub>
                              <m:r>
                                <m:t>sem</m:t>
                              </m:r>
                            </m:sub>
                          </m:sSub>
                        </m:e>
                        <m:e>
                          <m:r>
                            <m:t>replan</m:t>
                          </m:r>
                          <m:r>
                            <m:t>    if </m:t>
                          </m:r>
                          <m:sSub>
                            <m:e>
                              <m:r>
                                <m:t>U</m:t>
                              </m:r>
                            </m:e>
                            <m:sub>
                              <m:r>
                                <m:t>sem</m:t>
                              </m:r>
                            </m:sub>
                          </m:sSub>
                          <m:r>
                            <m:t> ≤ </m:t>
                          </m:r>
                          <m:sSub>
                            <m:e>
                              <m:r>
                                <m:t>τ</m:t>
                              </m:r>
                            </m:e>
                            <m:sub>
                              <m:r>
                                <m:t>sem</m:t>
                              </m:r>
                            </m:sub>
                          </m:sSub>
                          <m:r>
                            <m:t> ∧ </m:t>
                          </m:r>
                          <m:sSub>
                            <m:e>
                              <m:r>
                                <m:t>QoT</m:t>
                              </m:r>
                            </m:e>
                            <m:sub>
                              <m:r>
                                <m:t>valid</m:t>
                              </m:r>
                            </m:sub>
                          </m:sSub>
                          <m:r>
                            <m:t> = 0</m:t>
                          </m:r>
                        </m:e>
                        <m:e>
                          <m:r>
                            <m:t>approve</m:t>
                          </m:r>
                          <m:r>
                            <m:t>    if </m:t>
                          </m:r>
                          <m:sSub>
                            <m:e>
                              <m:r>
                                <m:t>U</m:t>
                              </m:r>
                            </m:e>
                            <m:sub>
                              <m:r>
                                <m:t>sem</m:t>
                              </m:r>
                            </m:sub>
                          </m:sSub>
                          <m:r>
                            <m:t> ≤ </m:t>
                          </m:r>
                          <m:sSub>
                            <m:e>
                              <m:r>
                                <m:t>τ</m:t>
                              </m:r>
                            </m:e>
                            <m:sub>
                              <m:r>
                                <m:t>sem</m:t>
                              </m:r>
                            </m:sub>
                          </m:sSub>
                          <m:r>
                            <m:t> ∧ </m:t>
                          </m:r>
                          <m:sSub>
                            <m:e>
                              <m:r>
                                <m:t>QoT</m:t>
                              </m:r>
                            </m:e>
                            <m:sub>
                              <m:r>
                                <m:t>valid</m:t>
                              </m:r>
                            </m:sub>
                          </m:sSub>
                          <m:r>
                            <m:t> = 1</m:t>
                          </m:r>
                        </m:e>
                      </m:eqArr>
                    </m:e>
                  </m:d>
                </m:oMath>
              </m:oMathPara>
            </a14:m>
          </a:p>
        </p:txBody>
      </p:sp>
      <p:sp>
        <p:nvSpPr>
          <p:cNvPr id="9" name="Rounded Rectangle 8"/>
          <p:cNvSpPr/>
          <p:nvPr/>
        </p:nvSpPr>
        <p:spPr>
          <a:xfrm>
            <a:off x="685800" y="3429000"/>
            <a:ext cx="3444240" cy="274320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3429000"/>
            <a:ext cx="3444240" cy="59436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Clarify Intent</a:t>
            </a:r>
          </a:p>
        </p:txBody>
      </p:sp>
      <p:sp>
        <p:nvSpPr>
          <p:cNvPr id="11" name="TextBox 10"/>
          <p:cNvSpPr txBox="1"/>
          <p:nvPr/>
        </p:nvSpPr>
        <p:spPr>
          <a:xfrm>
            <a:off x="822960" y="4114800"/>
            <a:ext cx="3169920" cy="2057400"/>
          </a:xfrm>
          <a:prstGeom prst="rect">
            <a:avLst/>
          </a:prstGeom>
          <a:noFill/>
        </p:spPr>
        <p:txBody>
          <a:bodyPr wrap="square">
            <a:spAutoFit/>
          </a:bodyPr>
          <a:lstStyle/>
          <a:p>
            <a:pPr>
              <a:spcAft>
                <a:spcPts val="600"/>
              </a:spcAft>
              <a:defRPr sz="1200" b="1">
                <a:solidFill>
                  <a:srgbClr val="B07D00"/>
                </a:solidFill>
              </a:defRPr>
            </a:pPr>
            <a:r>
              <a:rPr sz="1200" b="1">
                <a:solidFill>
                  <a:srgbClr val="B07D00"/>
                </a:solidFill>
                <a:latin typeface="Titillium Web SemiBold"/>
              </a:rPr>
              <a:t>Condition: </a:t>
            </a:r>
            <a14:m xmlns:a14="http://schemas.microsoft.com/office/drawing/2010/main" xmlns:m="http://schemas.openxmlformats.org/officeDocument/2006/math">
              <m:oMath>
                <m:sSub>
                  <m:e>
                    <m:r>
                      <m:t>U</m:t>
                    </m:r>
                  </m:e>
                  <m:sub>
                    <m:r>
                      <m:t>sem</m:t>
                    </m:r>
                  </m:sub>
                </m:sSub>
                <m:r>
                  <m:t> &gt; </m:t>
                </m:r>
                <m:sSub>
                  <m:e>
                    <m:r>
                      <m:t>τ</m:t>
                    </m:r>
                  </m:e>
                  <m:sub>
                    <m:r>
                      <m:t>sem</m:t>
                    </m:r>
                  </m:sub>
                </m:sSub>
              </m:oMath>
            </a14:m>
          </a:p>
          <a:p>
            <a:pPr>
              <a:spcBef>
                <a:spcPts val="0"/>
              </a:spcBef>
              <a:spcAft>
                <a:spcPts val="400"/>
              </a:spcAft>
              <a:defRPr sz="1100">
                <a:solidFill>
                  <a:srgbClr val="222222"/>
                </a:solidFill>
              </a:defRPr>
            </a:pPr>
            <a:r>
              <a:rPr sz="1100" b="0">
                <a:solidFill>
                  <a:srgbClr val="222222"/>
                </a:solidFill>
                <a:latin typeface="Arial"/>
              </a:rPr>
              <a:t>•  Trigger: Semantic uncertainty exceeds threshold</a:t>
            </a:r>
          </a:p>
          <a:p>
            <a:pPr>
              <a:spcBef>
                <a:spcPts val="0"/>
              </a:spcBef>
              <a:spcAft>
                <a:spcPts val="400"/>
              </a:spcAft>
              <a:defRPr sz="1100">
                <a:solidFill>
                  <a:srgbClr val="222222"/>
                </a:solidFill>
              </a:defRPr>
            </a:pPr>
            <a:r>
              <a:rPr sz="1100" b="0">
                <a:solidFill>
                  <a:srgbClr val="222222"/>
                </a:solidFill>
                <a:latin typeface="Arial"/>
              </a:rPr>
              <a:t>•  Action: Pause pipeline via interrupt()</a:t>
            </a:r>
          </a:p>
          <a:p>
            <a:pPr>
              <a:spcBef>
                <a:spcPts val="0"/>
              </a:spcBef>
              <a:spcAft>
                <a:spcPts val="400"/>
              </a:spcAft>
              <a:defRPr sz="1100">
                <a:solidFill>
                  <a:srgbClr val="222222"/>
                </a:solidFill>
              </a:defRPr>
            </a:pPr>
            <a:r>
              <a:rPr sz="1100" b="0">
                <a:solidFill>
                  <a:srgbClr val="222222"/>
                </a:solidFill>
                <a:latin typeface="Arial"/>
              </a:rPr>
              <a:t>•  Prompts operator to provide missing data</a:t>
            </a:r>
          </a:p>
          <a:p>
            <a:pPr>
              <a:spcBef>
                <a:spcPts val="0"/>
              </a:spcBef>
              <a:spcAft>
                <a:spcPts val="400"/>
              </a:spcAft>
              <a:defRPr sz="1100">
                <a:solidFill>
                  <a:srgbClr val="222222"/>
                </a:solidFill>
              </a:defRPr>
            </a:pPr>
            <a:r>
              <a:rPr sz="1100" b="0">
                <a:solidFill>
                  <a:srgbClr val="222222"/>
                </a:solidFill>
                <a:latin typeface="Arial"/>
              </a:rPr>
              <a:t>•  Prevents unverified intent from reaching physics</a:t>
            </a:r>
          </a:p>
        </p:txBody>
      </p:sp>
      <p:sp>
        <p:nvSpPr>
          <p:cNvPr id="12" name="Rounded Rectangle 11"/>
          <p:cNvSpPr/>
          <p:nvPr/>
        </p:nvSpPr>
        <p:spPr>
          <a:xfrm>
            <a:off x="4358640" y="3429000"/>
            <a:ext cx="3444240" cy="274320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58640" y="3429000"/>
            <a:ext cx="344424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Suggest Replan</a:t>
            </a:r>
          </a:p>
        </p:txBody>
      </p:sp>
      <p:sp>
        <p:nvSpPr>
          <p:cNvPr id="14" name="TextBox 13"/>
          <p:cNvSpPr txBox="1"/>
          <p:nvPr/>
        </p:nvSpPr>
        <p:spPr>
          <a:xfrm>
            <a:off x="4495800" y="4114800"/>
            <a:ext cx="3169920" cy="2057400"/>
          </a:xfrm>
          <a:prstGeom prst="rect">
            <a:avLst/>
          </a:prstGeom>
          <a:noFill/>
        </p:spPr>
        <p:txBody>
          <a:bodyPr wrap="square">
            <a:spAutoFit/>
          </a:bodyPr>
          <a:lstStyle/>
          <a:p>
            <a:pPr>
              <a:spcAft>
                <a:spcPts val="600"/>
              </a:spcAft>
              <a:defRPr sz="1200" b="1">
                <a:solidFill>
                  <a:srgbClr val="85200C"/>
                </a:solidFill>
              </a:defRPr>
            </a:pPr>
            <a:r>
              <a:rPr sz="1200" b="1">
                <a:solidFill>
                  <a:srgbClr val="85200C"/>
                </a:solidFill>
                <a:latin typeface="Titillium Web SemiBold"/>
              </a:rPr>
              <a:t>Condition: </a:t>
            </a:r>
            <a14:m xmlns:a14="http://schemas.microsoft.com/office/drawing/2010/main" xmlns:m="http://schemas.openxmlformats.org/officeDocument/2006/math">
              <m:oMath>
                <m:sSub>
                  <m:e>
                    <m:r>
                      <m:t>U</m:t>
                    </m:r>
                  </m:e>
                  <m:sub>
                    <m:r>
                      <m:t>sem</m:t>
                    </m:r>
                  </m:sub>
                </m:sSub>
                <m:r>
                  <m:t> ≤ </m:t>
                </m:r>
                <m:sSub>
                  <m:e>
                    <m:r>
                      <m:t>τ</m:t>
                    </m:r>
                  </m:e>
                  <m:sub>
                    <m:r>
                      <m:t>sem</m:t>
                    </m:r>
                  </m:sub>
                </m:sSub>
                <m:r>
                  <m:t> ∧ </m:t>
                </m:r>
                <m:sSub>
                  <m:e>
                    <m:r>
                      <m:t>QoT</m:t>
                    </m:r>
                  </m:e>
                  <m:sub>
                    <m:r>
                      <m:t>valid</m:t>
                    </m:r>
                  </m:sub>
                </m:sSub>
                <m:r>
                  <m:t> = 0</m:t>
                </m:r>
              </m:oMath>
            </a14:m>
          </a:p>
          <a:p>
            <a:pPr>
              <a:spcBef>
                <a:spcPts val="0"/>
              </a:spcBef>
              <a:spcAft>
                <a:spcPts val="400"/>
              </a:spcAft>
              <a:defRPr sz="1100">
                <a:solidFill>
                  <a:srgbClr val="222222"/>
                </a:solidFill>
              </a:defRPr>
            </a:pPr>
            <a:r>
              <a:rPr sz="1100" b="0">
                <a:solidFill>
                  <a:srgbClr val="222222"/>
                </a:solidFill>
                <a:latin typeface="Arial"/>
              </a:rPr>
              <a:t>•  Trigger: Valid semantics, but physics infeasible</a:t>
            </a:r>
          </a:p>
          <a:p>
            <a:pPr>
              <a:spcBef>
                <a:spcPts val="0"/>
              </a:spcBef>
              <a:spcAft>
                <a:spcPts val="400"/>
              </a:spcAft>
              <a:defRPr sz="1100">
                <a:solidFill>
                  <a:srgbClr val="222222"/>
                </a:solidFill>
              </a:defRPr>
            </a:pPr>
            <a:r>
              <a:rPr sz="1100" b="0">
                <a:solidFill>
                  <a:srgbClr val="222222"/>
                </a:solidFill>
                <a:latin typeface="Arial"/>
              </a:rPr>
              <a:t>•  Action: Physics failed; notifies operator</a:t>
            </a:r>
          </a:p>
          <a:p>
            <a:pPr>
              <a:spcBef>
                <a:spcPts val="0"/>
              </a:spcBef>
              <a:spcAft>
                <a:spcPts val="400"/>
              </a:spcAft>
              <a:defRPr sz="1100">
                <a:solidFill>
                  <a:srgbClr val="222222"/>
                </a:solidFill>
              </a:defRPr>
            </a:pPr>
            <a:r>
              <a:rPr sz="1100" b="0">
                <a:solidFill>
                  <a:srgbClr val="222222"/>
                </a:solidFill>
                <a:latin typeface="Arial"/>
              </a:rPr>
              <a:t>•  Suggests relaxing constraints (e.g. lower baud rate)</a:t>
            </a:r>
          </a:p>
          <a:p>
            <a:pPr>
              <a:spcBef>
                <a:spcPts val="0"/>
              </a:spcBef>
              <a:spcAft>
                <a:spcPts val="400"/>
              </a:spcAft>
              <a:defRPr sz="1100">
                <a:solidFill>
                  <a:srgbClr val="222222"/>
                </a:solidFill>
              </a:defRPr>
            </a:pPr>
            <a:r>
              <a:rPr sz="1100" b="0">
                <a:solidFill>
                  <a:srgbClr val="222222"/>
                </a:solidFill>
                <a:latin typeface="Arial"/>
              </a:rPr>
              <a:t>•  Loops back to PDDL parsing with feedback</a:t>
            </a:r>
          </a:p>
        </p:txBody>
      </p:sp>
      <p:sp>
        <p:nvSpPr>
          <p:cNvPr id="15" name="Rounded Rectangle 14"/>
          <p:cNvSpPr/>
          <p:nvPr/>
        </p:nvSpPr>
        <p:spPr>
          <a:xfrm>
            <a:off x="8031480" y="3429000"/>
            <a:ext cx="3444240" cy="2743200"/>
          </a:xfrm>
          <a:prstGeom prst="roundRect">
            <a:avLst/>
          </a:prstGeom>
          <a:solidFill>
            <a:srgbClr val="F4F6F9"/>
          </a:solidFill>
          <a:ln w="254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31480" y="3429000"/>
            <a:ext cx="344424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Auto-Approve</a:t>
            </a:r>
          </a:p>
        </p:txBody>
      </p:sp>
      <p:sp>
        <p:nvSpPr>
          <p:cNvPr id="17" name="TextBox 16"/>
          <p:cNvSpPr txBox="1"/>
          <p:nvPr/>
        </p:nvSpPr>
        <p:spPr>
          <a:xfrm>
            <a:off x="8168640" y="4114800"/>
            <a:ext cx="3169920" cy="2057400"/>
          </a:xfrm>
          <a:prstGeom prst="rect">
            <a:avLst/>
          </a:prstGeom>
          <a:noFill/>
        </p:spPr>
        <p:txBody>
          <a:bodyPr wrap="square">
            <a:spAutoFit/>
          </a:bodyPr>
          <a:lstStyle/>
          <a:p>
            <a:pPr>
              <a:spcAft>
                <a:spcPts val="600"/>
              </a:spcAft>
              <a:defRPr sz="1200" b="1">
                <a:solidFill>
                  <a:srgbClr val="1A7F37"/>
                </a:solidFill>
              </a:defRPr>
            </a:pPr>
            <a:r>
              <a:rPr sz="1200" b="1">
                <a:solidFill>
                  <a:srgbClr val="1A7F37"/>
                </a:solidFill>
                <a:latin typeface="Titillium Web SemiBold"/>
              </a:rPr>
              <a:t>Condition: </a:t>
            </a:r>
            <a14:m xmlns:a14="http://schemas.microsoft.com/office/drawing/2010/main" xmlns:m="http://schemas.openxmlformats.org/officeDocument/2006/math">
              <m:oMath>
                <m:sSub>
                  <m:e>
                    <m:r>
                      <m:t>U</m:t>
                    </m:r>
                  </m:e>
                  <m:sub>
                    <m:r>
                      <m:t>sem</m:t>
                    </m:r>
                  </m:sub>
                </m:sSub>
                <m:r>
                  <m:t> ≤ </m:t>
                </m:r>
                <m:sSub>
                  <m:e>
                    <m:r>
                      <m:t>τ</m:t>
                    </m:r>
                  </m:e>
                  <m:sub>
                    <m:r>
                      <m:t>sem</m:t>
                    </m:r>
                  </m:sub>
                </m:sSub>
                <m:r>
                  <m:t> ∧ </m:t>
                </m:r>
                <m:sSub>
                  <m:e>
                    <m:r>
                      <m:t>QoT</m:t>
                    </m:r>
                  </m:e>
                  <m:sub>
                    <m:r>
                      <m:t>valid</m:t>
                    </m:r>
                  </m:sub>
                </m:sSub>
                <m:r>
                  <m:t> = 1</m:t>
                </m:r>
              </m:oMath>
            </a14:m>
          </a:p>
          <a:p>
            <a:pPr>
              <a:spcBef>
                <a:spcPts val="0"/>
              </a:spcBef>
              <a:spcAft>
                <a:spcPts val="400"/>
              </a:spcAft>
              <a:defRPr sz="1100">
                <a:solidFill>
                  <a:srgbClr val="222222"/>
                </a:solidFill>
              </a:defRPr>
            </a:pPr>
            <a:r>
              <a:rPr sz="1100" b="0">
                <a:solidFill>
                  <a:srgbClr val="222222"/>
                </a:solidFill>
                <a:latin typeface="Arial"/>
              </a:rPr>
              <a:t>•  Trigger: Clear semantics and feasible </a:t>
            </a:r>
            <a14:m xmlns:a14="http://schemas.microsoft.com/office/drawing/2010/main" xmlns:m="http://schemas.openxmlformats.org/officeDocument/2006/math">
              <m:oMath>
                <m:r>
                  <m:t>GSNR</m:t>
                </m:r>
              </m:oMath>
            </a14:m>
          </a:p>
          <a:p>
            <a:pPr>
              <a:spcBef>
                <a:spcPts val="0"/>
              </a:spcBef>
              <a:spcAft>
                <a:spcPts val="400"/>
              </a:spcAft>
              <a:defRPr sz="1100">
                <a:solidFill>
                  <a:srgbClr val="222222"/>
                </a:solidFill>
              </a:defRPr>
            </a:pPr>
            <a:r>
              <a:rPr sz="1100" b="0">
                <a:solidFill>
                  <a:srgbClr val="222222"/>
                </a:solidFill>
                <a:latin typeface="Arial"/>
              </a:rPr>
              <a:t>•  Action: Autonomous zero-touch provisioning</a:t>
            </a:r>
          </a:p>
          <a:p>
            <a:pPr>
              <a:spcBef>
                <a:spcPts val="0"/>
              </a:spcBef>
              <a:spcAft>
                <a:spcPts val="400"/>
              </a:spcAft>
              <a:defRPr sz="1100">
                <a:solidFill>
                  <a:srgbClr val="222222"/>
                </a:solidFill>
              </a:defRPr>
            </a:pPr>
            <a:r>
              <a:rPr sz="1100" b="0">
                <a:solidFill>
                  <a:srgbClr val="222222"/>
                </a:solidFill>
                <a:latin typeface="Arial"/>
              </a:rPr>
              <a:t>•  Generates auditable planning report</a:t>
            </a:r>
          </a:p>
          <a:p>
            <a:pPr>
              <a:spcBef>
                <a:spcPts val="0"/>
              </a:spcBef>
              <a:spcAft>
                <a:spcPts val="400"/>
              </a:spcAft>
              <a:defRPr sz="1100">
                <a:solidFill>
                  <a:srgbClr val="222222"/>
                </a:solidFill>
              </a:defRPr>
            </a:pPr>
            <a:r>
              <a:rPr sz="1100" b="0">
                <a:solidFill>
                  <a:srgbClr val="222222"/>
                </a:solidFill>
                <a:latin typeface="Arial"/>
              </a:rPr>
              <a:t>•  Zero unverified configurations reach controller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11</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Deterministic Physical Layer: GN-Model QoT Validation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Analytical Gaussian Noise (GN) Engine</a:t>
            </a:r>
          </a:p>
        </p:txBody>
      </p:sp>
      <p:sp>
        <p:nvSpPr>
          <p:cNvPr id="9" name="TextBox 8"/>
          <p:cNvSpPr txBox="1"/>
          <p:nvPr/>
        </p:nvSpPr>
        <p:spPr>
          <a:xfrm>
            <a:off x="868680" y="1874519"/>
            <a:ext cx="4846320" cy="3520440"/>
          </a:xfrm>
          <a:prstGeom prst="rect">
            <a:avLst/>
          </a:prstGeom>
          <a:noFill/>
        </p:spPr>
        <p:txBody>
          <a:bodyPr wrap="square">
            <a:spAutoFit/>
          </a:bodyPr>
          <a:lstStyle/>
          <a:p>
            <a:pPr>
              <a:spcBef>
                <a:spcPts val="0"/>
              </a:spcBef>
              <a:spcAft>
                <a:spcPts val="400"/>
              </a:spcAft>
              <a:defRPr sz="1200">
                <a:solidFill>
                  <a:srgbClr val="222222"/>
                </a:solidFill>
              </a:defRPr>
            </a:pPr>
            <a:r>
              <a:rPr sz="1200" b="0">
                <a:solidFill>
                  <a:srgbClr val="222222"/>
                </a:solidFill>
                <a:latin typeface="Arial"/>
              </a:rPr>
              <a:t>•  Pure Python implementation: zero LLM arithmetic</a:t>
            </a:r>
          </a:p>
          <a:p>
            <a:pPr>
              <a:spcBef>
                <a:spcPts val="400"/>
              </a:spcBef>
              <a:defRPr sz="1100" b="1">
                <a:solidFill>
                  <a:srgbClr val="0F2C53"/>
                </a:solidFill>
                <a:latin typeface="Titillium Web SemiBold"/>
              </a:defRPr>
            </a:pPr>
            <a:r>
              <a:t>Accumulated ASE Noise Power per Span:</a:t>
            </a:r>
          </a:p>
          <a:p>
            <a:pPr algn="ctr">
              <a:defRPr sz="1300">
                <a:solidFill>
                  <a:srgbClr val="0F2C53"/>
                </a:solidFill>
              </a:defRPr>
            </a:pPr>
            <a14:m xmlns:a14="http://schemas.microsoft.com/office/drawing/2010/main" xmlns:m="http://schemas.openxmlformats.org/officeDocument/2006/math">
              <m:oMathPara>
                <m:oMath>
                  <m:sSub>
                    <m:e>
                      <m:r>
                        <m:t>P</m:t>
                      </m:r>
                    </m:e>
                    <m:sub>
                      <m:r>
                        <m:t>ASE</m:t>
                      </m:r>
                    </m:sub>
                  </m:sSub>
                  <m:r>
                    <m:t> = (G - 1) · h · ν · F · </m:t>
                  </m:r>
                  <m:sSub>
                    <m:e>
                      <m:r>
                        <m:t>B</m:t>
                      </m:r>
                    </m:e>
                    <m:sub>
                      <m:r>
                        <m:t>ref</m:t>
                      </m:r>
                    </m:sub>
                  </m:sSub>
                </m:oMath>
              </m:oMathPara>
            </a14:m>
          </a:p>
          <a:p>
            <a:pPr>
              <a:spcBef>
                <a:spcPts val="400"/>
              </a:spcBef>
              <a:defRPr sz="1100" b="1">
                <a:solidFill>
                  <a:srgbClr val="0F2C53"/>
                </a:solidFill>
                <a:latin typeface="Titillium Web SemiBold"/>
              </a:defRPr>
            </a:pPr>
            <a:r>
              <a:t>Nonlinear Interference (NLI) Noise Power:</a:t>
            </a:r>
          </a:p>
          <a:p>
            <a:pPr algn="ctr">
              <a:defRPr sz="1300">
                <a:solidFill>
                  <a:srgbClr val="0F2C53"/>
                </a:solidFill>
              </a:defRPr>
            </a:pPr>
            <a14:m xmlns:a14="http://schemas.microsoft.com/office/drawing/2010/main" xmlns:m="http://schemas.openxmlformats.org/officeDocument/2006/math">
              <m:oMathPara>
                <m:oMath>
                  <m:sSub>
                    <m:e>
                      <m:r>
                        <m:t>P</m:t>
                      </m:r>
                    </m:e>
                    <m:sub>
                      <m:r>
                        <m:t>NLI</m:t>
                      </m:r>
                    </m:sub>
                  </m:sSub>
                  <m:r>
                    <m:t> ≈ η · </m:t>
                  </m:r>
                  <m:sSup>
                    <m:e>
                      <m:sSub>
                        <m:e>
                          <m:r>
                            <m:t>P</m:t>
                          </m:r>
                        </m:e>
                        <m:sub>
                          <m:r>
                            <m:t>ch</m:t>
                          </m:r>
                        </m:sub>
                      </m:sSub>
                    </m:e>
                    <m:sup>
                      <m:r>
                        <m:t>3</m:t>
                      </m:r>
                    </m:sup>
                  </m:sSup>
                </m:oMath>
              </m:oMathPara>
            </a14:m>
          </a:p>
          <a:p>
            <a:pPr>
              <a:spcBef>
                <a:spcPts val="600"/>
              </a:spcBef>
              <a:spcAft>
                <a:spcPts val="600"/>
              </a:spcAft>
              <a:defRPr sz="1100">
                <a:solidFill>
                  <a:srgbClr val="222222"/>
                </a:solidFill>
              </a:defRPr>
            </a:pPr>
            <a:r>
              <a:rPr sz="1100" b="0">
                <a:solidFill>
                  <a:srgbClr val="222222"/>
                </a:solidFill>
                <a:latin typeface="Arial"/>
              </a:rPr>
              <a:t>•  Accounts for fiber Kerr nonlinearity, dispersion, and EDFA noise</a:t>
            </a:r>
          </a:p>
        </p:txBody>
      </p:sp>
      <p:sp>
        <p:nvSpPr>
          <p:cNvPr id="10" name="Rounded Rectangle 9"/>
          <p:cNvSpPr/>
          <p:nvPr/>
        </p:nvSpPr>
        <p:spPr>
          <a:xfrm>
            <a:off x="6217920" y="1188720"/>
            <a:ext cx="5212080" cy="429768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Optical Feasibility &amp; GSNR Criteria</a:t>
            </a:r>
          </a:p>
        </p:txBody>
      </p:sp>
      <p:sp>
        <p:nvSpPr>
          <p:cNvPr id="12" name="TextBox 11"/>
          <p:cNvSpPr txBox="1"/>
          <p:nvPr/>
        </p:nvSpPr>
        <p:spPr>
          <a:xfrm>
            <a:off x="6400800" y="1874519"/>
            <a:ext cx="4846320" cy="3520440"/>
          </a:xfrm>
          <a:prstGeom prst="rect">
            <a:avLst/>
          </a:prstGeom>
          <a:noFill/>
        </p:spPr>
        <p:txBody>
          <a:bodyPr wrap="square">
            <a:spAutoFit/>
          </a:bodyPr>
          <a:lstStyle/>
          <a:p>
            <a:pPr>
              <a:defRPr sz="1100" b="1">
                <a:solidFill>
                  <a:srgbClr val="1A7F37"/>
                </a:solidFill>
                <a:latin typeface="Titillium Web SemiBold"/>
              </a:defRPr>
            </a:pPr>
            <a:r>
              <a:t>Generalized Signal-to-Noise Ratio (GSNR):</a:t>
            </a:r>
          </a:p>
          <a:p>
            <a:pPr algn="ctr">
              <a:defRPr sz="1300">
                <a:solidFill>
                  <a:srgbClr val="1A7F37"/>
                </a:solidFill>
              </a:defRPr>
            </a:pPr>
            <a14:m xmlns:a14="http://schemas.microsoft.com/office/drawing/2010/main" xmlns:m="http://schemas.openxmlformats.org/officeDocument/2006/math">
              <m:oMathPara>
                <m:oMath>
                  <m:r>
                    <m:t>GSNR = </m:t>
                  </m:r>
                  <m:f>
                    <m:num>
                      <m:sSub>
                        <m:e>
                          <m:r>
                            <m:t>P</m:t>
                          </m:r>
                        </m:e>
                        <m:sub>
                          <m:r>
                            <m:t>ch</m:t>
                          </m:r>
                        </m:sub>
                      </m:sSub>
                    </m:num>
                    <m:den>
                      <m:sSub>
                        <m:e>
                          <m:r>
                            <m:t>P</m:t>
                          </m:r>
                        </m:e>
                        <m:sub>
                          <m:r>
                            <m:t>ASE</m:t>
                          </m:r>
                        </m:sub>
                      </m:sSub>
                      <m:r>
                        <m:t> + </m:t>
                      </m:r>
                      <m:sSub>
                        <m:e>
                          <m:r>
                            <m:t>P</m:t>
                          </m:r>
                        </m:e>
                        <m:sub>
                          <m:r>
                            <m:t>NLI</m:t>
                          </m:r>
                        </m:sub>
                      </m:sSub>
                    </m:den>
                  </m:f>
                  <m:r>
                    <m:t> ≥ </m:t>
                  </m:r>
                  <m:sSub>
                    <m:e>
                      <m:r>
                        <m:t>GSNR</m:t>
                      </m:r>
                    </m:e>
                    <m:sub>
                      <m:r>
                        <m:t>th</m:t>
                      </m:r>
                    </m:sub>
                  </m:sSub>
                </m:oMath>
              </m:oMathPara>
            </a14:m>
          </a:p>
          <a:p>
            <a:pPr>
              <a:spcBef>
                <a:spcPts val="400"/>
              </a:spcBef>
              <a:defRPr sz="1100" b="1">
                <a:solidFill>
                  <a:srgbClr val="1A7F37"/>
                </a:solidFill>
                <a:latin typeface="Titillium Web SemiBold"/>
              </a:defRPr>
            </a:pPr>
            <a:r>
              <a:t>Receiver Power Sensitivity Budget:</a:t>
            </a:r>
          </a:p>
          <a:p>
            <a:pPr algn="ctr">
              <a:defRPr sz="1300">
                <a:solidFill>
                  <a:srgbClr val="1A7F37"/>
                </a:solidFill>
              </a:defRPr>
            </a:pPr>
            <a14:m xmlns:a14="http://schemas.microsoft.com/office/drawing/2010/main" xmlns:m="http://schemas.openxmlformats.org/officeDocument/2006/math">
              <m:oMathPara>
                <m:oMath>
                  <m:sSub>
                    <m:e>
                      <m:r>
                        <m:t>P</m:t>
                      </m:r>
                    </m:e>
                    <m:sub>
                      <m:r>
                        <m:t>rx</m:t>
                      </m:r>
                    </m:sub>
                  </m:sSub>
                  <m:r>
                    <m:t> = </m:t>
                  </m:r>
                  <m:sSub>
                    <m:e>
                      <m:r>
                        <m:t>P</m:t>
                      </m:r>
                    </m:e>
                    <m:sub>
                      <m:r>
                        <m:t>launch</m:t>
                      </m:r>
                    </m:sub>
                  </m:sSub>
                  <m:r>
                    <m:t> - </m:t>
                  </m:r>
                  <m:sSub>
                    <m:e>
                      <m:r>
                        <m:t>A</m:t>
                      </m:r>
                    </m:e>
                    <m:sub>
                      <m:r>
                        <m:t>total</m:t>
                      </m:r>
                    </m:sub>
                  </m:sSub>
                  <m:r>
                    <m:t> + </m:t>
                  </m:r>
                  <m:sSub>
                    <m:e>
                      <m:r>
                        <m:t>G</m:t>
                      </m:r>
                    </m:e>
                    <m:sub>
                      <m:r>
                        <m:t>total</m:t>
                      </m:r>
                    </m:sub>
                  </m:sSub>
                  <m:r>
                    <m:t> ≥ </m:t>
                  </m:r>
                  <m:sSub>
                    <m:e>
                      <m:r>
                        <m:t>P</m:t>
                      </m:r>
                    </m:e>
                    <m:sub>
                      <m:r>
                        <m:t>rx,min</m:t>
                      </m:r>
                    </m:sub>
                  </m:sSub>
                </m:oMath>
              </m:oMathPara>
            </a14:m>
          </a:p>
          <a:p>
            <a:pPr>
              <a:spcBef>
                <a:spcPts val="600"/>
              </a:spcBef>
              <a:spcAft>
                <a:spcPts val="600"/>
              </a:spcAft>
              <a:defRPr sz="1100">
                <a:solidFill>
                  <a:srgbClr val="222222"/>
                </a:solidFill>
              </a:defRPr>
            </a:pPr>
            <a:r>
              <a:rPr sz="1100" b="0">
                <a:solidFill>
                  <a:srgbClr val="222222"/>
                </a:solidFill>
                <a:latin typeface="Arial"/>
              </a:rPr>
              <a:t>•  Deterministic feasibility: </a:t>
            </a:r>
            <a14:m xmlns:a14="http://schemas.microsoft.com/office/drawing/2010/main" xmlns:m="http://schemas.openxmlformats.org/officeDocument/2006/math">
              <m:oMath>
                <m:r>
                  <m:t>GSNR ≥ </m:t>
                </m:r>
                <m:sSub>
                  <m:e>
                    <m:r>
                      <m:t>GSNR</m:t>
                    </m:r>
                  </m:e>
                  <m:sub>
                    <m:r>
                      <m:t>th</m:t>
                    </m:r>
                  </m:sub>
                </m:sSub>
                <m:r>
                  <m:t> ∧ </m:t>
                </m:r>
                <m:sSub>
                  <m:e>
                    <m:r>
                      <m:t>P</m:t>
                    </m:r>
                  </m:e>
                  <m:sub>
                    <m:r>
                      <m:t>rx</m:t>
                    </m:r>
                  </m:sub>
                </m:sSub>
                <m:r>
                  <m:t> ≥ </m:t>
                </m:r>
                <m:sSub>
                  <m:e>
                    <m:r>
                      <m:t>P</m:t>
                    </m:r>
                  </m:e>
                  <m:sub>
                    <m:r>
                      <m:t>rx,min</m:t>
                    </m:r>
                  </m:sub>
                </m:sSub>
              </m:oMath>
            </a14:m>
          </a:p>
        </p:txBody>
      </p:sp>
      <p:sp>
        <p:nvSpPr>
          <p:cNvPr id="13" name="Rounded Rectangle 12"/>
          <p:cNvSpPr/>
          <p:nvPr/>
        </p:nvSpPr>
        <p:spPr>
          <a:xfrm>
            <a:off x="685800" y="5669280"/>
            <a:ext cx="10744200" cy="5943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669280"/>
            <a:ext cx="10744200" cy="594360"/>
          </a:xfrm>
          <a:prstGeom prst="rect">
            <a:avLst/>
          </a:prstGeom>
          <a:noFill/>
        </p:spPr>
        <p:txBody>
          <a:bodyPr wrap="none">
            <a:spAutoFit/>
          </a:bodyPr>
          <a:lstStyle/>
          <a:p>
            <a:pPr algn="ctr">
              <a:defRPr sz="1300" b="1">
                <a:solidFill>
                  <a:srgbClr val="1A7F37"/>
                </a:solidFill>
              </a:defRPr>
            </a:pPr>
            <a:r>
              <a:rPr sz="1300" b="1">
                <a:solidFill>
                  <a:srgbClr val="1A7F37"/>
                </a:solidFill>
                <a:latin typeface="Titillium Web SemiBold"/>
              </a:rPr>
              <a:t>⚡ Execution Speed: </a:t>
            </a:r>
            <a14:m xmlns:a14="http://schemas.microsoft.com/office/drawing/2010/main" xmlns:m="http://schemas.openxmlformats.org/officeDocument/2006/math">
              <m:oMath>
                <m:sSub>
                  <m:e>
                    <m:r>
                      <m:t>T</m:t>
                    </m:r>
                  </m:e>
                  <m:sub>
                    <m:r>
                      <m:t>phys</m:t>
                    </m:r>
                  </m:sub>
                </m:sSub>
                <m:r>
                  <m:t> &lt; 5 ms</m:t>
                </m:r>
              </m:oMath>
            </a14:m>
            <a:r>
              <a:rPr sz="1300" b="1">
                <a:solidFill>
                  <a:srgbClr val="1A7F37"/>
                </a:solidFill>
                <a:latin typeface="Titillium Web SemiBold"/>
              </a:rPr>
              <a:t> per candidate route (100% deterministic reproducibility)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Experimental Setup &amp; Testbed Environment</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12064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1206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17-Node German Core Network Benchmark</a:t>
            </a:r>
          </a:p>
        </p:txBody>
      </p:sp>
      <p:sp>
        <p:nvSpPr>
          <p:cNvPr id="9" name="TextBox 8"/>
          <p:cNvSpPr txBox="1"/>
          <p:nvPr/>
        </p:nvSpPr>
        <p:spPr>
          <a:xfrm>
            <a:off x="868680" y="1874520"/>
            <a:ext cx="4754880" cy="4114800"/>
          </a:xfrm>
          <a:prstGeom prst="rect">
            <a:avLst/>
          </a:prstGeom>
          <a:noFill/>
        </p:spPr>
        <p:txBody>
          <a:bodyPr wrap="square">
            <a:spAutoFit/>
          </a:bodyPr>
          <a:lstStyle/>
          <a:p>
            <a:pPr>
              <a:spcBef>
                <a:spcPts val="0"/>
              </a:spcBef>
              <a:spcAft>
                <a:spcPts val="500"/>
              </a:spcAft>
              <a:defRPr sz="1100">
                <a:solidFill>
                  <a:srgbClr val="222222"/>
                </a:solidFill>
              </a:defRPr>
            </a:pPr>
            <a:r>
              <a:rPr sz="1100" b="0">
                <a:solidFill>
                  <a:srgbClr val="222222"/>
                </a:solidFill>
                <a:latin typeface="Arial"/>
              </a:rPr>
              <a:t>•  Realistic telecom benchmark: </a:t>
            </a:r>
            <a14:m xmlns:a14="http://schemas.microsoft.com/office/drawing/2010/main" xmlns:m="http://schemas.openxmlformats.org/officeDocument/2006/math">
              <m:oMath>
                <m:r>
                  <m:t>|V| = 17, |E| = 26</m:t>
                </m:r>
              </m:oMath>
            </a14:m>
            <a:r>
              <a:rPr sz="1100" b="0">
                <a:solidFill>
                  <a:srgbClr val="222222"/>
                </a:solidFill>
                <a:latin typeface="Arial"/>
              </a:rPr>
              <a:t> bidirectional fiber links</a:t>
            </a:r>
          </a:p>
          <a:p>
            <a:pPr>
              <a:spcBef>
                <a:spcPts val="0"/>
              </a:spcBef>
              <a:spcAft>
                <a:spcPts val="500"/>
              </a:spcAft>
              <a:defRPr sz="1100">
                <a:solidFill>
                  <a:srgbClr val="222222"/>
                </a:solidFill>
              </a:defRPr>
            </a:pPr>
            <a:r>
              <a:rPr sz="1100" b="0">
                <a:solidFill>
                  <a:srgbClr val="222222"/>
                </a:solidFill>
                <a:latin typeface="Arial"/>
              </a:rPr>
              <a:t>•  Standard Single-Mode Fiber (SMF-28): </a:t>
            </a:r>
            <a14:m xmlns:a14="http://schemas.microsoft.com/office/drawing/2010/main" xmlns:m="http://schemas.openxmlformats.org/officeDocument/2006/math">
              <m:oMath>
                <m:r>
                  <m:t>α = 0.2 dB/km</m:t>
                </m:r>
              </m:oMath>
            </a14:m>
          </a:p>
          <a:p>
            <a:pPr>
              <a:spcBef>
                <a:spcPts val="0"/>
              </a:spcBef>
              <a:spcAft>
                <a:spcPts val="500"/>
              </a:spcAft>
              <a:defRPr sz="1100">
                <a:solidFill>
                  <a:srgbClr val="222222"/>
                </a:solidFill>
              </a:defRPr>
            </a:pPr>
            <a:r>
              <a:rPr sz="1100" b="0">
                <a:solidFill>
                  <a:srgbClr val="222222"/>
                </a:solidFill>
                <a:latin typeface="Arial"/>
              </a:rPr>
              <a:t>•  Dispersion parameter </a:t>
            </a:r>
            <a14:m xmlns:a14="http://schemas.microsoft.com/office/drawing/2010/main" xmlns:m="http://schemas.openxmlformats.org/officeDocument/2006/math">
              <m:oMath>
                <m:r>
                  <m:t>D = 16.7 ps/(nm·km)</m:t>
                </m:r>
              </m:oMath>
            </a14:m>
            <a:r>
              <a:rPr sz="1100" b="0">
                <a:solidFill>
                  <a:srgbClr val="222222"/>
                </a:solidFill>
                <a:latin typeface="Arial"/>
              </a:rPr>
              <a:t>, </a:t>
            </a:r>
            <a14:m xmlns:a14="http://schemas.microsoft.com/office/drawing/2010/main" xmlns:m="http://schemas.openxmlformats.org/officeDocument/2006/math">
              <m:oMath>
                <m:r>
                  <m:t>γ = 1.2 </m:t>
                </m:r>
                <m:sSup>
                  <m:e>
                    <m:r>
                      <m:t>W</m:t>
                    </m:r>
                  </m:e>
                  <m:sup>
                    <m:r>
                      <m:t>-1</m:t>
                    </m:r>
                  </m:sup>
                </m:sSup>
                <m:sSup>
                  <m:e>
                    <m:r>
                      <m:t>km</m:t>
                    </m:r>
                  </m:e>
                  <m:sup>
                    <m:r>
                      <m:t>-1</m:t>
                    </m:r>
                  </m:sup>
                </m:sSup>
              </m:oMath>
            </a14:m>
          </a:p>
          <a:p>
            <a:pPr>
              <a:spcBef>
                <a:spcPts val="0"/>
              </a:spcBef>
              <a:spcAft>
                <a:spcPts val="500"/>
              </a:spcAft>
              <a:defRPr sz="1100">
                <a:solidFill>
                  <a:srgbClr val="222222"/>
                </a:solidFill>
              </a:defRPr>
            </a:pPr>
            <a:r>
              <a:rPr sz="1100" b="0">
                <a:solidFill>
                  <a:srgbClr val="222222"/>
                </a:solidFill>
                <a:latin typeface="Arial"/>
              </a:rPr>
              <a:t>•  Amplified spans: dual-stage EDFAs with noise figure </a:t>
            </a:r>
            <a14:m xmlns:a14="http://schemas.microsoft.com/office/drawing/2010/main" xmlns:m="http://schemas.openxmlformats.org/officeDocument/2006/math">
              <m:oMath>
                <m:r>
                  <m:t>NF = 5.5 dB</m:t>
                </m:r>
              </m:oMath>
            </a14:m>
          </a:p>
          <a:p>
            <a:pPr>
              <a:spcBef>
                <a:spcPts val="0"/>
              </a:spcBef>
              <a:spcAft>
                <a:spcPts val="500"/>
              </a:spcAft>
              <a:defRPr sz="1100">
                <a:solidFill>
                  <a:srgbClr val="222222"/>
                </a:solidFill>
              </a:defRPr>
            </a:pPr>
            <a:r>
              <a:rPr sz="1100" b="0">
                <a:solidFill>
                  <a:srgbClr val="222222"/>
                </a:solidFill>
                <a:latin typeface="Arial"/>
              </a:rPr>
              <a:t>•  Dynamic span lengths ranging from </a:t>
            </a:r>
            <a14:m xmlns:a14="http://schemas.microsoft.com/office/drawing/2010/main" xmlns:m="http://schemas.openxmlformats.org/officeDocument/2006/math">
              <m:oMath>
                <m:r>
                  <m:t>L ∈ [45, 350] km</m:t>
                </m:r>
              </m:oMath>
            </a14:m>
          </a:p>
          <a:p>
            <a:pPr>
              <a:spcBef>
                <a:spcPts val="0"/>
              </a:spcBef>
              <a:spcAft>
                <a:spcPts val="500"/>
              </a:spcAft>
              <a:defRPr sz="1100">
                <a:solidFill>
                  <a:srgbClr val="222222"/>
                </a:solidFill>
              </a:defRPr>
            </a:pPr>
            <a:r>
              <a:rPr sz="1100" b="0">
                <a:solidFill>
                  <a:srgbClr val="222222"/>
                </a:solidFill>
                <a:latin typeface="Arial"/>
              </a:rPr>
              <a:t>•  Orchestrator: LangGraph StateGraph with memory persistence</a:t>
            </a:r>
          </a:p>
          <a:p>
            <a:pPr>
              <a:spcBef>
                <a:spcPts val="0"/>
              </a:spcBef>
              <a:spcAft>
                <a:spcPts val="500"/>
              </a:spcAft>
              <a:defRPr sz="1100">
                <a:solidFill>
                  <a:srgbClr val="222222"/>
                </a:solidFill>
              </a:defRPr>
            </a:pPr>
            <a:r>
              <a:rPr sz="1100" b="0">
                <a:solidFill>
                  <a:srgbClr val="222222"/>
                </a:solidFill>
                <a:latin typeface="Arial"/>
              </a:rPr>
              <a:t>•  Telemetry: RESTConf and Mock SDON testbed client adapters</a:t>
            </a:r>
          </a:p>
        </p:txBody>
      </p:sp>
      <p:sp>
        <p:nvSpPr>
          <p:cNvPr id="10" name="Rounded Rectangle 9"/>
          <p:cNvSpPr/>
          <p:nvPr/>
        </p:nvSpPr>
        <p:spPr>
          <a:xfrm>
            <a:off x="6080760" y="1188720"/>
            <a:ext cx="539496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80760" y="1188720"/>
            <a:ext cx="539496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Nobel-Germany 17-Node Optical Core Backbone</a:t>
            </a:r>
          </a:p>
        </p:txBody>
      </p:sp>
      <p:sp>
        <p:nvSpPr>
          <p:cNvPr id="12" name="Rounded Rectangle 11"/>
          <p:cNvSpPr/>
          <p:nvPr/>
        </p:nvSpPr>
        <p:spPr>
          <a:xfrm>
            <a:off x="6263640" y="5532120"/>
            <a:ext cx="5029200" cy="43891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3"/>
                </a:solidFill>
                <a:latin typeface="Titillium Web SemiBold"/>
              </a:defRPr>
            </a:pPr>
            <a:r>
              <a:t>⚡ 17 ROADMs, 26 amplified fiber links, RESTConf telemetry</a:t>
            </a:r>
          </a:p>
        </p:txBody>
      </p:sp>
      <p:pic>
        <p:nvPicPr>
          <p:cNvPr id="13" name="Picture 12"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Evaluation Framework &amp; Benchmark Scenarios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3444240" cy="502920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4442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Architectural Baselines</a:t>
            </a:r>
          </a:p>
        </p:txBody>
      </p:sp>
      <p:sp>
        <p:nvSpPr>
          <p:cNvPr id="9" name="TextBox 8"/>
          <p:cNvSpPr txBox="1"/>
          <p:nvPr/>
        </p:nvSpPr>
        <p:spPr>
          <a:xfrm>
            <a:off x="822960" y="1920240"/>
            <a:ext cx="3169920" cy="416052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Baseline A (LLM-Only): Direct prompt-to-configuration generation with heuristic retry</a:t>
            </a:r>
          </a:p>
          <a:p>
            <a:pPr>
              <a:spcBef>
                <a:spcPts val="0"/>
              </a:spcBef>
              <a:spcAft>
                <a:spcPts val="600"/>
              </a:spcAft>
              <a:defRPr sz="1200">
                <a:solidFill>
                  <a:srgbClr val="222222"/>
                </a:solidFill>
              </a:defRPr>
            </a:pPr>
            <a:r>
              <a:rPr sz="1200" b="0">
                <a:solidFill>
                  <a:srgbClr val="222222"/>
                </a:solidFill>
                <a:latin typeface="Arial"/>
              </a:rPr>
              <a:t>•  Baseline B (Static Rule-Based): Strict regex parser with always-on human review</a:t>
            </a:r>
          </a:p>
          <a:p>
            <a:pPr>
              <a:spcBef>
                <a:spcPts val="0"/>
              </a:spcBef>
              <a:spcAft>
                <a:spcPts val="600"/>
              </a:spcAft>
              <a:defRPr sz="1200">
                <a:solidFill>
                  <a:srgbClr val="222222"/>
                </a:solidFill>
              </a:defRPr>
            </a:pPr>
            <a:r>
              <a:rPr sz="1200" b="0">
                <a:solidFill>
                  <a:srgbClr val="222222"/>
                </a:solidFill>
                <a:latin typeface="Arial"/>
              </a:rPr>
              <a:t>•  Proposed (Neurosymbolic RADG): Decoupled translation + sequential risk gates</a:t>
            </a:r>
          </a:p>
          <a:p>
            <a:pPr>
              <a:spcBef>
                <a:spcPts val="0"/>
              </a:spcBef>
              <a:spcAft>
                <a:spcPts val="600"/>
              </a:spcAft>
              <a:defRPr sz="1200">
                <a:solidFill>
                  <a:srgbClr val="222222"/>
                </a:solidFill>
              </a:defRPr>
            </a:pPr>
            <a:r>
              <a:rPr sz="1200" b="0">
                <a:solidFill>
                  <a:srgbClr val="222222"/>
                </a:solidFill>
                <a:latin typeface="Arial"/>
              </a:rPr>
              <a:t>•  Evaluates LLM reasoning limits vs deterministic safety</a:t>
            </a:r>
          </a:p>
        </p:txBody>
      </p:sp>
      <p:sp>
        <p:nvSpPr>
          <p:cNvPr id="10" name="Rounded Rectangle 9"/>
          <p:cNvSpPr/>
          <p:nvPr/>
        </p:nvSpPr>
        <p:spPr>
          <a:xfrm>
            <a:off x="4358640" y="1188720"/>
            <a:ext cx="3444240" cy="502920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58640" y="1188720"/>
            <a:ext cx="344424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100 Test Demands (4 Classes)</a:t>
            </a:r>
          </a:p>
        </p:txBody>
      </p:sp>
      <p:sp>
        <p:nvSpPr>
          <p:cNvPr id="12" name="TextBox 11"/>
          <p:cNvSpPr txBox="1"/>
          <p:nvPr/>
        </p:nvSpPr>
        <p:spPr>
          <a:xfrm>
            <a:off x="4495800" y="1920240"/>
            <a:ext cx="3169920" cy="416052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Nominal Intents [40]: Unambiguous requests with feasible physics</a:t>
            </a:r>
          </a:p>
          <a:p>
            <a:pPr>
              <a:spcBef>
                <a:spcPts val="0"/>
              </a:spcBef>
              <a:spcAft>
                <a:spcPts val="600"/>
              </a:spcAft>
              <a:defRPr sz="1200">
                <a:solidFill>
                  <a:srgbClr val="222222"/>
                </a:solidFill>
              </a:defRPr>
            </a:pPr>
            <a:r>
              <a:rPr sz="1200" b="0">
                <a:solidFill>
                  <a:srgbClr val="222222"/>
                </a:solidFill>
                <a:latin typeface="Arial"/>
              </a:rPr>
              <a:t>•  Ambiguous Intents [20]: Under-specified constraints triggering </a:t>
            </a:r>
            <a14:m xmlns:a14="http://schemas.microsoft.com/office/drawing/2010/main" xmlns:m="http://schemas.openxmlformats.org/officeDocument/2006/math">
              <m:oMath>
                <m:sSub>
                  <m:e>
                    <m:r>
                      <m:t>U</m:t>
                    </m:r>
                  </m:e>
                  <m:sub>
                    <m:r>
                      <m:t>sem</m:t>
                    </m:r>
                  </m:sub>
                </m:sSub>
                <m:r>
                  <m:t> &gt; </m:t>
                </m:r>
                <m:sSub>
                  <m:e>
                    <m:r>
                      <m:t>τ</m:t>
                    </m:r>
                  </m:e>
                  <m:sub>
                    <m:r>
                      <m:t>sem</m:t>
                    </m:r>
                  </m:sub>
                </m:sSub>
              </m:oMath>
            </a14:m>
          </a:p>
          <a:p>
            <a:pPr>
              <a:spcBef>
                <a:spcPts val="0"/>
              </a:spcBef>
              <a:spcAft>
                <a:spcPts val="600"/>
              </a:spcAft>
              <a:defRPr sz="1200">
                <a:solidFill>
                  <a:srgbClr val="222222"/>
                </a:solidFill>
              </a:defRPr>
            </a:pPr>
            <a:r>
              <a:rPr sz="1200" b="0">
                <a:solidFill>
                  <a:srgbClr val="222222"/>
                </a:solidFill>
                <a:latin typeface="Arial"/>
              </a:rPr>
              <a:t>•  Infeasible Intents [25]: High modulation over long spans (</a:t>
            </a:r>
            <a14:m xmlns:a14="http://schemas.microsoft.com/office/drawing/2010/main" xmlns:m="http://schemas.openxmlformats.org/officeDocument/2006/math">
              <m:oMath>
                <m:sSub>
                  <m:e>
                    <m:r>
                      <m:t>QoT</m:t>
                    </m:r>
                  </m:e>
                  <m:sub>
                    <m:r>
                      <m:t>valid</m:t>
                    </m:r>
                  </m:sub>
                </m:sSub>
                <m:r>
                  <m:t> = 0</m:t>
                </m:r>
              </m:oMath>
            </a14:m>
            <a:r>
              <a:rPr sz="1200" b="0">
                <a:solidFill>
                  <a:srgbClr val="222222"/>
                </a:solidFill>
                <a:latin typeface="Arial"/>
              </a:rPr>
              <a:t>)</a:t>
            </a:r>
          </a:p>
          <a:p>
            <a:pPr>
              <a:spcBef>
                <a:spcPts val="0"/>
              </a:spcBef>
              <a:spcAft>
                <a:spcPts val="600"/>
              </a:spcAft>
              <a:defRPr sz="1200">
                <a:solidFill>
                  <a:srgbClr val="222222"/>
                </a:solidFill>
              </a:defRPr>
            </a:pPr>
            <a:r>
              <a:rPr sz="1200" b="0">
                <a:solidFill>
                  <a:srgbClr val="222222"/>
                </a:solidFill>
                <a:latin typeface="Arial"/>
              </a:rPr>
              <a:t>•  Adversarial Prompts [15]: Hallucinated nodes (</a:t>
            </a:r>
            <a14:m xmlns:a14="http://schemas.microsoft.com/office/drawing/2010/main" xmlns:m="http://schemas.openxmlformats.org/officeDocument/2006/math">
              <m:oMath>
                <m:sSub>
                  <m:e>
                    <m:r>
                      <m:t>v</m:t>
                    </m:r>
                  </m:e>
                  <m:sub>
                    <m:r>
                      <m:t>struct</m:t>
                    </m:r>
                  </m:sub>
                </m:sSub>
                <m:r>
                  <m:t> = 0</m:t>
                </m:r>
              </m:oMath>
            </a14:m>
            <a:r>
              <a:rPr sz="1200" b="0">
                <a:solidFill>
                  <a:srgbClr val="222222"/>
                </a:solidFill>
                <a:latin typeface="Arial"/>
              </a:rPr>
              <a:t>) &amp; syntax violations</a:t>
            </a:r>
          </a:p>
        </p:txBody>
      </p:sp>
      <p:sp>
        <p:nvSpPr>
          <p:cNvPr id="13" name="Rounded Rectangle 12"/>
          <p:cNvSpPr/>
          <p:nvPr/>
        </p:nvSpPr>
        <p:spPr>
          <a:xfrm>
            <a:off x="8031480" y="1188720"/>
            <a:ext cx="3444240" cy="502920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31480" y="1188720"/>
            <a:ext cx="344424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Evaluation Metrics</a:t>
            </a:r>
          </a:p>
        </p:txBody>
      </p:sp>
      <p:sp>
        <p:nvSpPr>
          <p:cNvPr id="15" name="TextBox 14"/>
          <p:cNvSpPr txBox="1"/>
          <p:nvPr/>
        </p:nvSpPr>
        <p:spPr>
          <a:xfrm>
            <a:off x="8168640" y="1920240"/>
            <a:ext cx="3169920" cy="416052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Pre-Deployment Blocking Accuracy: </a:t>
            </a:r>
            <a14:m xmlns:a14="http://schemas.microsoft.com/office/drawing/2010/main" xmlns:m="http://schemas.openxmlformats.org/officeDocument/2006/math">
              <m:oMath>
                <m:r>
                  <m:t>UAR = 100%</m:t>
                </m:r>
              </m:oMath>
            </a14:m>
            <a:r>
              <a:rPr sz="1200" b="0">
                <a:solidFill>
                  <a:srgbClr val="222222"/>
                </a:solidFill>
                <a:latin typeface="Arial"/>
              </a:rPr>
              <a:t> guarantee</a:t>
            </a:r>
          </a:p>
          <a:p>
            <a:pPr>
              <a:spcBef>
                <a:spcPts val="0"/>
              </a:spcBef>
              <a:spcAft>
                <a:spcPts val="600"/>
              </a:spcAft>
              <a:defRPr sz="1200">
                <a:solidFill>
                  <a:srgbClr val="222222"/>
                </a:solidFill>
              </a:defRPr>
            </a:pPr>
            <a:r>
              <a:rPr sz="1200" b="0">
                <a:solidFill>
                  <a:srgbClr val="222222"/>
                </a:solidFill>
                <a:latin typeface="Arial"/>
              </a:rPr>
              <a:t>•  Human Intervention Rate (</a:t>
            </a:r>
            <a14:m xmlns:a14="http://schemas.microsoft.com/office/drawing/2010/main" xmlns:m="http://schemas.openxmlformats.org/officeDocument/2006/math">
              <m:oMath>
                <m:r>
                  <m:t>HIC</m:t>
                </m:r>
              </m:oMath>
            </a14:m>
            <a:r>
              <a:rPr sz="1200" b="0">
                <a:solidFill>
                  <a:srgbClr val="222222"/>
                </a:solidFill>
                <a:latin typeface="Arial"/>
              </a:rPr>
              <a:t>): % demands requiring operator clarification</a:t>
            </a:r>
          </a:p>
          <a:p>
            <a:pPr>
              <a:spcBef>
                <a:spcPts val="0"/>
              </a:spcBef>
              <a:spcAft>
                <a:spcPts val="600"/>
              </a:spcAft>
              <a:defRPr sz="1200">
                <a:solidFill>
                  <a:srgbClr val="222222"/>
                </a:solidFill>
              </a:defRPr>
            </a:pPr>
            <a:r>
              <a:rPr sz="1200" b="0">
                <a:solidFill>
                  <a:srgbClr val="222222"/>
                </a:solidFill>
                <a:latin typeface="Arial"/>
              </a:rPr>
              <a:t>•  End-to-End Latency (</a:t>
            </a:r>
            <a14:m xmlns:a14="http://schemas.microsoft.com/office/drawing/2010/main" xmlns:m="http://schemas.openxmlformats.org/officeDocument/2006/math">
              <m:oMath>
                <m:sSub>
                  <m:e>
                    <m:r>
                      <m:t>T</m:t>
                    </m:r>
                  </m:e>
                  <m:sub>
                    <m:r>
                      <m:t>E2E</m:t>
                    </m:r>
                  </m:sub>
                </m:sSub>
              </m:oMath>
            </a14:m>
            <a:r>
              <a:rPr sz="1200" b="0">
                <a:solidFill>
                  <a:srgbClr val="222222"/>
                </a:solidFill>
                <a:latin typeface="Arial"/>
              </a:rPr>
              <a:t>): NL intent to planning report turnaround</a:t>
            </a:r>
          </a:p>
          <a:p>
            <a:pPr>
              <a:spcBef>
                <a:spcPts val="0"/>
              </a:spcBef>
              <a:spcAft>
                <a:spcPts val="600"/>
              </a:spcAft>
              <a:defRPr sz="1200">
                <a:solidFill>
                  <a:srgbClr val="222222"/>
                </a:solidFill>
              </a:defRPr>
            </a:pPr>
            <a:r>
              <a:rPr sz="1200" b="0">
                <a:solidFill>
                  <a:srgbClr val="222222"/>
                </a:solidFill>
                <a:latin typeface="Arial"/>
              </a:rPr>
              <a:t>•  Token Consumption (</a:t>
            </a:r>
            <a14:m xmlns:a14="http://schemas.microsoft.com/office/drawing/2010/main" xmlns:m="http://schemas.openxmlformats.org/officeDocument/2006/math">
              <m:oMath>
                <m:sSub>
                  <m:e>
                    <m:r>
                      <m:t>T</m:t>
                    </m:r>
                  </m:e>
                  <m:sub>
                    <m:r>
                      <m:t>prompt</m:t>
                    </m:r>
                  </m:sub>
                </m:sSub>
              </m:oMath>
            </a14:m>
            <a:r>
              <a:rPr sz="1200" b="0">
                <a:solidFill>
                  <a:srgbClr val="222222"/>
                </a:solidFill>
                <a:latin typeface="Arial"/>
              </a:rPr>
              <a:t>): Overhead across scoped vs full topologies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Key Findings &amp; Pre-Deployment Guarantees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4846320" cy="15087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261872"/>
            <a:ext cx="4572000" cy="1362456"/>
          </a:xfrm>
          <a:prstGeom prst="rect">
            <a:avLst/>
          </a:prstGeom>
          <a:noFill/>
        </p:spPr>
        <p:txBody>
          <a:bodyPr wrap="square" lIns="45720">
            <a:spAutoFit/>
          </a:bodyPr>
          <a:lstStyle/>
          <a:p>
            <a:pPr>
              <a:defRPr sz="3200" b="1">
                <a:solidFill>
                  <a:srgbClr val="1A7F37"/>
                </a:solidFill>
                <a:latin typeface="Titillium Web SemiBold"/>
              </a:defRPr>
            </a:pPr>
            <a:r>
              <a:t>100%</a:t>
            </a:r>
          </a:p>
          <a:p>
            <a:pPr>
              <a:defRPr sz="1300" b="1">
                <a:solidFill>
                  <a:srgbClr val="0F2C53"/>
                </a:solidFill>
                <a:latin typeface="Titillium Web SemiBold"/>
              </a:defRPr>
            </a:pPr>
            <a:r>
              <a:t>Pre-Deployment Safety Guarantee</a:t>
            </a:r>
          </a:p>
          <a:p>
            <a:pPr>
              <a:defRPr sz="1000">
                <a:solidFill>
                  <a:srgbClr val="222222"/>
                </a:solidFill>
              </a:defRPr>
            </a:pPr>
            <a14:m xmlns:a14="http://schemas.microsoft.com/office/drawing/2010/main" xmlns:m="http://schemas.openxmlformats.org/officeDocument/2006/math">
              <m:oMath>
                <m:r>
                  <m:t>UAR = 100%</m:t>
                </m:r>
              </m:oMath>
            </a14:m>
            <a:r>
              <a:rPr sz="1000" b="0">
                <a:solidFill>
                  <a:srgbClr val="222222"/>
                </a:solidFill>
                <a:latin typeface="Arial"/>
              </a:rPr>
              <a:t>: Zero unfeasible lightpaths reach controller (vs 34% in baseline)</a:t>
            </a:r>
          </a:p>
        </p:txBody>
      </p:sp>
      <p:sp>
        <p:nvSpPr>
          <p:cNvPr id="9" name="Rounded Rectangle 8"/>
          <p:cNvSpPr/>
          <p:nvPr/>
        </p:nvSpPr>
        <p:spPr>
          <a:xfrm>
            <a:off x="685800" y="288036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953512"/>
            <a:ext cx="4572000" cy="1362456"/>
          </a:xfrm>
          <a:prstGeom prst="rect">
            <a:avLst/>
          </a:prstGeom>
          <a:noFill/>
        </p:spPr>
        <p:txBody>
          <a:bodyPr wrap="square" lIns="45720">
            <a:spAutoFit/>
          </a:bodyPr>
          <a:lstStyle/>
          <a:p>
            <a:pPr>
              <a:defRPr sz="3200" b="1">
                <a:solidFill>
                  <a:srgbClr val="0F2C53"/>
                </a:solidFill>
                <a:latin typeface="Titillium Web SemiBold"/>
              </a:defRPr>
            </a:pPr>
            <a:r>
              <a:t>&gt; 70%</a:t>
            </a:r>
          </a:p>
          <a:p>
            <a:pPr>
              <a:defRPr sz="1300" b="1">
                <a:solidFill>
                  <a:srgbClr val="0F2C53"/>
                </a:solidFill>
                <a:latin typeface="Titillium Web SemiBold"/>
              </a:defRPr>
            </a:pPr>
            <a:r>
              <a:t>Reduction in Operator Fatigue</a:t>
            </a:r>
          </a:p>
          <a:p>
            <a:pPr>
              <a:defRPr sz="1000">
                <a:solidFill>
                  <a:srgbClr val="222222"/>
                </a:solidFill>
              </a:defRPr>
            </a:pPr>
            <a:r>
              <a:rPr sz="1000" b="0">
                <a:solidFill>
                  <a:srgbClr val="222222"/>
                </a:solidFill>
                <a:latin typeface="Arial"/>
              </a:rPr>
              <a:t>Autonomous approval when </a:t>
            </a:r>
            <a14:m xmlns:a14="http://schemas.microsoft.com/office/drawing/2010/main" xmlns:m="http://schemas.openxmlformats.org/officeDocument/2006/math">
              <m:oMath>
                <m:sSub>
                  <m:e>
                    <m:r>
                      <m:t>U</m:t>
                    </m:r>
                  </m:e>
                  <m:sub>
                    <m:r>
                      <m:t>sem</m:t>
                    </m:r>
                  </m:sub>
                </m:sSub>
                <m:r>
                  <m:t> ≤ </m:t>
                </m:r>
                <m:sSub>
                  <m:e>
                    <m:r>
                      <m:t>τ</m:t>
                    </m:r>
                  </m:e>
                  <m:sub>
                    <m:r>
                      <m:t>sem</m:t>
                    </m:r>
                  </m:sub>
                </m:sSub>
              </m:oMath>
            </a14:m>
            <a:r>
              <a:rPr sz="1000" b="0">
                <a:solidFill>
                  <a:srgbClr val="222222"/>
                </a:solidFill>
                <a:latin typeface="Arial"/>
              </a:rPr>
              <a:t> (operator engaged only on high risk)</a:t>
            </a:r>
          </a:p>
        </p:txBody>
      </p:sp>
      <p:sp>
        <p:nvSpPr>
          <p:cNvPr id="11" name="Rounded Rectangle 10"/>
          <p:cNvSpPr/>
          <p:nvPr/>
        </p:nvSpPr>
        <p:spPr>
          <a:xfrm>
            <a:off x="685800" y="457200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45152"/>
            <a:ext cx="4572000" cy="1362456"/>
          </a:xfrm>
          <a:prstGeom prst="rect">
            <a:avLst/>
          </a:prstGeom>
          <a:noFill/>
        </p:spPr>
        <p:txBody>
          <a:bodyPr wrap="square" lIns="45720">
            <a:spAutoFit/>
          </a:bodyPr>
          <a:lstStyle/>
          <a:p>
            <a:pPr>
              <a:defRPr sz="3200" b="1">
                <a:solidFill>
                  <a:srgbClr val="0F2C53"/>
                </a:solidFill>
                <a:latin typeface="Titillium Web SemiBold"/>
              </a:defRPr>
            </a:pPr>
            <a:r>
              <a:t>&lt; 5 ms</a:t>
            </a:r>
          </a:p>
          <a:p>
            <a:pPr>
              <a:defRPr sz="1300" b="1">
                <a:solidFill>
                  <a:srgbClr val="0F2C53"/>
                </a:solidFill>
                <a:latin typeface="Titillium Web SemiBold"/>
              </a:defRPr>
            </a:pPr>
            <a:r>
              <a:t>Deterministic Physics Latency</a:t>
            </a:r>
          </a:p>
          <a:p>
            <a:pPr>
              <a:defRPr sz="1000">
                <a:solidFill>
                  <a:srgbClr val="222222"/>
                </a:solidFill>
              </a:defRPr>
            </a:pPr>
            <a:r>
              <a:rPr sz="1000" b="0">
                <a:solidFill>
                  <a:srgbClr val="222222"/>
                </a:solidFill>
                <a:latin typeface="Arial"/>
              </a:rPr>
              <a:t>GN model executes in </a:t>
            </a:r>
            <a14:m xmlns:a14="http://schemas.microsoft.com/office/drawing/2010/main" xmlns:m="http://schemas.openxmlformats.org/officeDocument/2006/math">
              <m:oMath>
                <m:sSub>
                  <m:e>
                    <m:r>
                      <m:t>T</m:t>
                    </m:r>
                  </m:e>
                  <m:sub>
                    <m:r>
                      <m:t>phys</m:t>
                    </m:r>
                  </m:sub>
                </m:sSub>
                <m:r>
                  <m:t> &lt; 5 ms</m:t>
                </m:r>
              </m:oMath>
            </a14:m>
            <a:r>
              <a:rPr sz="1000" b="0">
                <a:solidFill>
                  <a:srgbClr val="222222"/>
                </a:solidFill>
                <a:latin typeface="Arial"/>
              </a:rPr>
              <a:t> (</a:t>
            </a:r>
            <a14:m xmlns:a14="http://schemas.microsoft.com/office/drawing/2010/main" xmlns:m="http://schemas.openxmlformats.org/officeDocument/2006/math">
              <m:oMath>
                <m:sSub>
                  <m:e>
                    <m:r>
                      <m:t>T</m:t>
                    </m:r>
                  </m:e>
                  <m:sub>
                    <m:r>
                      <m:t>solver</m:t>
                    </m:r>
                  </m:sub>
                </m:sSub>
                <m:r>
                  <m:t> &lt; 10 ms</m:t>
                </m:r>
              </m:oMath>
            </a14:m>
            <a:r>
              <a:rPr sz="1000" b="0">
                <a:solidFill>
                  <a:srgbClr val="222222"/>
                </a:solidFill>
                <a:latin typeface="Arial"/>
              </a:rPr>
              <a:t>, sub-second total)</a:t>
            </a:r>
          </a:p>
        </p:txBody>
      </p:sp>
      <p:sp>
        <p:nvSpPr>
          <p:cNvPr id="13" name="Rounded Rectangle 12"/>
          <p:cNvSpPr/>
          <p:nvPr/>
        </p:nvSpPr>
        <p:spPr>
          <a:xfrm>
            <a:off x="5760720" y="1188720"/>
            <a:ext cx="5715000" cy="4892040"/>
          </a:xfrm>
          <a:prstGeom prst="roundRect">
            <a:avLst/>
          </a:prstGeom>
          <a:solidFill>
            <a:srgbClr val="F4F6F9"/>
          </a:solidFill>
          <a:ln w="19050">
            <a:solidFill>
              <a:srgbClr val="5A6B8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3200">
                <a:latin typeface="Segoe UI Emoji"/>
              </a:defRPr>
            </a:pPr>
            <a:r>
              <a:t>📊</a:t>
            </a:r>
          </a:p>
          <a:p>
            <a:pPr algn="ctr">
              <a:defRPr sz="1500" b="1">
                <a:solidFill>
                  <a:srgbClr val="0F2C53"/>
                </a:solidFill>
                <a:latin typeface="Titillium Web SemiBold"/>
              </a:defRPr>
            </a:pPr>
            <a:r>
              <a:t>Empirical Benchmark: GSNR Distribution &amp; Blocking Rate vs Baselines</a:t>
            </a:r>
          </a:p>
          <a:p>
            <a:pPr algn="ctr">
              <a:defRPr sz="1100">
                <a:solidFill>
                  <a:srgbClr val="5A6B82"/>
                </a:solidFill>
                <a:latin typeface="Arial"/>
              </a:defRPr>
            </a:pPr>
            <a:r>
              <a:t>(Target: 16:9 Matplotlib / Chapter 4 Benchmark Plot — Replace in PowerPoint)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Conclusions &amp; Main Takeaways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23444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Neurosymbolic Decoupling is Essential</a:t>
            </a:r>
          </a:p>
        </p:txBody>
      </p:sp>
      <p:sp>
        <p:nvSpPr>
          <p:cNvPr id="9" name="TextBox 8"/>
          <p:cNvSpPr txBox="1"/>
          <p:nvPr/>
        </p:nvSpPr>
        <p:spPr>
          <a:xfrm>
            <a:off x="82296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Probabilistic LLMs must never calculate physical impairments or route lightpaths</a:t>
            </a:r>
          </a:p>
          <a:p>
            <a:pPr>
              <a:spcBef>
                <a:spcPts val="0"/>
              </a:spcBef>
              <a:spcAft>
                <a:spcPts val="300"/>
              </a:spcAft>
              <a:defRPr sz="1100">
                <a:solidFill>
                  <a:srgbClr val="222222"/>
                </a:solidFill>
              </a:defRPr>
            </a:pPr>
            <a:r>
              <a:rPr sz="1100" b="0">
                <a:solidFill>
                  <a:srgbClr val="222222"/>
                </a:solidFill>
                <a:latin typeface="Arial"/>
              </a:rPr>
              <a:t>•  Natural language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100" b="0">
                <a:solidFill>
                  <a:srgbClr val="222222"/>
                </a:solidFill>
                <a:latin typeface="Arial"/>
              </a:rPr>
              <a:t> bridges to formal planning</a:t>
            </a:r>
          </a:p>
          <a:p>
            <a:pPr>
              <a:spcBef>
                <a:spcPts val="0"/>
              </a:spcBef>
              <a:spcAft>
                <a:spcPts val="300"/>
              </a:spcAft>
              <a:defRPr sz="1100">
                <a:solidFill>
                  <a:srgbClr val="222222"/>
                </a:solidFill>
              </a:defRPr>
            </a:pPr>
            <a:r>
              <a:rPr sz="1100" b="0">
                <a:solidFill>
                  <a:srgbClr val="222222"/>
                </a:solidFill>
                <a:latin typeface="Arial"/>
              </a:rPr>
              <a:t>•  Guarantees formal soundness without constraining operator expressiveness</a:t>
            </a:r>
          </a:p>
        </p:txBody>
      </p:sp>
      <p:sp>
        <p:nvSpPr>
          <p:cNvPr id="10" name="Rounded Rectangle 9"/>
          <p:cNvSpPr/>
          <p:nvPr/>
        </p:nvSpPr>
        <p:spPr>
          <a:xfrm>
            <a:off x="6217920" y="1234440"/>
            <a:ext cx="5212080" cy="233172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34440"/>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Sequential Risk Gates Prevent Failure</a:t>
            </a:r>
          </a:p>
        </p:txBody>
      </p:sp>
      <p:sp>
        <p:nvSpPr>
          <p:cNvPr id="12" name="TextBox 11"/>
          <p:cNvSpPr txBox="1"/>
          <p:nvPr/>
        </p:nvSpPr>
        <p:spPr>
          <a:xfrm>
            <a:off x="635508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Early semantic evaluation (</a:t>
            </a:r>
            <a14:m xmlns:a14="http://schemas.microsoft.com/office/drawing/2010/main" xmlns:m="http://schemas.openxmlformats.org/officeDocument/2006/math">
              <m:oMath>
                <m:sSub>
                  <m:e>
                    <m:r>
                      <m:t>U</m:t>
                    </m:r>
                  </m:e>
                  <m:sub>
                    <m:r>
                      <m:t>sem</m:t>
                    </m:r>
                  </m:sub>
                </m:sSub>
                <m:r>
                  <m:t> ≤ </m:t>
                </m:r>
                <m:sSub>
                  <m:e>
                    <m:r>
                      <m:t>τ</m:t>
                    </m:r>
                  </m:e>
                  <m:sub>
                    <m:r>
                      <m:t>sem</m:t>
                    </m:r>
                  </m:sub>
                </m:sSub>
              </m:oMath>
            </a14:m>
            <a:r>
              <a:rPr sz="1100" b="0">
                <a:solidFill>
                  <a:srgbClr val="222222"/>
                </a:solidFill>
                <a:latin typeface="Arial"/>
              </a:rPr>
              <a:t>) eliminates drift before physics computation</a:t>
            </a:r>
          </a:p>
          <a:p>
            <a:pPr>
              <a:spcBef>
                <a:spcPts val="0"/>
              </a:spcBef>
              <a:spcAft>
                <a:spcPts val="300"/>
              </a:spcAft>
              <a:defRPr sz="1100">
                <a:solidFill>
                  <a:srgbClr val="222222"/>
                </a:solidFill>
              </a:defRPr>
            </a:pPr>
            <a:r>
              <a:rPr sz="1100" b="0">
                <a:solidFill>
                  <a:srgbClr val="222222"/>
                </a:solidFill>
                <a:latin typeface="Arial"/>
              </a:rPr>
              <a:t>•  Deterministic GN-model verification (</a:t>
            </a:r>
            <a14:m xmlns:a14="http://schemas.microsoft.com/office/drawing/2010/main" xmlns:m="http://schemas.openxmlformats.org/officeDocument/2006/math">
              <m:oMath>
                <m:sSub>
                  <m:e>
                    <m:r>
                      <m:t>QoT</m:t>
                    </m:r>
                  </m:e>
                  <m:sub>
                    <m:r>
                      <m:t>valid</m:t>
                    </m:r>
                  </m:sub>
                </m:sSub>
                <m:r>
                  <m:t> = 1</m:t>
                </m:r>
              </m:oMath>
            </a14:m>
            <a:r>
              <a:rPr sz="1100" b="0">
                <a:solidFill>
                  <a:srgbClr val="222222"/>
                </a:solidFill>
                <a:latin typeface="Arial"/>
              </a:rPr>
              <a:t>) ensures 100% physical feasibility</a:t>
            </a:r>
          </a:p>
          <a:p>
            <a:pPr>
              <a:spcBef>
                <a:spcPts val="0"/>
              </a:spcBef>
              <a:spcAft>
                <a:spcPts val="300"/>
              </a:spcAft>
              <a:defRPr sz="1100">
                <a:solidFill>
                  <a:srgbClr val="222222"/>
                </a:solidFill>
              </a:defRPr>
            </a:pPr>
            <a:r>
              <a:rPr sz="1100" b="0">
                <a:solidFill>
                  <a:srgbClr val="222222"/>
                </a:solidFill>
                <a:latin typeface="Arial"/>
              </a:rPr>
              <a:t>•  Zero unverified configurations ever reach the optical controller</a:t>
            </a:r>
          </a:p>
        </p:txBody>
      </p:sp>
      <p:sp>
        <p:nvSpPr>
          <p:cNvPr id="13" name="Rounded Rectangle 12"/>
          <p:cNvSpPr/>
          <p:nvPr/>
        </p:nvSpPr>
        <p:spPr>
          <a:xfrm>
            <a:off x="68580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Selective HITL Optimizes Efficiency</a:t>
            </a:r>
          </a:p>
        </p:txBody>
      </p:sp>
      <p:sp>
        <p:nvSpPr>
          <p:cNvPr id="15" name="TextBox 14"/>
          <p:cNvSpPr txBox="1"/>
          <p:nvPr/>
        </p:nvSpPr>
        <p:spPr>
          <a:xfrm>
            <a:off x="82296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Engaging operators proportionally to risk eliminates fatigue while maintaining safety</a:t>
            </a:r>
          </a:p>
          <a:p>
            <a:pPr>
              <a:spcBef>
                <a:spcPts val="0"/>
              </a:spcBef>
              <a:spcAft>
                <a:spcPts val="300"/>
              </a:spcAft>
              <a:defRPr sz="1100">
                <a:solidFill>
                  <a:srgbClr val="222222"/>
                </a:solidFill>
              </a:defRPr>
            </a:pPr>
            <a:r>
              <a:rPr sz="1100" b="0">
                <a:solidFill>
                  <a:srgbClr val="222222"/>
                </a:solidFill>
                <a:latin typeface="Arial"/>
              </a:rPr>
              <a:t>•  Over 70% reduction in human intervention compared to always-on review</a:t>
            </a:r>
          </a:p>
          <a:p>
            <a:pPr>
              <a:spcBef>
                <a:spcPts val="0"/>
              </a:spcBef>
              <a:spcAft>
                <a:spcPts val="300"/>
              </a:spcAft>
              <a:defRPr sz="1100">
                <a:solidFill>
                  <a:srgbClr val="222222"/>
                </a:solidFill>
              </a:defRPr>
            </a:pPr>
            <a:r>
              <a:rPr sz="1100" b="0">
                <a:solidFill>
                  <a:srgbClr val="222222"/>
                </a:solidFill>
                <a:latin typeface="Arial"/>
              </a:rPr>
              <a:t>•  Sub-second planning latency enables rapid dynamic lightpath turn-up</a:t>
            </a:r>
          </a:p>
        </p:txBody>
      </p:sp>
      <p:sp>
        <p:nvSpPr>
          <p:cNvPr id="16" name="Rounded Rectangle 15"/>
          <p:cNvSpPr/>
          <p:nvPr/>
        </p:nvSpPr>
        <p:spPr>
          <a:xfrm>
            <a:off x="621792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Production-Ready Engineering</a:t>
            </a:r>
          </a:p>
        </p:txBody>
      </p:sp>
      <p:sp>
        <p:nvSpPr>
          <p:cNvPr id="18" name="TextBox 17"/>
          <p:cNvSpPr txBox="1"/>
          <p:nvPr/>
        </p:nvSpPr>
        <p:spPr>
          <a:xfrm>
            <a:off x="635508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Fully implemented LangGraph state machine with memory checkpoints</a:t>
            </a:r>
          </a:p>
          <a:p>
            <a:pPr>
              <a:spcBef>
                <a:spcPts val="0"/>
              </a:spcBef>
              <a:spcAft>
                <a:spcPts val="300"/>
              </a:spcAft>
              <a:defRPr sz="1100">
                <a:solidFill>
                  <a:srgbClr val="222222"/>
                </a:solidFill>
              </a:defRPr>
            </a:pPr>
            <a:r>
              <a:rPr sz="1100" b="0">
                <a:solidFill>
                  <a:srgbClr val="222222"/>
                </a:solidFill>
                <a:latin typeface="Arial"/>
              </a:rPr>
              <a:t>•  Benchmarked on realistic </a:t>
            </a:r>
            <a14:m xmlns:a14="http://schemas.microsoft.com/office/drawing/2010/main" xmlns:m="http://schemas.openxmlformats.org/officeDocument/2006/math">
              <m:oMath>
                <m:r>
                  <m:t>|V| = 17, |E| = 26</m:t>
                </m:r>
              </m:oMath>
            </a14:m>
            <a:r>
              <a:rPr sz="1100" b="0">
                <a:solidFill>
                  <a:srgbClr val="222222"/>
                </a:solidFill>
                <a:latin typeface="Arial"/>
              </a:rPr>
              <a:t> German topology and RESTConf testbed</a:t>
            </a:r>
          </a:p>
          <a:p>
            <a:pPr>
              <a:spcBef>
                <a:spcPts val="0"/>
              </a:spcBef>
              <a:spcAft>
                <a:spcPts val="300"/>
              </a:spcAft>
              <a:defRPr sz="1100">
                <a:solidFill>
                  <a:srgbClr val="222222"/>
                </a:solidFill>
              </a:defRPr>
            </a:pPr>
            <a:r>
              <a:rPr sz="1100" b="0">
                <a:solidFill>
                  <a:srgbClr val="222222"/>
                </a:solidFill>
                <a:latin typeface="Arial"/>
              </a:rPr>
              <a:t>•  Establishes a reproducible foundation for autonomous optical networking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16</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Future Outlook &amp; Acknowledgments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Joint Compute and Optical Scheduling</a:t>
            </a:r>
          </a:p>
          <a:p>
            <a:pPr>
              <a:spcBef>
                <a:spcPts val="400"/>
              </a:spcBef>
              <a:defRPr sz="1100">
                <a:solidFill>
                  <a:srgbClr val="222222"/>
                </a:solidFill>
                <a:latin typeface="Arial"/>
              </a:defRPr>
            </a:pPr>
            <a:r>
              <a:t>Extending PDDL domain to co-schedule distributed GPU cluster workloads alongside optical lightpaths</a:t>
            </a:r>
          </a:p>
        </p:txBody>
      </p:sp>
      <p:sp>
        <p:nvSpPr>
          <p:cNvPr id="8" name="Rounded Rectangle 7"/>
          <p:cNvSpPr/>
          <p:nvPr/>
        </p:nvSpPr>
        <p:spPr>
          <a:xfrm>
            <a:off x="685800" y="288036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Multi-Band &amp; Dynamic Optical Channels</a:t>
            </a:r>
          </a:p>
          <a:p>
            <a:pPr>
              <a:spcBef>
                <a:spcPts val="400"/>
              </a:spcBef>
              <a:defRPr sz="1100">
                <a:solidFill>
                  <a:srgbClr val="222222"/>
                </a:solidFill>
                <a:latin typeface="Arial"/>
              </a:defRPr>
            </a:pPr>
            <a:r>
              <a:t>Expanding analytical GN-models to incorporate C+L multi-band SRS inter-channel Raman crosstalk</a:t>
            </a:r>
          </a:p>
        </p:txBody>
      </p:sp>
      <p:sp>
        <p:nvSpPr>
          <p:cNvPr id="9" name="Rounded Rectangle 8"/>
          <p:cNvSpPr/>
          <p:nvPr/>
        </p:nvSpPr>
        <p:spPr>
          <a:xfrm>
            <a:off x="685800" y="452628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Autonomous Online Self-Healing</a:t>
            </a:r>
          </a:p>
          <a:p>
            <a:pPr>
              <a:spcBef>
                <a:spcPts val="400"/>
              </a:spcBef>
              <a:defRPr sz="1100">
                <a:solidFill>
                  <a:srgbClr val="222222"/>
                </a:solidFill>
                <a:latin typeface="Arial"/>
              </a:defRPr>
            </a:pPr>
            <a:r>
              <a:t>Ingesting real-time testbed telemetry for closed-loop intent re-planning upon physical fiber degradation</a:t>
            </a:r>
          </a:p>
        </p:txBody>
      </p:sp>
      <p:sp>
        <p:nvSpPr>
          <p:cNvPr id="10" name="Rounded Rectangle 9"/>
          <p:cNvSpPr/>
          <p:nvPr/>
        </p:nvSpPr>
        <p:spPr>
          <a:xfrm>
            <a:off x="7132320" y="1234440"/>
            <a:ext cx="4343400" cy="47548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365760" lIns="228600" rIns="228600"/>
          <a:lstStyle/>
          <a:p>
            <a:pPr algn="ctr">
              <a:defRPr sz="1600" b="1">
                <a:solidFill>
                  <a:srgbClr val="85200C"/>
                </a:solidFill>
                <a:latin typeface="Titillium Web SemiBold"/>
              </a:defRPr>
            </a:pPr>
            <a:r>
              <a:t>ACKNOWLEDGMENTS</a:t>
            </a:r>
          </a:p>
          <a:p>
            <a:pPr algn="ctr">
              <a:spcBef>
                <a:spcPts val="1200"/>
              </a:spcBef>
              <a:defRPr sz="1200">
                <a:solidFill>
                  <a:srgbClr val="222222"/>
                </a:solidFill>
                <a:latin typeface="Arial"/>
              </a:defRPr>
            </a:pPr>
            <a:r>
              <a:t>Sincere gratitude to Academic Advisor Prof. Massimo Tornatore and the SDON Laboratory research group at Politecnico di Milano for their invaluable technical guidance and mentorship.</a:t>
            </a:r>
          </a:p>
          <a:p>
            <a:pPr algn="ctr">
              <a:spcBef>
                <a:spcPts val="1600"/>
              </a:spcBef>
              <a:defRPr sz="1200">
                <a:solidFill>
                  <a:srgbClr val="5A6B82"/>
                </a:solidFill>
                <a:latin typeface="Arial"/>
              </a:defRPr>
            </a:pPr>
            <a:r>
              <a:t>──────────────────────</a:t>
            </a:r>
          </a:p>
          <a:p>
            <a:pPr algn="ctr">
              <a:spcBef>
                <a:spcPts val="1600"/>
              </a:spcBef>
              <a:defRPr sz="1800" b="1">
                <a:solidFill>
                  <a:srgbClr val="0F2C53"/>
                </a:solidFill>
                <a:latin typeface="Titillium Web SemiBold"/>
              </a:defRPr>
            </a:pPr>
            <a:r>
              <a:t>Thank You for Your Attention!</a:t>
            </a:r>
          </a:p>
          <a:p>
            <a:pPr algn="ctr">
              <a:spcBef>
                <a:spcPts val="400"/>
              </a:spcBef>
              <a:defRPr sz="1400">
                <a:solidFill>
                  <a:srgbClr val="5A6B82"/>
                </a:solidFill>
                <a:latin typeface="Arial"/>
              </a:defRPr>
            </a:pPr>
            <a:r>
              <a:t>Questions &amp; Discussion</a:t>
            </a:r>
          </a:p>
        </p:txBody>
      </p:sp>
    </p:spTree>
  </p:cSld>
  <p:clrMapOvr>
    <a:masterClrMapping/>
  </p:clrMapOvr>
</p:sld>
</file>

<file path=ppt/theme/theme1.xml><?xml version="1.0" encoding="utf-8"?>
<a:theme xmlns:a="http://schemas.openxmlformats.org/drawingml/2006/main" name="Office Theme">
  <a:themeElements>
    <a:clrScheme name="Custom 2">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 Master">
  <a:themeElements>
    <a:clrScheme name="Nokia 2023.1">
      <a:dk1>
        <a:srgbClr val="CCCCCC"/>
      </a:dk1>
      <a:lt1>
        <a:srgbClr val="FFFFFF"/>
      </a:lt1>
      <a:dk2>
        <a:srgbClr val="001135"/>
      </a:dk2>
      <a:lt2>
        <a:srgbClr val="666666"/>
      </a:lt2>
      <a:accent1>
        <a:srgbClr val="005AFF"/>
      </a:accent1>
      <a:accent2>
        <a:srgbClr val="23ABB6"/>
      </a:accent2>
      <a:accent3>
        <a:srgbClr val="37CC73"/>
      </a:accent3>
      <a:accent4>
        <a:srgbClr val="F47F31"/>
      </a:accent4>
      <a:accent5>
        <a:srgbClr val="E03DCD"/>
      </a:accent5>
      <a:accent6>
        <a:srgbClr val="7D33F2"/>
      </a:accent6>
      <a:hlink>
        <a:srgbClr val="001135"/>
      </a:hlink>
      <a:folHlink>
        <a:srgbClr val="005AFF"/>
      </a:folHlink>
    </a:clrScheme>
    <a:fontScheme name="Nokia 2023">
      <a:majorFont>
        <a:latin typeface="Nokia Pure Headline Light"/>
        <a:ea typeface=""/>
        <a:cs typeface=""/>
      </a:majorFont>
      <a:minorFont>
        <a:latin typeface="Nokia Pure Text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a:noFill/>
        </a:ln>
      </a:spPr>
      <a:bodyPr rot="0" spcFirstLastPara="0" vertOverflow="overflow" horzOverflow="overflow" vert="horz" wrap="square" lIns="72000" tIns="72000" rIns="72000" bIns="72000" numCol="1" spcCol="0" rtlCol="0" fromWordArt="0" anchor="t" anchorCtr="0" forceAA="0" compatLnSpc="1">
        <a:prstTxWarp prst="textNoShape">
          <a:avLst/>
        </a:prstTxWarp>
        <a:noAutofit/>
      </a:bodyPr>
      <a:lstStyle>
        <a:defPPr algn="l">
          <a:spcAft>
            <a:spcPts val="300"/>
          </a:spcAft>
          <a:buSzPct val="100000"/>
          <a:defRPr sz="1200" dirty="0" smtClean="0">
            <a:solidFill>
              <a:schemeClr val="tx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rtlCol="0">
        <a:noAutofit/>
      </a:bodyPr>
      <a:lstStyle>
        <a:defPPr marL="0" marR="0" indent="0" algn="l" defTabSz="180000" rtl="0" eaLnBrk="1" fontAlgn="auto" latinLnBrk="0" hangingPunct="1">
          <a:lnSpc>
            <a:spcPct val="100000"/>
          </a:lnSpc>
          <a:spcBef>
            <a:spcPts val="0"/>
          </a:spcBef>
          <a:spcAft>
            <a:spcPts val="300"/>
          </a:spcAft>
          <a:buClrTx/>
          <a:buSzTx/>
          <a:buFont typeface="+mj-lt"/>
          <a:buNone/>
          <a:tabLst>
            <a:tab pos="180000" algn="l"/>
          </a:tabLst>
          <a:defRPr kumimoji="0" sz="1200" b="0" i="0" u="none" strike="noStrike" kern="1200" cap="none" spc="0" normalizeH="0" baseline="0" noProof="0" dirty="0" smtClean="0">
            <a:ln>
              <a:noFill/>
            </a:ln>
            <a:solidFill>
              <a:schemeClr val="tx2"/>
            </a:solidFill>
            <a:effectLst/>
            <a:uLnTx/>
            <a:uFillTx/>
            <a:latin typeface="Nokia Pure Text Light"/>
            <a:ea typeface="+mn-ea"/>
            <a:cs typeface="+mn-cs"/>
          </a:defRPr>
        </a:defPPr>
      </a:lstStyle>
    </a:txDef>
  </a:objectDefaults>
  <a:extraClrSchemeLst/>
  <a:extLst>
    <a:ext uri="{05A4C25C-085E-4340-85A3-A5531E510DB2}">
      <thm15:themeFamily xmlns:thm15="http://schemas.microsoft.com/office/thememl/2012/main" name="Nokia Bell Labs 2023 - PowerPoint template v1.3.1" id="{A6C85B2C-3FA8-476D-B671-61EC5E2D0C15}" vid="{3F2B3F35-C8D5-429C-9FA6-C3C83EBB2B6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5103</TotalTime>
  <Words>2147</Words>
  <Application>Microsoft Macintosh PowerPoint</Application>
  <PresentationFormat>宽屏</PresentationFormat>
  <Paragraphs>527</Paragraphs>
  <Slides>25</Slides>
  <Notes>22</Notes>
  <HiddenSlides>0</HiddenSlides>
  <MMClips>0</MMClips>
  <ScaleCrop>false</ScaleCrop>
  <HeadingPairs>
    <vt:vector size="6" baseType="variant">
      <vt:variant>
        <vt:lpstr>已用的字体</vt:lpstr>
      </vt:variant>
      <vt:variant>
        <vt:i4>16</vt:i4>
      </vt:variant>
      <vt:variant>
        <vt:lpstr>主题</vt:lpstr>
      </vt:variant>
      <vt:variant>
        <vt:i4>2</vt:i4>
      </vt:variant>
      <vt:variant>
        <vt:lpstr>幻灯片标题</vt:lpstr>
      </vt:variant>
      <vt:variant>
        <vt:i4>25</vt:i4>
      </vt:variant>
    </vt:vector>
  </HeadingPairs>
  <TitlesOfParts>
    <vt:vector size="43" baseType="lpstr">
      <vt:lpstr>宋体</vt:lpstr>
      <vt:lpstr>Nokia Pure Headline Light</vt:lpstr>
      <vt:lpstr>Nokia Pure Headline Ultra Light</vt:lpstr>
      <vt:lpstr>Nokia Pure Text</vt:lpstr>
      <vt:lpstr>Nokia Pure Text Light</vt:lpstr>
      <vt:lpstr>Times New Roman Regular</vt:lpstr>
      <vt:lpstr>Abel</vt:lpstr>
      <vt:lpstr>Aptos</vt:lpstr>
      <vt:lpstr>Aptos Display</vt:lpstr>
      <vt:lpstr>Arial</vt:lpstr>
      <vt:lpstr>Cambria Math</vt:lpstr>
      <vt:lpstr>Courier New</vt:lpstr>
      <vt:lpstr>Helvetica</vt:lpstr>
      <vt:lpstr>Inter</vt:lpstr>
      <vt:lpstr>Titillium Web SemiBold</vt:lpstr>
      <vt:lpstr>Wingdings</vt:lpstr>
      <vt:lpstr>Office Theme</vt:lpstr>
      <vt:lpstr>1. Master</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Nisanur Camuzcu</dc:creator>
  <cp:lastModifiedBy>Qiaolun Zhang</cp:lastModifiedBy>
  <cp:revision>110</cp:revision>
  <dcterms:created xsi:type="dcterms:W3CDTF">2024-07-05T10:40:24Z</dcterms:created>
  <dcterms:modified xsi:type="dcterms:W3CDTF">2026-08-22T14:15:01Z</dcterms:modified>
</cp:coreProperties>
</file>