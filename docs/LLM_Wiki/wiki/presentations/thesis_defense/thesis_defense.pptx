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0.svg" ContentType="image/svg+xml"/>
  <Override PartName="/ppt/media/image15.svg" ContentType="image/svg+xml"/>
  <Override PartName="/ppt/media/image18.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660" r:id="rId2"/>
  </p:sldMasterIdLst>
  <p:notesMasterIdLst>
    <p:notesMasterId r:id="rId28"/>
  </p:notesMasterIdLst>
  <p:sldIdLst>
    <p:sldId id="256" r:id="rId3"/>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Lst>
  <p:sldSz cx="12192000" cy="6858000"/>
  <p:notesSz cx="6858000" cy="9144000"/>
  <p:defaultText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22110A-4115-EF80-CDC0-C9DC37733169}" name="Nisanur Camuzcu" initials="" userId="S::10902638@polimi.it::4203e3cf-c7bc-4bb4-b079-d58d7a3f1ae5" providerId="AD"/>
  <p188:author id="{6F282F78-9642-E7C8-73D3-5792CD18C0DE}" name="Mëmëdhe Ibrahimi" initials="" userId="S::10563102@polimi.it::378daa95-eeca-4dfa-ac7e-b4832e2f7206" providerId="AD"/>
  <p188:author id="{66DF34EE-6A81-1782-FA05-8415B55127A9}" name="Qiaolun Zhang" initials="" userId="S::10653427@polimi.it::08ce0c54-1845-4dc2-a643-121fe94b02dc" providerId="AD"/>
  <p188:author id="{7FEFF0EF-9BFE-1E48-26D5-52603F9472F8}" name="Nisanur Camuzcu (RIT Student)" initials="" userId="S::nc1138@rit.edu::c819597a-af46-4717-8e3f-12e7ab89c5c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F2C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5132CB-B303-0345-BDFA-5C26E3CCADC1}" v="131" dt="2024-11-04T08:52:08.3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260"/>
    <p:restoredTop sz="80323"/>
  </p:normalViewPr>
  <p:slideViewPr>
    <p:cSldViewPr snapToGrid="0">
      <p:cViewPr varScale="1">
        <p:scale>
          <a:sx n="89" d="100"/>
          <a:sy n="89" d="100"/>
        </p:scale>
        <p:origin x="872" y="168"/>
      </p:cViewPr>
      <p:guideLst/>
    </p:cSldViewPr>
  </p:slideViewPr>
  <p:notesTextViewPr>
    <p:cViewPr>
      <p:scale>
        <a:sx n="130" d="100"/>
        <a:sy n="13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5/10/relationships/revisionInfo" Target="revisionInfo.xml"/><Relationship Id="rId34"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EF429E-CBA6-3343-A179-B8F59B0A268B}" type="datetimeFigureOut">
              <a:rPr lang="en-IT" smtClean="0"/>
              <a:t>8/22/26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47C247-8423-E14C-86C4-1D9F3D231954}" type="slidenum">
              <a:rPr lang="en-IT" smtClean="0"/>
              <a:t>‹#›</a:t>
            </a:fld>
            <a:endParaRPr lang="en-IT"/>
          </a:p>
        </p:txBody>
      </p:sp>
    </p:spTree>
    <p:extLst>
      <p:ext uri="{BB962C8B-B14F-4D97-AF65-F5344CB8AC3E}">
        <p14:creationId xmlns:p14="http://schemas.microsoft.com/office/powerpoint/2010/main" val="3753923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[Estimated Time]: 30s</a:t>
            </a:r>
          </a:p>
          <a:p>
            <a:r>
              <a:t>[Key Message]: Welcome the committee and introduce the thesis title and research focus.</a:t>
            </a:r>
          </a:p>
          <a:p>
            <a:r>
              <a:t>[Spoken Script]: Good morning members of the committee and Professor Tornatore. Today I present my Master's thesis entitled "LLM-Assisted Risk-Adaptive Neurosymbolic Intent Planning for Optical Networks: A Pre-Deployment Decision Mechanism with Joint Semantic and QoT Assessment". In this work, we address the challenge of bridging high-level operator intent with physical optical layer realities using a robust, fail-fast neurosymbolic architecture.</a:t>
            </a:r>
          </a:p>
          <a:p>
            <a:r>
              <a:t>[Bridge to Next Slide]: Let us begin with the specific roadmap of problems and solutions covered in this presentation.</a:t>
            </a:r>
          </a:p>
        </p:txBody>
      </p:sp>
      <p:sp>
        <p:nvSpPr>
          <p:cNvPr id="4" name="Slide Number Placeholder 3"/>
          <p:cNvSpPr>
            <a:spLocks noGrp="1"/>
          </p:cNvSpPr>
          <p:nvPr>
            <p:ph type="sldNum" sz="quarter" idx="5"/>
          </p:nvPr>
        </p:nvSpPr>
        <p:spPr/>
        <p:txBody>
          <a:bodyPr/>
          <a:lstStyle/>
          <a:p>
            <a:fld id="{ED47C247-8423-E14C-86C4-1D9F3D231954}" type="slidenum">
              <a:rPr lang="en-IT" smtClean="0"/>
              <a:t>1</a:t>
            </a:fld>
            <a:endParaRPr lang="en-IT"/>
          </a:p>
        </p:txBody>
      </p:sp>
    </p:spTree>
    <p:extLst>
      <p:ext uri="{BB962C8B-B14F-4D97-AF65-F5344CB8AC3E}">
        <p14:creationId xmlns:p14="http://schemas.microsoft.com/office/powerpoint/2010/main" val="2518709942"/>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Establish a thesis-specific narrative instead of a generic agenda.</a:t>
            </a:r>
          </a:p>
          <a:p>
            <a:r>
              <a:t>[Spoken Script]: Rather than a generic agenda, our presentation directly tracks the engineering challenges of autonomous optical networking. We begin by examining why general-purpose LLMs fail when controlling optical backbones. Next, we present our neurosymbolic architecture that cleanly separates natural language reasoning from optical physics. We then delve into the pre-deployment risk gates that protect the physical network before showing experimental validation on a 17-node optical topology and concluding with our primary takeaways.</a:t>
            </a:r>
          </a:p>
          <a:p>
            <a:r>
              <a:t>[Bridge to Next Slide]: Let us examine the motivation behind Intent-Based Networking in optical infrastructures.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Moving from Imperative SDON to Declarative IBON is essential to eliminate the human configuration bottleneck, but connecting naive LLMs directly to optical control planes introduces catastrophic physical risks.</a:t>
            </a:r>
          </a:p>
          <a:p>
            <a:r>
              <a:t>[Spoken Script]: Optical transport networks form the multi-terabit backbone of modern telecommunications. Over the past decade, Software-Defined Optical Networking (SDON) successfully centralized the control plane through standardized Southbound interfaces like NETCONF and RESTConf. However, SDON remains fundamentally imperative: human operators must still manually compute explicit lightpaths, calculate wavelength grids, and configure ROADM cross-connects, relying on slow offline tools with conservative 3 to 5 dB margins. Intent-Based Optical Networking (IBON), formalized in IETF RFC 9315, represents a crucial paradigm shift from 'how' to 'what': operators express declarative service intents in natural language, and the system autonomously derives the physical optical configuration under continuous closed-loop assurance. However, connecting generative AI directly to optical backbones creates severe risks, as optical networks do not tolerate probabilistic hallucination.</a:t>
            </a:r>
          </a:p>
          <a:p>
            <a:r>
              <a:t>[Bridge to Next Slide]: To understand why standard LLMs cannot simply drive an IBON controller, let us examine the five architectural failure modes that occur.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65s</a:t>
            </a:r>
          </a:p>
          <a:p>
            <a:r>
              <a:t>[Key Message]: Connecting standard generative LLMs directly to optical control planes exposes five fundamental architectural failure modes.</a:t>
            </a:r>
          </a:p>
          <a:p>
            <a:r>
              <a:t>[Spoken Script]: When we evaluate standard generative LLMs for optical network control, we observe five interconnected failure modes that compromise operational integrity: First, Token Budget Saturation: injecting complete network states exhausts token budgets and triggers attention degradation, causing link exclusions to be dropped. Second, Hallucinated Physical Feasibility: autoregressive token predictors cannot solve wave propagation equations, computing invalid lightpaths that cause transponder loss of lock. Third, Semantic Drift: multi-turn chat loops mutate initial constraints without convergence guarantees. Fourth, Reactive Failure Latency: detecting faults after hardware rejection risks live link disruptions. Fifth, Suboptimal HITL: binary all-or-nothing review causes operator fatigue.</a:t>
            </a:r>
          </a:p>
          <a:p>
            <a:r>
              <a:t>[Bridge to Next Slide]: To overcome these five failure modes, we must formally structure the optical intent problem with hard physical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Formally formulate the problem across four structured dimensions: Given inputs, Decision variables, Objective function, and Constraints (Resource vs Boundary).</a:t>
            </a:r>
          </a:p>
          <a:p>
            <a:r>
              <a:t>[Spoken Script]: Following classical telecommunications optimization methodology, we formulate our intent planning problem across four precise dimensions: Given, Decide, Objective, and Constraints. In the upper row, first, Given: the orchestrator ingests the natural language intent, queries the network graph via RESTConf, and loads physical parameters. Second, Decide: the system determines the PDDL specification, selects the optimal lightpath route pi*, resolves the risk decision action in {approve, clarify, replan}, and generates the final configuration c*. Third, Objective: we formulate a multi-objective cost function minimizing human interruptions and prompt tokens under the hard invariant that no lightpath is deployed without approval. In the lower half, Constraints decouple into Resource Constraints on the left and Boundary Constraints on the right.</a:t>
            </a:r>
          </a:p>
          <a:p>
            <a:r>
              <a:t>[Bridge to Next Slide]: To solve this constrained optimization problem, we introduce our neurosymbolic architectural philosophy.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State the thesis contributions explicitly: decoupling probabilistic reasoning from deterministic calculations.</a:t>
            </a:r>
          </a:p>
          <a:p>
            <a:r>
              <a:t>[Spoken Script]: Our core architectural principle is: 'LLMs reason, deterministic tools calculate'. We forbid the LLM from performing math or path exploration. Instead, the LLM acts solely as a semantic translator, converting natural language into formal Planning Domain Definition Language, or PDDL. This enables our four key contributions: a neurosymbolic pipeline, a scoped Optical GraphRAG mechanism, sequential pre-deployment risk gates, and an auditable LangGraph state machine.</a:t>
            </a:r>
          </a:p>
          <a:p>
            <a:r>
              <a:t>[Bridge to Next Slide]: Let us trace the execution of this pipeline from end to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Walk through the clean 7-phase pipeline, highlighting the sequential fail-fast flow.</a:t>
            </a:r>
          </a:p>
          <a:p>
            <a:r>
              <a:t>[Spoken Script]: Here we see the complete 7-phase execution pipeline. The operator's intent enters Phase 1 where it is enriched with optical standards. In Phase 2, the LLM generates PDDL constraints. Crucially, before running heavy graph solvers or physics tools, Phase 3 evaluates semantic uncertainty. If semantically sound, Phase 4 extracts candidate routes via symbolic graph algorithms. Phase 5 evaluates physical feasibility using a deterministic GN-model. Finally, the Risk-Adaptive Decision Gate verifies physical safety before synthesizing the final auditable report.</a:t>
            </a:r>
          </a:p>
          <a:p>
            <a:r>
              <a:t>[Bridge to Next Slide]: Let us inspect how Phase 4 solves the token saturation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Scoped GraphRAG extracts only relevant k-hop subtopologies, eliminating attention degradation.</a:t>
            </a:r>
          </a:p>
          <a:p>
            <a:r>
              <a:t>[Spoken Script]: To solve token budget saturation, we implement Scoped Optical GraphRAG. Instead of flooding the LLM context with the entire 17-node topology, our deterministic graph engine extracts only the k-hop neighborhood bounding the source and destination. For instance, [Click / Advance] if an operator requests a lightpath between Frankfurt and Munich, there is no need to load northern nodes like Hamburg, Bremen, or Berlin into the LLM context. We prune distant nodes and links, reducing the prompt token footprint by over 75 percent, eliminating the lost-in-the-middle phenomenon while keeping the graph search computationally instantaneous.</a:t>
            </a:r>
          </a:p>
          <a:p>
            <a:r>
              <a:t>[Bridge to Next Slide]: Now let us examine how we eliminate semantic drift before any physics calculations occur.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semantic gate prevents unverified assumptions from entering downstream tools.</a:t>
            </a:r>
          </a:p>
          <a:p>
            <a:r>
              <a:t>[Spoken Script]: To eliminate semantic drift, we introduce a dual-layer Semantic Uncertainty Gate, U_sem. First, Layer 1 validates that the PDDL adheres strictly to our domain grammar, instantly catching structural hallucinations. Second, Layer 2 performs Reverse Prompting: an independent LLM reconstructs a plain-language summary directly from the PDDL. A semantic agreement judge compares this reconstruction against the operator's original request. If uncertainty exceeds our threshold tau_sem, the orchestrator pauses immediately via a LangGraph interrupt, asking the operator for clarification before wasting compute on physics.</a:t>
            </a:r>
          </a:p>
          <a:p>
            <a:r>
              <a:t>[Bridge to Next Slide]: Once semantic validity is established, how do we make the final pre-deployment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RADG function mathematically maps semantic and physical signals to optimal actions.</a:t>
            </a:r>
          </a:p>
          <a:p>
            <a:r>
              <a:t>[Spoken Script]: The cornerstone of our pre-deployment safety is the Risk-Adaptive Decision Gate, or RADG. We formalize this as a piecewise decision function, D. If semantic uncertainty U_sem exceeds our threshold, the system triggers 'clarify'. If semantics are sound but QoT fails, the system triggers 'replan' to relax physical constraints. Only when both semantic uncertainty is low and QoT is physically valid does the system issue 'approve'. This ensures zero unverified states reach the controller while avoiding operator fatigue through selective engagement.</a:t>
            </a:r>
          </a:p>
          <a:p>
            <a:r>
              <a:t>[Bridge to Next Slide]: Let us examine the physical calculation engine powering QoT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Pure Python GN-model computes real GSNR and receiver power deterministically in milliseconds.</a:t>
            </a:r>
          </a:p>
          <a:p>
            <a:r>
              <a:t>[Spoken Script]: In Phase 5, candidate paths produced by the symbolic solver are validated against the physical layer. We port the analytical Gaussian Noise model into pure Python. The calculator accounts for fiber attenuation, EDFA noise figures, and nonlinear self-phase modulation across each span. A path is strictly feasible only if its computed GSNR satisfies the modulation format threshold and receiver power sensitivity is met. This deterministic evaluation executes in less than 5 milliseconds, completely eliminating physical hallucination.</a:t>
            </a:r>
          </a:p>
          <a:p>
            <a:r>
              <a:t>[Bridge to Next Slide]: Let us see how this entire system is deployed and tested.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Realistic evaluation using the standard 17-node German optical topology and RESTConf testbed.</a:t>
            </a:r>
          </a:p>
          <a:p>
            <a:r>
              <a:t>[Spoken Script]: We validate our architecture on the 17-node German backbone network, a standard benchmark in optical research consisting of 26 bidirectional fiber spans. All spans model standard SMF-28 fiber with realistic attenuation, dispersion, and EDFA noise figures. The orchestrator is implemented in Python using LangGraph, interfacing with the optical testbed via RESTConf APIs, and benchmarked using state-of-the-art LLMs as semantic translators.</a:t>
            </a:r>
          </a:p>
          <a:p>
            <a:r>
              <a:t>[Bridge to Next Slide]: What scenarios and metrics do we use to evaluate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Rigorous benchmarking across 100 diverse intent scenarios against LLM-only and rule-based baselines across 4 validation pillars.</a:t>
            </a:r>
          </a:p>
          <a:p>
            <a:r>
              <a:t>[Spoken Script]: In Slide 13, we present our comprehensive evaluation framework. On the left, we establish the experimental baseline: we test against an unconstrained LLM-only baseline with trial-and-error retry, and a rigid rule-based system with always-on human review, deployed on the 17-node German optical backbone. We evaluate a benchmark corpus of 100 intent demands spanning four risk classes: nominal, ambiguous, physically infeasible, and adversarial prompts. On the right, rather than just measuring latency, we evaluate our system across four rigorous validation pillars: first, Semantic Translation Accuracy to guarantee zero constraint loss; second, Physical Feasibility to enforce our non-negotiable zero percent Unsafe Approval Rate; third, Orchestration Efficiency, measuring over 75 percent token savings from GraphRAG and 70 percent reduction in operator fatigue; and fourth, RADG Decision Robustness, ensuring over 98 percent gate accuracy and zero false positives across all boundary conditions.</a:t>
            </a:r>
          </a:p>
          <a:p>
            <a:r>
              <a:t>[Bridge to Next Slide]: Let us analyze the key findings and empirical guarantees obtained from these benchmarks.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100% pre-deployment safety, 70% reduction in operator fatigue, and sub-second deterministic compute.</a:t>
            </a:r>
          </a:p>
          <a:p>
            <a:r>
              <a:t>[Spoken Script]: The experimental results validate our core hypothesis. Most importantly, our architecture achieved a 100 percent pre-deployment safety guarantee: zero physically unfeasible or hallucinated configurations ever reached the network controller. In contrast, the unconstrained LLM baseline allowed up to 34 percent invalid routes. Furthermore, by evaluating semantic uncertainty early, we reduced human operator interventions by over 70 percent compared to always-on review. Finally, our deterministic physics engine executed in under 15 milliseconds, proving that safety does not compromise speed.</a:t>
            </a:r>
          </a:p>
          <a:p>
            <a:r>
              <a:t>[Bridge to Next Slide]: Let us summarize the primary conclusions of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Summarize the four core engineering takeaways of the thesis.</a:t>
            </a:r>
          </a:p>
          <a:p>
            <a:r>
              <a:t>[Spoken Script]: In conclusion, this thesis demonstrates that neurosymbolic decoupling is essential for deploying AI in optical networks. By restricting the LLM to formal PDDL translation and delegating physics and routing to deterministic tools, we eliminate hallucination. Our sequential risk gates ensure that semantic uncertainty is caught early and physical feasibility is guaranteed before deployment. This achieves the dual goal of operational safety and minimal operator fatigue.</a:t>
            </a:r>
          </a:p>
          <a:p>
            <a:r>
              <a:t>[Bridge to Next Slide]: Finally, let us review future research avenues and conclude.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45s</a:t>
            </a:r>
          </a:p>
          <a:p>
            <a:r>
              <a:t>[Key Message]: Thank the committee, outline future research directions (joint compute scheduling), and open Q&amp;A.</a:t>
            </a:r>
          </a:p>
          <a:p>
            <a:r>
              <a:t>[Spoken Script]: Looking forward, our immediate next step is extending this PDDL framework to joint routing and compute scheduling, coordinating optical lightpaths with distributed data center GPU workloads. I want to express my deepest gratitude to Professor Tornatore and my colleagues in the SDON laboratory for their invaluable guidance throughout this research. Thank you very much for your time and attention. I am now open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E1A2D-A28B-8DCE-F8CD-3A366147220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IT"/>
          </a:p>
        </p:txBody>
      </p:sp>
      <p:sp>
        <p:nvSpPr>
          <p:cNvPr id="3" name="Subtitle 2">
            <a:extLst>
              <a:ext uri="{FF2B5EF4-FFF2-40B4-BE49-F238E27FC236}">
                <a16:creationId xmlns:a16="http://schemas.microsoft.com/office/drawing/2014/main" id="{481941FA-6233-C929-4A35-3015D7BF82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IT"/>
          </a:p>
        </p:txBody>
      </p:sp>
      <p:sp>
        <p:nvSpPr>
          <p:cNvPr id="4" name="Date Placeholder 3">
            <a:extLst>
              <a:ext uri="{FF2B5EF4-FFF2-40B4-BE49-F238E27FC236}">
                <a16:creationId xmlns:a16="http://schemas.microsoft.com/office/drawing/2014/main" id="{E37D4518-85E3-B4E3-4E04-D41647C72430}"/>
              </a:ext>
            </a:extLst>
          </p:cNvPr>
          <p:cNvSpPr>
            <a:spLocks noGrp="1"/>
          </p:cNvSpPr>
          <p:nvPr>
            <p:ph type="dt" sz="half" idx="10"/>
          </p:nvPr>
        </p:nvSpPr>
        <p:spPr>
          <a:xfrm>
            <a:off x="838200" y="6356350"/>
            <a:ext cx="2743200" cy="365125"/>
          </a:xfrm>
          <a:prstGeom prst="rect">
            <a:avLst/>
          </a:prstGeom>
        </p:spPr>
        <p:txBody>
          <a:bodyPr/>
          <a:lstStyle/>
          <a:p>
            <a:fld id="{62252261-78BC-174D-9E4D-3C7C23CF6EA8}" type="datetime1">
              <a:rPr lang="it-IT" smtClean="0"/>
              <a:t>22/08/26</a:t>
            </a:fld>
            <a:endParaRPr lang="en-IT"/>
          </a:p>
        </p:txBody>
      </p:sp>
      <p:sp>
        <p:nvSpPr>
          <p:cNvPr id="5" name="Footer Placeholder 4">
            <a:extLst>
              <a:ext uri="{FF2B5EF4-FFF2-40B4-BE49-F238E27FC236}">
                <a16:creationId xmlns:a16="http://schemas.microsoft.com/office/drawing/2014/main" id="{71D10096-CCFB-C510-280F-7BCF6714F999}"/>
              </a:ext>
            </a:extLst>
          </p:cNvPr>
          <p:cNvSpPr>
            <a:spLocks noGrp="1"/>
          </p:cNvSpPr>
          <p:nvPr>
            <p:ph type="ftr" sz="quarter" idx="11"/>
          </p:nvPr>
        </p:nvSpPr>
        <p:spPr>
          <a:xfrm>
            <a:off x="3450770" y="6356350"/>
            <a:ext cx="5315857"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C71417EC-0760-A06D-A31C-77EECA89C2C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4175781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645A3-DB53-7232-DCE6-48C997AC266D}"/>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54E711CE-2751-D8C8-01C1-3F4D3650A92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FC3DEAE9-8797-C5E2-7A43-1B78189A9F07}"/>
              </a:ext>
            </a:extLst>
          </p:cNvPr>
          <p:cNvSpPr>
            <a:spLocks noGrp="1"/>
          </p:cNvSpPr>
          <p:nvPr>
            <p:ph type="dt" sz="half" idx="10"/>
          </p:nvPr>
        </p:nvSpPr>
        <p:spPr>
          <a:xfrm>
            <a:off x="8610600" y="6356349"/>
            <a:ext cx="2743200" cy="365125"/>
          </a:xfrm>
          <a:prstGeom prst="rect">
            <a:avLst/>
          </a:prstGeom>
        </p:spPr>
        <p:txBody>
          <a:bodyPr/>
          <a:lstStyle/>
          <a:p>
            <a:fld id="{006CDE73-ABFC-9542-A114-3996260FB034}" type="datetime1">
              <a:rPr lang="it-IT" smtClean="0"/>
              <a:t>22/08/26</a:t>
            </a:fld>
            <a:endParaRPr lang="en-IT" dirty="0"/>
          </a:p>
        </p:txBody>
      </p:sp>
      <p:sp>
        <p:nvSpPr>
          <p:cNvPr id="5" name="Footer Placeholder 4">
            <a:extLst>
              <a:ext uri="{FF2B5EF4-FFF2-40B4-BE49-F238E27FC236}">
                <a16:creationId xmlns:a16="http://schemas.microsoft.com/office/drawing/2014/main" id="{FF98E46E-DD16-DABF-9446-63C548C05A22}"/>
              </a:ext>
            </a:extLst>
          </p:cNvPr>
          <p:cNvSpPr>
            <a:spLocks noGrp="1"/>
          </p:cNvSpPr>
          <p:nvPr>
            <p:ph type="ftr" sz="quarter" idx="11"/>
          </p:nvPr>
        </p:nvSpPr>
        <p:spPr>
          <a:xfrm>
            <a:off x="2981959" y="6356350"/>
            <a:ext cx="5479869"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DB0D4DF4-B7F8-945A-A82C-2BDD96B8DB7F}"/>
              </a:ext>
            </a:extLst>
          </p:cNvPr>
          <p:cNvSpPr>
            <a:spLocks noGrp="1"/>
          </p:cNvSpPr>
          <p:nvPr>
            <p:ph type="sldNum" sz="quarter" idx="12"/>
          </p:nvPr>
        </p:nvSpPr>
        <p:spPr>
          <a:xfrm>
            <a:off x="238760" y="6492875"/>
            <a:ext cx="2743200" cy="365125"/>
          </a:xfrm>
          <a:prstGeom prst="rect">
            <a:avLst/>
          </a:prstGeom>
        </p:spPr>
        <p:txBody>
          <a:bodyPr/>
          <a:lstStyle>
            <a:lvl1pPr algn="l">
              <a:defRPr/>
            </a:lvl1pPr>
          </a:lstStyle>
          <a:p>
            <a:fld id="{A5A6EFC7-8735-7E44-BFA7-969B9F5B451D}" type="slidenum">
              <a:rPr lang="en-IT" smtClean="0"/>
              <a:pPr/>
              <a:t>‹#›</a:t>
            </a:fld>
            <a:endParaRPr lang="en-IT" dirty="0"/>
          </a:p>
        </p:txBody>
      </p:sp>
    </p:spTree>
    <p:extLst>
      <p:ext uri="{BB962C8B-B14F-4D97-AF65-F5344CB8AC3E}">
        <p14:creationId xmlns:p14="http://schemas.microsoft.com/office/powerpoint/2010/main" val="727437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15FE4-7615-7053-C87D-7B3EAD191EA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IT"/>
          </a:p>
        </p:txBody>
      </p:sp>
      <p:sp>
        <p:nvSpPr>
          <p:cNvPr id="3" name="Text Placeholder 2">
            <a:extLst>
              <a:ext uri="{FF2B5EF4-FFF2-40B4-BE49-F238E27FC236}">
                <a16:creationId xmlns:a16="http://schemas.microsoft.com/office/drawing/2014/main" id="{583361DA-7CFD-4E8A-B29D-1E5EBA865B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11AA7B8-6A0A-484B-DB20-3672E9E6FE2F}"/>
              </a:ext>
            </a:extLst>
          </p:cNvPr>
          <p:cNvSpPr>
            <a:spLocks noGrp="1"/>
          </p:cNvSpPr>
          <p:nvPr>
            <p:ph type="dt" sz="half" idx="10"/>
          </p:nvPr>
        </p:nvSpPr>
        <p:spPr>
          <a:xfrm>
            <a:off x="838200" y="6356350"/>
            <a:ext cx="2743200" cy="365125"/>
          </a:xfrm>
          <a:prstGeom prst="rect">
            <a:avLst/>
          </a:prstGeom>
        </p:spPr>
        <p:txBody>
          <a:bodyPr/>
          <a:lstStyle/>
          <a:p>
            <a:fld id="{8A5D7195-E216-0243-9A25-979556D8AFAD}" type="datetime1">
              <a:rPr lang="it-IT" smtClean="0"/>
              <a:t>22/08/26</a:t>
            </a:fld>
            <a:endParaRPr lang="en-IT"/>
          </a:p>
        </p:txBody>
      </p:sp>
      <p:sp>
        <p:nvSpPr>
          <p:cNvPr id="5" name="Footer Placeholder 4">
            <a:extLst>
              <a:ext uri="{FF2B5EF4-FFF2-40B4-BE49-F238E27FC236}">
                <a16:creationId xmlns:a16="http://schemas.microsoft.com/office/drawing/2014/main" id="{98B35D1B-417F-0FAB-832D-8ED8027D0772}"/>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11723421-4487-F481-EC62-866FB11B26FF}"/>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2099170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BD058-E209-763C-1074-27BC88329552}"/>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763427EA-AE02-BF1A-395C-9CA850AF077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Content Placeholder 3">
            <a:extLst>
              <a:ext uri="{FF2B5EF4-FFF2-40B4-BE49-F238E27FC236}">
                <a16:creationId xmlns:a16="http://schemas.microsoft.com/office/drawing/2014/main" id="{3452AE9C-0C65-E9F1-A117-0627F273030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Date Placeholder 4">
            <a:extLst>
              <a:ext uri="{FF2B5EF4-FFF2-40B4-BE49-F238E27FC236}">
                <a16:creationId xmlns:a16="http://schemas.microsoft.com/office/drawing/2014/main" id="{29935120-6ADD-54F3-FF72-92572B12F19F}"/>
              </a:ext>
            </a:extLst>
          </p:cNvPr>
          <p:cNvSpPr>
            <a:spLocks noGrp="1"/>
          </p:cNvSpPr>
          <p:nvPr>
            <p:ph type="dt" sz="half" idx="10"/>
          </p:nvPr>
        </p:nvSpPr>
        <p:spPr>
          <a:xfrm>
            <a:off x="838200" y="6356350"/>
            <a:ext cx="2743200" cy="365125"/>
          </a:xfrm>
          <a:prstGeom prst="rect">
            <a:avLst/>
          </a:prstGeom>
        </p:spPr>
        <p:txBody>
          <a:bodyPr/>
          <a:lstStyle/>
          <a:p>
            <a:fld id="{A9D17A0B-D512-024B-9B08-1CA57F07905B}" type="datetime1">
              <a:rPr lang="it-IT" smtClean="0"/>
              <a:t>22/08/26</a:t>
            </a:fld>
            <a:endParaRPr lang="en-IT"/>
          </a:p>
        </p:txBody>
      </p:sp>
      <p:sp>
        <p:nvSpPr>
          <p:cNvPr id="7" name="Slide Number Placeholder 6">
            <a:extLst>
              <a:ext uri="{FF2B5EF4-FFF2-40B4-BE49-F238E27FC236}">
                <a16:creationId xmlns:a16="http://schemas.microsoft.com/office/drawing/2014/main" id="{0908AA54-77B7-55EC-45A2-DBCF2B33F4BE}"/>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3F278F72-1D01-4D3D-7611-B0D8025B72A7}"/>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5426130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6A41D-AE58-4283-9FE5-38E862BE035D}"/>
              </a:ext>
            </a:extLst>
          </p:cNvPr>
          <p:cNvSpPr>
            <a:spLocks noGrp="1"/>
          </p:cNvSpPr>
          <p:nvPr>
            <p:ph type="title"/>
          </p:nvPr>
        </p:nvSpPr>
        <p:spPr>
          <a:xfrm>
            <a:off x="839788" y="365125"/>
            <a:ext cx="10515600" cy="1325563"/>
          </a:xfrm>
        </p:spPr>
        <p:txBody>
          <a:bodyPr/>
          <a:lstStyle/>
          <a:p>
            <a:r>
              <a:rPr lang="en-GB"/>
              <a:t>Click to edit Master title style</a:t>
            </a:r>
            <a:endParaRPr lang="en-IT"/>
          </a:p>
        </p:txBody>
      </p:sp>
      <p:sp>
        <p:nvSpPr>
          <p:cNvPr id="3" name="Text Placeholder 2">
            <a:extLst>
              <a:ext uri="{FF2B5EF4-FFF2-40B4-BE49-F238E27FC236}">
                <a16:creationId xmlns:a16="http://schemas.microsoft.com/office/drawing/2014/main" id="{26C646FC-65AE-9540-AAE3-B6B6CD9582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8CBA447-66F8-A34A-B4CE-410DAC50DC8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Text Placeholder 4">
            <a:extLst>
              <a:ext uri="{FF2B5EF4-FFF2-40B4-BE49-F238E27FC236}">
                <a16:creationId xmlns:a16="http://schemas.microsoft.com/office/drawing/2014/main" id="{B5285D13-3F53-7827-EAED-8E06DE38F7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1FFD454-1F8A-95A0-CF52-0CFD2DAED3E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7" name="Date Placeholder 6">
            <a:extLst>
              <a:ext uri="{FF2B5EF4-FFF2-40B4-BE49-F238E27FC236}">
                <a16:creationId xmlns:a16="http://schemas.microsoft.com/office/drawing/2014/main" id="{0A9E2329-C618-562E-2A20-59EDBC75D5FD}"/>
              </a:ext>
            </a:extLst>
          </p:cNvPr>
          <p:cNvSpPr>
            <a:spLocks noGrp="1"/>
          </p:cNvSpPr>
          <p:nvPr>
            <p:ph type="dt" sz="half" idx="10"/>
          </p:nvPr>
        </p:nvSpPr>
        <p:spPr>
          <a:xfrm>
            <a:off x="838200" y="6356350"/>
            <a:ext cx="2743200" cy="365125"/>
          </a:xfrm>
          <a:prstGeom prst="rect">
            <a:avLst/>
          </a:prstGeom>
        </p:spPr>
        <p:txBody>
          <a:bodyPr/>
          <a:lstStyle/>
          <a:p>
            <a:fld id="{95EDCAF1-B061-6943-9C47-57949C20D532}" type="datetime1">
              <a:rPr lang="it-IT" smtClean="0"/>
              <a:t>22/08/26</a:t>
            </a:fld>
            <a:endParaRPr lang="en-IT"/>
          </a:p>
        </p:txBody>
      </p:sp>
      <p:sp>
        <p:nvSpPr>
          <p:cNvPr id="9" name="Slide Number Placeholder 8">
            <a:extLst>
              <a:ext uri="{FF2B5EF4-FFF2-40B4-BE49-F238E27FC236}">
                <a16:creationId xmlns:a16="http://schemas.microsoft.com/office/drawing/2014/main" id="{F757708F-3711-3F7E-9E02-BEDC205AAFB8}"/>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10" name="Footer Placeholder 4">
            <a:extLst>
              <a:ext uri="{FF2B5EF4-FFF2-40B4-BE49-F238E27FC236}">
                <a16:creationId xmlns:a16="http://schemas.microsoft.com/office/drawing/2014/main" id="{83E3912A-2D33-7851-1F0D-11E8BEC55286}"/>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903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AD59E-DED0-94B6-7942-B6F374AA8488}"/>
              </a:ext>
            </a:extLst>
          </p:cNvPr>
          <p:cNvSpPr>
            <a:spLocks noGrp="1"/>
          </p:cNvSpPr>
          <p:nvPr>
            <p:ph type="title"/>
          </p:nvPr>
        </p:nvSpPr>
        <p:spPr/>
        <p:txBody>
          <a:bodyPr/>
          <a:lstStyle/>
          <a:p>
            <a:r>
              <a:rPr lang="en-GB"/>
              <a:t>Click to edit Master title style</a:t>
            </a:r>
            <a:endParaRPr lang="en-IT"/>
          </a:p>
        </p:txBody>
      </p:sp>
      <p:sp>
        <p:nvSpPr>
          <p:cNvPr id="3" name="Date Placeholder 2">
            <a:extLst>
              <a:ext uri="{FF2B5EF4-FFF2-40B4-BE49-F238E27FC236}">
                <a16:creationId xmlns:a16="http://schemas.microsoft.com/office/drawing/2014/main" id="{E52467CD-2DC2-6366-45D6-2CCDB518BA88}"/>
              </a:ext>
            </a:extLst>
          </p:cNvPr>
          <p:cNvSpPr>
            <a:spLocks noGrp="1"/>
          </p:cNvSpPr>
          <p:nvPr>
            <p:ph type="dt" sz="half" idx="10"/>
          </p:nvPr>
        </p:nvSpPr>
        <p:spPr>
          <a:xfrm>
            <a:off x="838200" y="6356350"/>
            <a:ext cx="2743200" cy="365125"/>
          </a:xfrm>
          <a:prstGeom prst="rect">
            <a:avLst/>
          </a:prstGeom>
        </p:spPr>
        <p:txBody>
          <a:bodyPr/>
          <a:lstStyle/>
          <a:p>
            <a:fld id="{EEE5C188-2720-9C44-9A77-56CA9B44ACEC}" type="datetime1">
              <a:rPr lang="it-IT" smtClean="0"/>
              <a:t>22/08/26</a:t>
            </a:fld>
            <a:endParaRPr lang="en-IT"/>
          </a:p>
        </p:txBody>
      </p:sp>
      <p:sp>
        <p:nvSpPr>
          <p:cNvPr id="5" name="Slide Number Placeholder 4">
            <a:extLst>
              <a:ext uri="{FF2B5EF4-FFF2-40B4-BE49-F238E27FC236}">
                <a16:creationId xmlns:a16="http://schemas.microsoft.com/office/drawing/2014/main" id="{DA139705-E059-F9C6-09CD-4B4883ADE63C}"/>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6" name="Footer Placeholder 4">
            <a:extLst>
              <a:ext uri="{FF2B5EF4-FFF2-40B4-BE49-F238E27FC236}">
                <a16:creationId xmlns:a16="http://schemas.microsoft.com/office/drawing/2014/main" id="{3F46C72A-1265-C865-3881-B139F1F4A07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88883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37F2F6-9A71-F78A-E34E-A7407A26FBBE}"/>
              </a:ext>
            </a:extLst>
          </p:cNvPr>
          <p:cNvSpPr>
            <a:spLocks noGrp="1"/>
          </p:cNvSpPr>
          <p:nvPr>
            <p:ph type="dt" sz="half" idx="10"/>
          </p:nvPr>
        </p:nvSpPr>
        <p:spPr>
          <a:xfrm>
            <a:off x="838200" y="6356350"/>
            <a:ext cx="2743200" cy="365125"/>
          </a:xfrm>
          <a:prstGeom prst="rect">
            <a:avLst/>
          </a:prstGeom>
        </p:spPr>
        <p:txBody>
          <a:bodyPr/>
          <a:lstStyle/>
          <a:p>
            <a:fld id="{776EEC19-AC26-7944-89E8-2338C684BFDA}" type="datetime1">
              <a:rPr lang="it-IT" smtClean="0"/>
              <a:t>22/08/26</a:t>
            </a:fld>
            <a:endParaRPr lang="en-IT"/>
          </a:p>
        </p:txBody>
      </p:sp>
      <p:sp>
        <p:nvSpPr>
          <p:cNvPr id="4" name="Slide Number Placeholder 3">
            <a:extLst>
              <a:ext uri="{FF2B5EF4-FFF2-40B4-BE49-F238E27FC236}">
                <a16:creationId xmlns:a16="http://schemas.microsoft.com/office/drawing/2014/main" id="{D37EE5DE-19B5-9906-BCEB-3C29D0EFD4A5}"/>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5" name="Footer Placeholder 4">
            <a:extLst>
              <a:ext uri="{FF2B5EF4-FFF2-40B4-BE49-F238E27FC236}">
                <a16:creationId xmlns:a16="http://schemas.microsoft.com/office/drawing/2014/main" id="{1A9EC518-9367-34F2-5D3B-E1F451C770B3}"/>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6428305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739B0-3D54-1487-E4CA-3697B8C81C7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Content Placeholder 2">
            <a:extLst>
              <a:ext uri="{FF2B5EF4-FFF2-40B4-BE49-F238E27FC236}">
                <a16:creationId xmlns:a16="http://schemas.microsoft.com/office/drawing/2014/main" id="{58608E19-D8E6-1FA9-E143-37620ABC17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Text Placeholder 3">
            <a:extLst>
              <a:ext uri="{FF2B5EF4-FFF2-40B4-BE49-F238E27FC236}">
                <a16:creationId xmlns:a16="http://schemas.microsoft.com/office/drawing/2014/main" id="{66A41659-0DF5-30DF-4E75-897B350822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EDA7FC6-A339-D605-800D-AB501AB8E237}"/>
              </a:ext>
            </a:extLst>
          </p:cNvPr>
          <p:cNvSpPr>
            <a:spLocks noGrp="1"/>
          </p:cNvSpPr>
          <p:nvPr>
            <p:ph type="dt" sz="half" idx="10"/>
          </p:nvPr>
        </p:nvSpPr>
        <p:spPr>
          <a:xfrm>
            <a:off x="838200" y="6356350"/>
            <a:ext cx="2743200" cy="365125"/>
          </a:xfrm>
          <a:prstGeom prst="rect">
            <a:avLst/>
          </a:prstGeom>
        </p:spPr>
        <p:txBody>
          <a:bodyPr/>
          <a:lstStyle/>
          <a:p>
            <a:fld id="{613104F7-4FAA-A745-88CD-DCDF4F2A4B12}" type="datetime1">
              <a:rPr lang="it-IT" smtClean="0"/>
              <a:t>22/08/26</a:t>
            </a:fld>
            <a:endParaRPr lang="en-IT"/>
          </a:p>
        </p:txBody>
      </p:sp>
      <p:sp>
        <p:nvSpPr>
          <p:cNvPr id="7" name="Slide Number Placeholder 6">
            <a:extLst>
              <a:ext uri="{FF2B5EF4-FFF2-40B4-BE49-F238E27FC236}">
                <a16:creationId xmlns:a16="http://schemas.microsoft.com/office/drawing/2014/main" id="{718E942D-4B1F-ED75-AE8B-F9BD5DCEA5B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19A6D227-1513-F093-3E45-E53F91D851AC}"/>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25869143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3EF85-63B8-9971-2219-6017CE8033C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Picture Placeholder 2">
            <a:extLst>
              <a:ext uri="{FF2B5EF4-FFF2-40B4-BE49-F238E27FC236}">
                <a16:creationId xmlns:a16="http://schemas.microsoft.com/office/drawing/2014/main" id="{58CA7183-DD42-C215-876D-0F0184CD30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T"/>
          </a:p>
        </p:txBody>
      </p:sp>
      <p:sp>
        <p:nvSpPr>
          <p:cNvPr id="4" name="Text Placeholder 3">
            <a:extLst>
              <a:ext uri="{FF2B5EF4-FFF2-40B4-BE49-F238E27FC236}">
                <a16:creationId xmlns:a16="http://schemas.microsoft.com/office/drawing/2014/main" id="{247EEB28-6818-7251-B7EB-DB3B1CE706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104FDCE-E9E1-5CD0-F177-B2172C0E4810}"/>
              </a:ext>
            </a:extLst>
          </p:cNvPr>
          <p:cNvSpPr>
            <a:spLocks noGrp="1"/>
          </p:cNvSpPr>
          <p:nvPr>
            <p:ph type="dt" sz="half" idx="10"/>
          </p:nvPr>
        </p:nvSpPr>
        <p:spPr>
          <a:xfrm>
            <a:off x="838200" y="6356350"/>
            <a:ext cx="2743200" cy="365125"/>
          </a:xfrm>
          <a:prstGeom prst="rect">
            <a:avLst/>
          </a:prstGeom>
        </p:spPr>
        <p:txBody>
          <a:bodyPr/>
          <a:lstStyle/>
          <a:p>
            <a:fld id="{7C8D58A7-0DEC-544E-993C-AFFBCEE6AD8C}" type="datetime1">
              <a:rPr lang="it-IT" smtClean="0"/>
              <a:t>22/08/26</a:t>
            </a:fld>
            <a:endParaRPr lang="en-IT"/>
          </a:p>
        </p:txBody>
      </p:sp>
      <p:sp>
        <p:nvSpPr>
          <p:cNvPr id="7" name="Slide Number Placeholder 6">
            <a:extLst>
              <a:ext uri="{FF2B5EF4-FFF2-40B4-BE49-F238E27FC236}">
                <a16:creationId xmlns:a16="http://schemas.microsoft.com/office/drawing/2014/main" id="{B99B9D2A-F1F9-4801-9581-9D2C9983435D}"/>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9C59E5F1-54C6-6BC1-CCB9-2090DAE5254E}"/>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3851833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28ED-19A6-5713-2EDB-85B45D159DF6}"/>
              </a:ext>
            </a:extLst>
          </p:cNvPr>
          <p:cNvSpPr>
            <a:spLocks noGrp="1"/>
          </p:cNvSpPr>
          <p:nvPr>
            <p:ph type="title"/>
          </p:nvPr>
        </p:nvSpPr>
        <p:spPr/>
        <p:txBody>
          <a:bodyPr/>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AA0012C7-8481-28BF-2D59-AD779B2C888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EBAD4752-9552-3601-95FE-2F50896840F8}"/>
              </a:ext>
            </a:extLst>
          </p:cNvPr>
          <p:cNvSpPr>
            <a:spLocks noGrp="1"/>
          </p:cNvSpPr>
          <p:nvPr>
            <p:ph type="dt" sz="half" idx="10"/>
          </p:nvPr>
        </p:nvSpPr>
        <p:spPr>
          <a:xfrm>
            <a:off x="838200" y="6356350"/>
            <a:ext cx="2743200" cy="365125"/>
          </a:xfrm>
          <a:prstGeom prst="rect">
            <a:avLst/>
          </a:prstGeom>
        </p:spPr>
        <p:txBody>
          <a:bodyPr/>
          <a:lstStyle/>
          <a:p>
            <a:fld id="{C032C417-D84C-8940-ABEE-FD81EA567FCD}" type="datetime1">
              <a:rPr lang="it-IT" smtClean="0"/>
              <a:t>22/08/26</a:t>
            </a:fld>
            <a:endParaRPr lang="en-IT"/>
          </a:p>
        </p:txBody>
      </p:sp>
      <p:sp>
        <p:nvSpPr>
          <p:cNvPr id="6" name="Slide Number Placeholder 5">
            <a:extLst>
              <a:ext uri="{FF2B5EF4-FFF2-40B4-BE49-F238E27FC236}">
                <a16:creationId xmlns:a16="http://schemas.microsoft.com/office/drawing/2014/main" id="{1ACE12AA-4F19-116B-7C36-9D954CDDB804}"/>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85C2FBC6-CA8F-5D38-BE75-7AC6C11EF33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223045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E96AE1-B22B-990F-6CA8-76950F8F9D8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48524D0D-06F1-F5E7-552A-BE0E14435A3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84DDF309-C3D0-9C11-4F9F-01FDDDD14D37}"/>
              </a:ext>
            </a:extLst>
          </p:cNvPr>
          <p:cNvSpPr>
            <a:spLocks noGrp="1"/>
          </p:cNvSpPr>
          <p:nvPr>
            <p:ph type="dt" sz="half" idx="10"/>
          </p:nvPr>
        </p:nvSpPr>
        <p:spPr>
          <a:xfrm>
            <a:off x="838200" y="6356350"/>
            <a:ext cx="2743200" cy="365125"/>
          </a:xfrm>
          <a:prstGeom prst="rect">
            <a:avLst/>
          </a:prstGeom>
        </p:spPr>
        <p:txBody>
          <a:bodyPr/>
          <a:lstStyle/>
          <a:p>
            <a:fld id="{13ECEAFF-2F00-4F47-BAD2-CBF52B38C442}" type="datetime1">
              <a:rPr lang="it-IT" smtClean="0"/>
              <a:t>22/08/26</a:t>
            </a:fld>
            <a:endParaRPr lang="en-IT"/>
          </a:p>
        </p:txBody>
      </p:sp>
      <p:sp>
        <p:nvSpPr>
          <p:cNvPr id="6" name="Slide Number Placeholder 5">
            <a:extLst>
              <a:ext uri="{FF2B5EF4-FFF2-40B4-BE49-F238E27FC236}">
                <a16:creationId xmlns:a16="http://schemas.microsoft.com/office/drawing/2014/main" id="{7C635D93-F89D-6E84-5C3E-D3528BAECD11}"/>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7CFB9469-1EE1-4BD4-D5DD-26B86E540C0A}"/>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8660723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1.1 - Blank">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A2CC8E39-9A4E-A4DF-F50E-11E2BDCAFF7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1" name="Slide Number Placeholder 5">
            <a:extLst>
              <a:ext uri="{FF2B5EF4-FFF2-40B4-BE49-F238E27FC236}">
                <a16:creationId xmlns:a16="http://schemas.microsoft.com/office/drawing/2014/main" id="{54684DA7-0D8A-B949-344B-2DA84CB93D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3" name="Footer Placeholder 2">
            <a:extLst>
              <a:ext uri="{FF2B5EF4-FFF2-40B4-BE49-F238E27FC236}">
                <a16:creationId xmlns:a16="http://schemas.microsoft.com/office/drawing/2014/main" id="{6E4F0CF6-F16F-8670-1980-E9ED719A0C6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14CF9C37-2B4F-1A48-2665-689E781E5996}"/>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DA0E344A-9637-F773-3C9D-C304FA60FF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41820508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1.2 - Titl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4" name="TextBox 13">
            <a:extLst>
              <a:ext uri="{FF2B5EF4-FFF2-40B4-BE49-F238E27FC236}">
                <a16:creationId xmlns:a16="http://schemas.microsoft.com/office/drawing/2014/main" id="{B4AE9558-F65E-E57A-5394-E3FBBB881C0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5" name="Slide Number Placeholder 5">
            <a:extLst>
              <a:ext uri="{FF2B5EF4-FFF2-40B4-BE49-F238E27FC236}">
                <a16:creationId xmlns:a16="http://schemas.microsoft.com/office/drawing/2014/main" id="{792A02F9-A52E-683F-E045-1AFEBB2E551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6" name="Footer Placeholder 2">
            <a:extLst>
              <a:ext uri="{FF2B5EF4-FFF2-40B4-BE49-F238E27FC236}">
                <a16:creationId xmlns:a16="http://schemas.microsoft.com/office/drawing/2014/main" id="{2949A3C7-28A6-58FC-0E18-DC956F4648A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9E8EEFE7-691A-EB22-8F90-26B2CF96E1A9}"/>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B7D1C557-9AB1-1320-8365-E9EE69B4A61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673394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1.3 - Tex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tx2"/>
                </a:solidFill>
              </a:defRPr>
            </a:lvl1pPr>
            <a:lvl2pPr marL="239994" indent="0">
              <a:lnSpc>
                <a:spcPct val="100000"/>
              </a:lnSpc>
              <a:spcBef>
                <a:spcPts val="0"/>
              </a:spcBef>
              <a:spcAft>
                <a:spcPts val="800"/>
              </a:spcAft>
              <a:buSzPct val="70000"/>
              <a:buNone/>
              <a:defRPr sz="1600">
                <a:solidFill>
                  <a:schemeClr val="tx2"/>
                </a:solidFill>
              </a:defRPr>
            </a:lvl2pPr>
            <a:lvl3pPr marL="479988" indent="0">
              <a:lnSpc>
                <a:spcPct val="100000"/>
              </a:lnSpc>
              <a:spcBef>
                <a:spcPts val="0"/>
              </a:spcBef>
              <a:spcAft>
                <a:spcPts val="800"/>
              </a:spcAft>
              <a:buSzPct val="70000"/>
              <a:buNone/>
              <a:defRPr sz="1600">
                <a:solidFill>
                  <a:schemeClr val="tx2"/>
                </a:solidFill>
              </a:defRPr>
            </a:lvl3pPr>
            <a:lvl4pPr marL="719982" indent="0">
              <a:lnSpc>
                <a:spcPct val="100000"/>
              </a:lnSpc>
              <a:spcBef>
                <a:spcPts val="0"/>
              </a:spcBef>
              <a:spcAft>
                <a:spcPts val="800"/>
              </a:spcAft>
              <a:buSzPct val="70000"/>
              <a:buNone/>
              <a:defRPr sz="1600">
                <a:solidFill>
                  <a:schemeClr val="tx2"/>
                </a:solidFill>
              </a:defRPr>
            </a:lvl4pPr>
            <a:lvl5pPr marL="959976" indent="0">
              <a:lnSpc>
                <a:spcPct val="100000"/>
              </a:lnSpc>
              <a:spcBef>
                <a:spcPts val="0"/>
              </a:spcBef>
              <a:spcAft>
                <a:spcPts val="800"/>
              </a:spcAft>
              <a:buSzPct val="70000"/>
              <a:buNone/>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31A68076-E163-16F0-6643-612506DC25C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DDBD7350-FFE3-8F35-04ED-B83CAB700A0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E90EBC0-49DE-3234-6D8A-7B5E88E2D97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A9F5E732-6447-299C-75E4-C99261D7483C}"/>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3D63D485-13CC-9C0A-3170-F4CA3E92E7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9580195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1.4 - 1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D5C5286A-148E-6CAC-4953-28CEC8A7AC6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8C09A251-3EA9-3813-C32A-42674B11B3B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DDBC5E9-DF95-1530-C94F-AC94C8FDD7B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7A0A6C3E-06F7-E899-9995-0ED37EE6CC41}"/>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9E39556-3958-D06D-B5BB-705F5725C68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7859419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5 - 2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76D7398D-CEE7-3079-FB86-A89C992F31A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3654D0DC-83E2-3257-B441-08F7D9D9447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47C68A9-7989-FB66-D55B-D66D6874D99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52491042-D5B7-4498-A1F0-5BEA78AF4EBD}"/>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88F7910F-6815-2B09-B597-8F9DAC6834A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15583830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1.6 - 3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Box 16">
            <a:extLst>
              <a:ext uri="{FF2B5EF4-FFF2-40B4-BE49-F238E27FC236}">
                <a16:creationId xmlns:a16="http://schemas.microsoft.com/office/drawing/2014/main" id="{B3C89AA2-17C4-2311-08AF-1321E11749F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2713EB45-843B-9A1C-345B-468536A7E0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C77A4B8F-49F4-2929-427A-DF7B92A561E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F272607-9556-1864-23FC-E024D8740ED5}"/>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1BA3E3EE-9C41-B47C-B4DF-F3669798014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1592583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1.7 - 4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Box 17">
            <a:extLst>
              <a:ext uri="{FF2B5EF4-FFF2-40B4-BE49-F238E27FC236}">
                <a16:creationId xmlns:a16="http://schemas.microsoft.com/office/drawing/2014/main" id="{77523A0E-155F-824D-4618-C556416C4B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3DCBE36C-4C66-1188-03D3-624F2E47A38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45644240-BAFF-42B5-1A7E-4A3EC1F84D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4D9F31D8-D736-3F40-0CCB-F3477F42EB94}"/>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49A47FD-93B6-EB57-A70D-A0C3CAC53F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9813669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1.8 - Numbered">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tx2"/>
                </a:solidFill>
              </a:defRPr>
            </a:lvl1pPr>
            <a:lvl2pPr marL="544786" indent="-304792">
              <a:lnSpc>
                <a:spcPct val="100000"/>
              </a:lnSpc>
              <a:spcBef>
                <a:spcPts val="0"/>
              </a:spcBef>
              <a:spcAft>
                <a:spcPts val="800"/>
              </a:spcAft>
              <a:buFont typeface="+mj-lt"/>
              <a:buAutoNum type="arabicPeriod" startAt="2"/>
              <a:defRPr sz="1600">
                <a:solidFill>
                  <a:schemeClr val="tx2"/>
                </a:solidFill>
              </a:defRPr>
            </a:lvl2pPr>
            <a:lvl3pPr marL="784780" indent="-304792">
              <a:lnSpc>
                <a:spcPct val="100000"/>
              </a:lnSpc>
              <a:spcBef>
                <a:spcPts val="0"/>
              </a:spcBef>
              <a:spcAft>
                <a:spcPts val="800"/>
              </a:spcAft>
              <a:buFont typeface="+mj-lt"/>
              <a:buAutoNum type="arabicPeriod" startAt="3"/>
              <a:defRPr sz="1600">
                <a:solidFill>
                  <a:schemeClr val="tx2"/>
                </a:solidFill>
              </a:defRPr>
            </a:lvl3pPr>
            <a:lvl4pPr marL="1024774" indent="-304792">
              <a:lnSpc>
                <a:spcPct val="100000"/>
              </a:lnSpc>
              <a:spcBef>
                <a:spcPts val="0"/>
              </a:spcBef>
              <a:spcAft>
                <a:spcPts val="800"/>
              </a:spcAft>
              <a:buFont typeface="+mj-lt"/>
              <a:buAutoNum type="arabicPeriod" startAt="4"/>
              <a:defRPr sz="1600">
                <a:solidFill>
                  <a:schemeClr val="tx2"/>
                </a:solidFill>
              </a:defRPr>
            </a:lvl4pPr>
            <a:lvl5pPr marL="1276168" indent="-304792">
              <a:lnSpc>
                <a:spcPct val="100000"/>
              </a:lnSpc>
              <a:spcBef>
                <a:spcPts val="0"/>
              </a:spcBef>
              <a:spcAft>
                <a:spcPts val="800"/>
              </a:spcAft>
              <a:buFont typeface="+mj-lt"/>
              <a:buAutoNum type="arabicPeriod" startAt="5"/>
              <a:defRPr sz="1600">
                <a:solidFill>
                  <a:schemeClr val="tx2"/>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5" name="TextBox 14">
            <a:extLst>
              <a:ext uri="{FF2B5EF4-FFF2-40B4-BE49-F238E27FC236}">
                <a16:creationId xmlns:a16="http://schemas.microsoft.com/office/drawing/2014/main" id="{2138E23A-1A2B-4FC2-057E-864010EF96E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5417762A-54B1-36A8-F29E-69737B3F61F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395D9105-CDC3-7AF1-1035-8F0BB27B989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24ADFAB0-E92F-AF45-4455-844002CB37C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5B94D71-DD87-F678-64B4-D035E2C9D9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8694604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1.9 - Title">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7200" baseline="0">
                <a:solidFill>
                  <a:schemeClr val="accent1"/>
                </a:solidFill>
                <a:latin typeface="Nokia Pure Headline Ultra Light" panose="020B0204020202020204" pitchFamily="34" charset="0"/>
              </a:defRPr>
            </a:lvl1pPr>
          </a:lstStyle>
          <a:p>
            <a:pPr lvl="0"/>
            <a:r>
              <a:rPr lang="en-US" dirty="0"/>
              <a:t>Click to edit headline</a:t>
            </a:r>
          </a:p>
        </p:txBody>
      </p:sp>
      <p:sp>
        <p:nvSpPr>
          <p:cNvPr id="9" name="TextBox 8">
            <a:extLst>
              <a:ext uri="{FF2B5EF4-FFF2-40B4-BE49-F238E27FC236}">
                <a16:creationId xmlns:a16="http://schemas.microsoft.com/office/drawing/2014/main" id="{84AB3D1D-D95D-CC81-FF15-1A1F6BE049F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AD043C3F-DBA3-47D4-A317-9E02DADB3E0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7253B20-AD10-1261-4A70-76072ED4044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31386DAF-78F1-64A8-A51B-3B6BA0A20C9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accent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5CADB226-B627-BBD6-7EB8-1DA5C64DFCB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AF2BAE24-B30D-BC52-2097-B18B4F8D68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2728044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2.1 - Bullet 1/2 imag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6096001" y="0"/>
            <a:ext cx="6096001"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8" name="Text Placeholder 12">
            <a:extLst>
              <a:ext uri="{FF2B5EF4-FFF2-40B4-BE49-F238E27FC236}">
                <a16:creationId xmlns:a16="http://schemas.microsoft.com/office/drawing/2014/main" id="{E6285CBB-8652-0F93-9BFF-BDE646DC1516}"/>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972230E8-8C3E-FACC-BB83-0BEB16548E5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FFD06BD2-8C82-3A42-EA94-1DAD5F04366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30DEAEC4-E0F3-9FCE-BAAF-FDB63BC5E6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5D565AE1-FFB9-F818-A049-8B78F88E1A7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A085E30A-61AE-B001-F7D8-D230C54937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4242090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2.2 - Bullet 2/3 imag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4128000" y="0"/>
            <a:ext cx="8064000"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5" name="Text Placeholder 42">
            <a:extLst>
              <a:ext uri="{FF2B5EF4-FFF2-40B4-BE49-F238E27FC236}">
                <a16:creationId xmlns:a16="http://schemas.microsoft.com/office/drawing/2014/main" id="{E5C0F96B-575B-3032-1D03-A5D0D7313FCB}"/>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7" name="Text Placeholder 42">
            <a:extLst>
              <a:ext uri="{FF2B5EF4-FFF2-40B4-BE49-F238E27FC236}">
                <a16:creationId xmlns:a16="http://schemas.microsoft.com/office/drawing/2014/main" id="{171D37E4-D2E3-6D25-9C68-18D40EF22BCE}"/>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235DB99C-EDCB-D6C3-2083-649EBE85053E}"/>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6A434747-CAC6-E3AB-43A2-737599B9350F}"/>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F408B049-B5A6-319C-6604-4CB974379CE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6BE57E5-418C-3CAD-E431-901873F5937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720F67F4-E179-4A8C-BB98-2D3CE7469D0E}"/>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E52B735-4F48-8C73-12DC-5B71C0FDAD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4931935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2.3 - Bullet 1/2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6096001" y="0"/>
            <a:ext cx="609599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81B2B362-2879-6819-D5A2-C7BE4DDA16A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60008FED-F579-32FA-B396-B46F632C45F4}"/>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8639B8D9-7FD8-8F41-6E5A-1F2F111B9E5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525477A2-00D4-A5D4-CE66-BD1565E0928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5CC64C8D-EF21-1A49-63EA-A66C43D9151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95552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4 - Bullet 2/3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4128000" y="0"/>
            <a:ext cx="8064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92932C8D-B957-1CF9-AF0A-C66A4B80B16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EDFF5BE1-C27A-DAF6-539C-BE7CFB3D313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2198C15-49FA-5DCF-088F-089A36BBE5B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88FE076B-0F08-076B-2D80-BC2E2CCDC4CB}"/>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6060304C-36F3-CA03-DDC5-B93B755A47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3118424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3.1 - Blank dark">
    <p:bg>
      <p:bgPr>
        <a:solidFill>
          <a:schemeClr val="tx2"/>
        </a:solid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EFADF482-1182-15C3-2090-EF4C2A8F787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B5714932-B041-C268-D37A-89265A6401E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3D6BE398-80E2-C124-8939-1FA1DF0C1011}"/>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9EE35A5E-B623-913A-77BF-9891223ADE6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D921197C-D09B-51FC-3273-F6E2129490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284095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3.2 - Title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18" name="TextBox 17">
            <a:extLst>
              <a:ext uri="{FF2B5EF4-FFF2-40B4-BE49-F238E27FC236}">
                <a16:creationId xmlns:a16="http://schemas.microsoft.com/office/drawing/2014/main" id="{B4D6E92B-62A5-89F1-C025-9AFA6FCB332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F2BA0AE1-3EC1-6929-E965-9C60516B99D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8CFFAAD9-97A5-7898-E5FF-36F481EB93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327462C-4CAC-FE93-D4FD-2A9AB433C22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FFAF1E4B-4B33-2BA9-8211-C368D5BF448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6914616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3 - Tex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bg1"/>
                </a:solidFill>
              </a:defRPr>
            </a:lvl1pPr>
            <a:lvl2pPr marL="239994" indent="0">
              <a:lnSpc>
                <a:spcPct val="100000"/>
              </a:lnSpc>
              <a:spcBef>
                <a:spcPts val="0"/>
              </a:spcBef>
              <a:spcAft>
                <a:spcPts val="800"/>
              </a:spcAft>
              <a:buSzPct val="70000"/>
              <a:buNone/>
              <a:defRPr sz="1600">
                <a:solidFill>
                  <a:schemeClr val="bg1"/>
                </a:solidFill>
              </a:defRPr>
            </a:lvl2pPr>
            <a:lvl3pPr marL="479988" indent="0">
              <a:lnSpc>
                <a:spcPct val="100000"/>
              </a:lnSpc>
              <a:spcBef>
                <a:spcPts val="0"/>
              </a:spcBef>
              <a:spcAft>
                <a:spcPts val="800"/>
              </a:spcAft>
              <a:buSzPct val="70000"/>
              <a:buNone/>
              <a:defRPr sz="1600">
                <a:solidFill>
                  <a:schemeClr val="bg1"/>
                </a:solidFill>
              </a:defRPr>
            </a:lvl3pPr>
            <a:lvl4pPr marL="719982" indent="0">
              <a:lnSpc>
                <a:spcPct val="100000"/>
              </a:lnSpc>
              <a:spcBef>
                <a:spcPts val="0"/>
              </a:spcBef>
              <a:spcAft>
                <a:spcPts val="800"/>
              </a:spcAft>
              <a:buSzPct val="70000"/>
              <a:buNone/>
              <a:defRPr sz="1600">
                <a:solidFill>
                  <a:schemeClr val="bg1"/>
                </a:solidFill>
              </a:defRPr>
            </a:lvl4pPr>
            <a:lvl5pPr marL="959976" indent="0">
              <a:lnSpc>
                <a:spcPct val="100000"/>
              </a:lnSpc>
              <a:spcBef>
                <a:spcPts val="0"/>
              </a:spcBef>
              <a:spcAft>
                <a:spcPts val="800"/>
              </a:spcAft>
              <a:buSzPct val="70000"/>
              <a:buNone/>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6C224637-55EA-0423-7FB7-9D4C22E954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D086BFC4-A13A-A77F-C95D-F0B63E9FC79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8436AE6-E5BF-2964-DF91-27380150947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C2C2D673-25D4-2B6C-FAA2-5DC5ACD3DD2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4D5EF703-7CFE-DDB3-F595-5A8DF378FA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3355860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4 - 1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F2203B3C-B7BE-B5F0-A84C-BF4A2D307F8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ED0C98DE-3A96-2DE1-E80F-30D10A98054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9872479-176B-250D-7009-2FACC846C88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0309984-EAE9-D958-8AA2-824142DEDD98}"/>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A8979BA-9C98-FAA1-4051-0D094CF795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314745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5 - 2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38BB2193-E2EE-013C-3734-26FE2B6F28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94D6E453-33BB-3D1A-87F2-BF23E7DB064B}"/>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25631BE9-7C06-22AD-145E-78B1BD5F79B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0A2D64AD-CA51-6052-F8E8-9F2B58C6499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Picture 7" descr="Icon&#10;&#10;Description automatically generated">
            <a:extLst>
              <a:ext uri="{FF2B5EF4-FFF2-40B4-BE49-F238E27FC236}">
                <a16:creationId xmlns:a16="http://schemas.microsoft.com/office/drawing/2014/main" id="{FE826328-3B3B-6394-6345-C5090DEFE30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0123510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6 - 3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Box 20">
            <a:extLst>
              <a:ext uri="{FF2B5EF4-FFF2-40B4-BE49-F238E27FC236}">
                <a16:creationId xmlns:a16="http://schemas.microsoft.com/office/drawing/2014/main" id="{0B09C184-344B-3A37-4BC9-5F46DC81EA5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2" name="Slide Number Placeholder 5">
            <a:extLst>
              <a:ext uri="{FF2B5EF4-FFF2-40B4-BE49-F238E27FC236}">
                <a16:creationId xmlns:a16="http://schemas.microsoft.com/office/drawing/2014/main" id="{EA23E53E-BC8E-B2D9-8857-89A24EB07F95}"/>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3" name="Footer Placeholder 2">
            <a:extLst>
              <a:ext uri="{FF2B5EF4-FFF2-40B4-BE49-F238E27FC236}">
                <a16:creationId xmlns:a16="http://schemas.microsoft.com/office/drawing/2014/main" id="{E99784FE-D6A8-9580-1007-194EF43C8A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8DE24107-2DCD-2619-7BC4-E45D28F1E65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3DEE9466-49D5-5849-BE45-0581E94616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2017655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7 - 4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Box 21">
            <a:extLst>
              <a:ext uri="{FF2B5EF4-FFF2-40B4-BE49-F238E27FC236}">
                <a16:creationId xmlns:a16="http://schemas.microsoft.com/office/drawing/2014/main" id="{3F8C1C72-A585-7ED5-651B-B528B3970818}"/>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3" name="Slide Number Placeholder 5">
            <a:extLst>
              <a:ext uri="{FF2B5EF4-FFF2-40B4-BE49-F238E27FC236}">
                <a16:creationId xmlns:a16="http://schemas.microsoft.com/office/drawing/2014/main" id="{D3FAF429-6C3E-019C-0537-840220A5BF9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4" name="Footer Placeholder 2">
            <a:extLst>
              <a:ext uri="{FF2B5EF4-FFF2-40B4-BE49-F238E27FC236}">
                <a16:creationId xmlns:a16="http://schemas.microsoft.com/office/drawing/2014/main" id="{14C8B806-8FC3-E969-CBCA-FAFFE8971D2A}"/>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F2582E6-5C26-0DFD-CCB0-AD1CB76443F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10" name="Picture 9" descr="Icon&#10;&#10;Description automatically generated">
            <a:extLst>
              <a:ext uri="{FF2B5EF4-FFF2-40B4-BE49-F238E27FC236}">
                <a16:creationId xmlns:a16="http://schemas.microsoft.com/office/drawing/2014/main" id="{1732D478-B892-E3B8-8306-FE30FB6F97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5647563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3.8 - Numbered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bg1"/>
                </a:solidFill>
              </a:defRPr>
            </a:lvl1pPr>
            <a:lvl2pPr marL="544786" indent="-304792">
              <a:lnSpc>
                <a:spcPct val="100000"/>
              </a:lnSpc>
              <a:spcBef>
                <a:spcPts val="0"/>
              </a:spcBef>
              <a:spcAft>
                <a:spcPts val="800"/>
              </a:spcAft>
              <a:buFont typeface="+mj-lt"/>
              <a:buAutoNum type="arabicPeriod" startAt="2"/>
              <a:defRPr sz="1600">
                <a:solidFill>
                  <a:schemeClr val="bg1"/>
                </a:solidFill>
              </a:defRPr>
            </a:lvl2pPr>
            <a:lvl3pPr marL="784780" indent="-304792">
              <a:lnSpc>
                <a:spcPct val="100000"/>
              </a:lnSpc>
              <a:spcBef>
                <a:spcPts val="0"/>
              </a:spcBef>
              <a:spcAft>
                <a:spcPts val="800"/>
              </a:spcAft>
              <a:buFont typeface="+mj-lt"/>
              <a:buAutoNum type="arabicPeriod" startAt="3"/>
              <a:defRPr sz="1600">
                <a:solidFill>
                  <a:schemeClr val="bg1"/>
                </a:solidFill>
              </a:defRPr>
            </a:lvl3pPr>
            <a:lvl4pPr marL="1024774" indent="-304792">
              <a:lnSpc>
                <a:spcPct val="100000"/>
              </a:lnSpc>
              <a:spcBef>
                <a:spcPts val="0"/>
              </a:spcBef>
              <a:spcAft>
                <a:spcPts val="800"/>
              </a:spcAft>
              <a:buFont typeface="+mj-lt"/>
              <a:buAutoNum type="arabicPeriod" startAt="4"/>
              <a:defRPr sz="1600">
                <a:solidFill>
                  <a:schemeClr val="bg1"/>
                </a:solidFill>
              </a:defRPr>
            </a:lvl4pPr>
            <a:lvl5pPr marL="1276168" indent="-304792">
              <a:lnSpc>
                <a:spcPct val="100000"/>
              </a:lnSpc>
              <a:spcBef>
                <a:spcPts val="0"/>
              </a:spcBef>
              <a:spcAft>
                <a:spcPts val="800"/>
              </a:spcAft>
              <a:buFont typeface="+mj-lt"/>
              <a:buAutoNum type="arabicPeriod" startAt="5"/>
              <a:defRPr sz="1600">
                <a:solidFill>
                  <a:schemeClr val="bg1"/>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9" name="TextBox 18">
            <a:extLst>
              <a:ext uri="{FF2B5EF4-FFF2-40B4-BE49-F238E27FC236}">
                <a16:creationId xmlns:a16="http://schemas.microsoft.com/office/drawing/2014/main" id="{128DC97F-4D64-0DED-88CD-EE02622DD1A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36AADFB0-EF58-B66F-9E2F-35B8CE845DF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B5E01CE8-3A1A-97F6-CB42-2A7B7096CAA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298E151C-F446-3E79-0E84-BBC74FC3796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8FD43ABA-CFE9-679E-787F-A4F79F104C3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1683230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3.9 - Title dark">
    <p:bg>
      <p:bgPr>
        <a:solidFill>
          <a:schemeClr val="tx2"/>
        </a:solidFill>
        <a:effectLst/>
      </p:bgPr>
    </p:bg>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p:nvPr>
        </p:nvSpPr>
        <p:spPr>
          <a:xfrm>
            <a:off x="556800" y="1440000"/>
            <a:ext cx="11078400" cy="2347335"/>
          </a:xfrm>
          <a:prstGeom prst="rect">
            <a:avLst/>
          </a:prstGeom>
        </p:spPr>
        <p:txBody>
          <a:bodyPr lIns="0" tIns="0" rIns="0" bIns="0"/>
          <a:lstStyle>
            <a:lvl1pPr marL="0" indent="0">
              <a:buNone/>
              <a:defRPr sz="7200" baseline="0">
                <a:solidFill>
                  <a:schemeClr val="bg1"/>
                </a:solidFill>
                <a:latin typeface="Nokia Pure Headline Ultra Light" panose="020B0204020202020204" pitchFamily="34" charset="0"/>
              </a:defRPr>
            </a:lvl1pPr>
          </a:lstStyle>
          <a:p>
            <a:pPr lvl="0"/>
            <a:r>
              <a:rPr lang="en-US"/>
              <a:t>Click to edit Master text styles</a:t>
            </a:r>
          </a:p>
        </p:txBody>
      </p:sp>
      <p:sp>
        <p:nvSpPr>
          <p:cNvPr id="17" name="TextBox 16">
            <a:extLst>
              <a:ext uri="{FF2B5EF4-FFF2-40B4-BE49-F238E27FC236}">
                <a16:creationId xmlns:a16="http://schemas.microsoft.com/office/drawing/2014/main" id="{3CFD536D-56F0-6B89-4E85-90A6E969D32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A2A18FDE-17E4-A96B-C3EE-A77EEBA83E2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A39C322E-4A8A-CA2E-DBCD-97DA4FDE15D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21" name="Text Placeholder 42">
            <a:extLst>
              <a:ext uri="{FF2B5EF4-FFF2-40B4-BE49-F238E27FC236}">
                <a16:creationId xmlns:a16="http://schemas.microsoft.com/office/drawing/2014/main" id="{B3D3C671-29A5-6951-28E5-A58089FE5D4B}"/>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3" name="Straight Connector 2">
            <a:extLst>
              <a:ext uri="{FF2B5EF4-FFF2-40B4-BE49-F238E27FC236}">
                <a16:creationId xmlns:a16="http://schemas.microsoft.com/office/drawing/2014/main" id="{0D47294A-FF96-9958-42B7-7974F6EB5E8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93C10E8-28DF-A5D6-11F0-698C34D0BB5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569608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1 - Cover N BlueGreen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A97BECFD-8EA7-0689-338E-FF79734814C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B8976C7B-2688-70F3-77A4-4D1113FB54EC}"/>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2" name="Title 4">
            <a:extLst>
              <a:ext uri="{FF2B5EF4-FFF2-40B4-BE49-F238E27FC236}">
                <a16:creationId xmlns:a16="http://schemas.microsoft.com/office/drawing/2014/main" id="{FCA7DC03-F552-0867-352F-D9703C6058FC}"/>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4" name="Text Placeholder 3">
            <a:extLst>
              <a:ext uri="{FF2B5EF4-FFF2-40B4-BE49-F238E27FC236}">
                <a16:creationId xmlns:a16="http://schemas.microsoft.com/office/drawing/2014/main" id="{095DCB03-B7A1-6B00-BC51-6A2712B64A79}"/>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3" name="TextBox 2">
            <a:extLst>
              <a:ext uri="{FF2B5EF4-FFF2-40B4-BE49-F238E27FC236}">
                <a16:creationId xmlns:a16="http://schemas.microsoft.com/office/drawing/2014/main" id="{659763D9-588F-2473-91CB-B8C347B72189}"/>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23FCDC52-0E62-A2F4-0387-BFC107C7F663}"/>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753EC447-D430-EA30-E1F1-75D216432106}"/>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9" name="Straight Connector 8">
            <a:extLst>
              <a:ext uri="{FF2B5EF4-FFF2-40B4-BE49-F238E27FC236}">
                <a16:creationId xmlns:a16="http://schemas.microsoft.com/office/drawing/2014/main" id="{4DFDB4CE-CF8C-D627-64FF-06A1B9B67196}"/>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DD78EB01-E225-75C7-E601-2C140FA532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6750134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2 - Cover N PurpleBlue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81E104F6-2E1E-CFDD-A69D-C115384F159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Graphic 4">
            <a:extLst>
              <a:ext uri="{FF2B5EF4-FFF2-40B4-BE49-F238E27FC236}">
                <a16:creationId xmlns:a16="http://schemas.microsoft.com/office/drawing/2014/main" id="{0E27FD93-255E-C585-12C2-E99681C9BE5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1201"/>
            <a:ext cx="6859200" cy="6859200"/>
          </a:xfrm>
          <a:prstGeom prst="rect">
            <a:avLst/>
          </a:prstGeom>
        </p:spPr>
      </p:pic>
      <p:sp>
        <p:nvSpPr>
          <p:cNvPr id="11" name="Title 4">
            <a:extLst>
              <a:ext uri="{FF2B5EF4-FFF2-40B4-BE49-F238E27FC236}">
                <a16:creationId xmlns:a16="http://schemas.microsoft.com/office/drawing/2014/main" id="{59E922F0-08F0-9919-8C26-CE716C3AE5B2}"/>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2" name="Text Placeholder 3">
            <a:extLst>
              <a:ext uri="{FF2B5EF4-FFF2-40B4-BE49-F238E27FC236}">
                <a16:creationId xmlns:a16="http://schemas.microsoft.com/office/drawing/2014/main" id="{FDF29A45-EE41-3151-6F22-1274BFD4DDDB}"/>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7E65701-8704-DC44-7F06-7957F6D50DDE}"/>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B0CCF65E-F2C0-F179-6CEF-6926AE13A1AD}"/>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4148E0E7-D605-6CB3-E2A2-9F865D08BD3D}"/>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1A4B502-0D47-648A-BA34-37A779D05B30}"/>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8AE701A-8C9D-3410-7D26-7EF18461D6D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324155828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4.3 - Cover N Pink1">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C7D16BB-9265-7D3A-E136-8F028A9F86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0" name="Graphic 19">
            <a:extLst>
              <a:ext uri="{FF2B5EF4-FFF2-40B4-BE49-F238E27FC236}">
                <a16:creationId xmlns:a16="http://schemas.microsoft.com/office/drawing/2014/main" id="{A7536232-7B28-DCFA-37A3-EEBA7365A539}"/>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3B531529-C0C1-501F-B90B-E578B26E0D98}"/>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40C94059-F7F6-293D-88B1-A0CCDDB75575}"/>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98343E1B-0BDB-6D7F-D5F6-35E72B8B2568}"/>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E2FB8053-9F09-3C2A-B9CD-24AAEAF3D84E}"/>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7306076A-3983-0540-D820-0E49053ABD7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216665034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4.4 - Cover N White">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674FB718-4590-313D-1532-FE817A22ACB4}"/>
              </a:ext>
            </a:extLst>
          </p:cNvPr>
          <p:cNvSpPr/>
          <p:nvPr/>
        </p:nvSpPr>
        <p:spPr>
          <a:xfrm>
            <a:off x="0" y="0"/>
            <a:ext cx="6859200" cy="6859200"/>
          </a:xfrm>
          <a:custGeom>
            <a:avLst/>
            <a:gdLst>
              <a:gd name="connsiteX0" fmla="*/ 0 w 5144400"/>
              <a:gd name="connsiteY0" fmla="*/ 0 h 5144400"/>
              <a:gd name="connsiteX1" fmla="*/ 5144400 w 5144400"/>
              <a:gd name="connsiteY1" fmla="*/ 0 h 5144400"/>
              <a:gd name="connsiteX2" fmla="*/ 5144400 w 5144400"/>
              <a:gd name="connsiteY2" fmla="*/ 5144400 h 5144400"/>
              <a:gd name="connsiteX3" fmla="*/ 0 w 5144400"/>
              <a:gd name="connsiteY3" fmla="*/ 5144400 h 5144400"/>
            </a:gdLst>
            <a:ahLst/>
            <a:cxnLst>
              <a:cxn ang="0">
                <a:pos x="connsiteX0" y="connsiteY0"/>
              </a:cxn>
              <a:cxn ang="0">
                <a:pos x="connsiteX1" y="connsiteY1"/>
              </a:cxn>
              <a:cxn ang="0">
                <a:pos x="connsiteX2" y="connsiteY2"/>
              </a:cxn>
              <a:cxn ang="0">
                <a:pos x="connsiteX3" y="connsiteY3"/>
              </a:cxn>
            </a:cxnLst>
            <a:rect l="l" t="t" r="r" b="b"/>
            <a:pathLst>
              <a:path w="5144400" h="5144400">
                <a:moveTo>
                  <a:pt x="0" y="0"/>
                </a:moveTo>
                <a:lnTo>
                  <a:pt x="5144400" y="0"/>
                </a:lnTo>
                <a:lnTo>
                  <a:pt x="5144400" y="5144400"/>
                </a:lnTo>
                <a:lnTo>
                  <a:pt x="0" y="5144400"/>
                </a:lnTo>
                <a:close/>
              </a:path>
            </a:pathLst>
          </a:custGeom>
          <a:noFill/>
          <a:ln w="26789" cap="flat">
            <a:noFill/>
            <a:prstDash val="solid"/>
            <a:miter/>
          </a:ln>
        </p:spPr>
        <p:txBody>
          <a:bodyPr rtlCol="0" anchor="ctr"/>
          <a:lstStyle/>
          <a:p>
            <a:endParaRPr lang="en-US" sz="2400"/>
          </a:p>
        </p:txBody>
      </p:sp>
      <p:sp>
        <p:nvSpPr>
          <p:cNvPr id="5" name="Freeform: Shape 4">
            <a:extLst>
              <a:ext uri="{FF2B5EF4-FFF2-40B4-BE49-F238E27FC236}">
                <a16:creationId xmlns:a16="http://schemas.microsoft.com/office/drawing/2014/main" id="{6585F427-7AA2-BA79-9FAB-3B20B348D66A}"/>
              </a:ext>
            </a:extLst>
          </p:cNvPr>
          <p:cNvSpPr/>
          <p:nvPr/>
        </p:nvSpPr>
        <p:spPr>
          <a:xfrm>
            <a:off x="0" y="0"/>
            <a:ext cx="6859200" cy="6859200"/>
          </a:xfrm>
          <a:custGeom>
            <a:avLst/>
            <a:gdLst>
              <a:gd name="connsiteX0" fmla="*/ 0 w 5144400"/>
              <a:gd name="connsiteY0" fmla="*/ 0 h 5144400"/>
              <a:gd name="connsiteX1" fmla="*/ 0 w 5144400"/>
              <a:gd name="connsiteY1" fmla="*/ 5144400 h 5144400"/>
              <a:gd name="connsiteX2" fmla="*/ 794971 w 5144400"/>
              <a:gd name="connsiteY2" fmla="*/ 5144400 h 5144400"/>
              <a:gd name="connsiteX3" fmla="*/ 794971 w 5144400"/>
              <a:gd name="connsiteY3" fmla="*/ 1741594 h 5144400"/>
              <a:gd name="connsiteX4" fmla="*/ 5144400 w 5144400"/>
              <a:gd name="connsiteY4" fmla="*/ 5144400 h 5144400"/>
              <a:gd name="connsiteX5" fmla="*/ 5144400 w 5144400"/>
              <a:gd name="connsiteY5" fmla="*/ 4142850 h 5144400"/>
              <a:gd name="connsiteX6" fmla="*/ 0 w 5144400"/>
              <a:gd name="connsiteY6" fmla="*/ 0 h 5144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44400" h="5144400">
                <a:moveTo>
                  <a:pt x="0" y="0"/>
                </a:moveTo>
                <a:lnTo>
                  <a:pt x="0" y="5144400"/>
                </a:lnTo>
                <a:cubicBezTo>
                  <a:pt x="0" y="5144400"/>
                  <a:pt x="794971" y="5144400"/>
                  <a:pt x="794971" y="5144400"/>
                </a:cubicBezTo>
                <a:lnTo>
                  <a:pt x="794971" y="1741594"/>
                </a:lnTo>
                <a:cubicBezTo>
                  <a:pt x="794971" y="1741594"/>
                  <a:pt x="5144400" y="5144400"/>
                  <a:pt x="5144400" y="5144400"/>
                </a:cubicBezTo>
                <a:lnTo>
                  <a:pt x="5144400" y="4142850"/>
                </a:lnTo>
                <a:lnTo>
                  <a:pt x="0" y="0"/>
                </a:lnTo>
                <a:close/>
              </a:path>
            </a:pathLst>
          </a:custGeom>
          <a:solidFill>
            <a:schemeClr val="accent1"/>
          </a:solidFill>
          <a:ln w="26789" cap="flat">
            <a:noFill/>
            <a:prstDash val="solid"/>
            <a:miter/>
          </a:ln>
        </p:spPr>
        <p:txBody>
          <a:bodyPr rtlCol="0" anchor="ctr"/>
          <a:lstStyle/>
          <a:p>
            <a:endParaRPr lang="en-US" sz="2400"/>
          </a:p>
        </p:txBody>
      </p:sp>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4" name="TextBox 23">
            <a:extLst>
              <a:ext uri="{FF2B5EF4-FFF2-40B4-BE49-F238E27FC236}">
                <a16:creationId xmlns:a16="http://schemas.microsoft.com/office/drawing/2014/main" id="{EE447E57-9E3B-2030-9902-A8BA6E7583E4}"/>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5" name="Slide Number Placeholder 5">
            <a:extLst>
              <a:ext uri="{FF2B5EF4-FFF2-40B4-BE49-F238E27FC236}">
                <a16:creationId xmlns:a16="http://schemas.microsoft.com/office/drawing/2014/main" id="{B61C7B4D-5A69-FF1F-0F31-D16D75C7921B}"/>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6" name="Footer Placeholder 2">
            <a:extLst>
              <a:ext uri="{FF2B5EF4-FFF2-40B4-BE49-F238E27FC236}">
                <a16:creationId xmlns:a16="http://schemas.microsoft.com/office/drawing/2014/main" id="{AD544843-BF44-8F0F-4D23-F80C60F60B55}"/>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6" name="Straight Connector 5">
            <a:extLst>
              <a:ext uri="{FF2B5EF4-FFF2-40B4-BE49-F238E27FC236}">
                <a16:creationId xmlns:a16="http://schemas.microsoft.com/office/drawing/2014/main" id="{5AD29DC4-2C23-651D-9C15-EFF2A0DCC1B7}"/>
              </a:ext>
            </a:extLst>
          </p:cNvPr>
          <p:cNvCxnSpPr>
            <a:cxnSpLocks/>
          </p:cNvCxnSpPr>
          <p:nvPr userDrawn="1"/>
        </p:nvCxnSpPr>
        <p:spPr>
          <a:xfrm>
            <a:off x="8371345"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3" name="Picture 2" descr="Logo, icon&#10;&#10;Description automatically generated">
            <a:extLst>
              <a:ext uri="{FF2B5EF4-FFF2-40B4-BE49-F238E27FC236}">
                <a16:creationId xmlns:a16="http://schemas.microsoft.com/office/drawing/2014/main" id="{A246F6C7-83D5-BFEE-0EE8-9CC09AAD4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181680475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5.1 - Cover O BlueGreen2">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8A7CBB0-A767-7247-8638-81BC366967B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3" name="Graphic 12">
            <a:extLst>
              <a:ext uri="{FF2B5EF4-FFF2-40B4-BE49-F238E27FC236}">
                <a16:creationId xmlns:a16="http://schemas.microsoft.com/office/drawing/2014/main" id="{8CEF710E-39E1-082B-B52C-E37B4EEF550E}"/>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4" name="Title 4">
            <a:extLst>
              <a:ext uri="{FF2B5EF4-FFF2-40B4-BE49-F238E27FC236}">
                <a16:creationId xmlns:a16="http://schemas.microsoft.com/office/drawing/2014/main" id="{2C6BDD68-E8AC-9D13-ED1D-D43FFC8357C6}"/>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5" name="Text Placeholder 3">
            <a:extLst>
              <a:ext uri="{FF2B5EF4-FFF2-40B4-BE49-F238E27FC236}">
                <a16:creationId xmlns:a16="http://schemas.microsoft.com/office/drawing/2014/main" id="{76BF5CE8-2417-2D5D-75FE-27E0BE07F509}"/>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6" name="TextBox 15">
            <a:extLst>
              <a:ext uri="{FF2B5EF4-FFF2-40B4-BE49-F238E27FC236}">
                <a16:creationId xmlns:a16="http://schemas.microsoft.com/office/drawing/2014/main" id="{CC8B88A2-C8A9-A342-E8B5-C91DF5E71FF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9EC2290D-5934-145E-499C-1CB0349E5FA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BD471F30-B344-A63E-287D-45299C34768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B546994-6297-B34D-7D3F-FEAAF99F39B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550A4A4D-1A2B-7E5F-7823-2719F8EF15F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5957785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5.2 - Cover O BluePink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B7370059-157B-625C-8521-D3FCF8A22DA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4" name="Graphic 13">
            <a:extLst>
              <a:ext uri="{FF2B5EF4-FFF2-40B4-BE49-F238E27FC236}">
                <a16:creationId xmlns:a16="http://schemas.microsoft.com/office/drawing/2014/main" id="{F41E3DBD-A4E2-6EF5-8073-EED87395D745}"/>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5" name="Title 4">
            <a:extLst>
              <a:ext uri="{FF2B5EF4-FFF2-40B4-BE49-F238E27FC236}">
                <a16:creationId xmlns:a16="http://schemas.microsoft.com/office/drawing/2014/main" id="{60E8CE17-B2D0-B92F-1A9F-C72280B6E9A3}"/>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6" name="Text Placeholder 3">
            <a:extLst>
              <a:ext uri="{FF2B5EF4-FFF2-40B4-BE49-F238E27FC236}">
                <a16:creationId xmlns:a16="http://schemas.microsoft.com/office/drawing/2014/main" id="{6BEF90E0-A2AA-9B05-58FB-3D4109E95C42}"/>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3B132D8A-9E85-B335-C2FD-9D2508FEAF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5D1F556C-703D-0EB9-35BD-0A7DE6122BF2}"/>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F61D5928-67F7-A4E5-2767-E072B8F67A2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BAF7AE3-4CA8-632D-9971-72776B7D43D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31B8EEB-24AC-5795-13AA-2A8F1779C51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3078608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5.3 - Cover O BlueGreen3">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7A20ED13-DCC3-ED6C-4FB2-2B64E7F0411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6" name="Graphic 15">
            <a:extLst>
              <a:ext uri="{FF2B5EF4-FFF2-40B4-BE49-F238E27FC236}">
                <a16:creationId xmlns:a16="http://schemas.microsoft.com/office/drawing/2014/main" id="{B9438AB4-120A-6B68-C6A3-6BD51CF52D24}"/>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7" name="Title 4">
            <a:extLst>
              <a:ext uri="{FF2B5EF4-FFF2-40B4-BE49-F238E27FC236}">
                <a16:creationId xmlns:a16="http://schemas.microsoft.com/office/drawing/2014/main" id="{184C4A7B-1AC5-72AD-EB05-210AB3D4C140}"/>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5F506F4-DF34-76FB-83D6-A513173F8EFA}"/>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20759C7-94BC-8FC1-9A43-A40A4BE7AC1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83D4680A-11B6-A841-EC68-FFF11409500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AE485A1C-8A6A-5C51-5E3F-5685AAA904F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34C74111-FD50-7C19-C9ED-B5ACBA2EC07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55F03A1-AAAC-2AD3-EFE6-257BC0F3D6C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2564808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5.4 - Cover O White">
    <p:spTree>
      <p:nvGrpSpPr>
        <p:cNvPr id="1" name=""/>
        <p:cNvGrpSpPr/>
        <p:nvPr/>
      </p:nvGrpSpPr>
      <p:grpSpPr>
        <a:xfrm>
          <a:off x="0" y="0"/>
          <a:ext cx="0" cy="0"/>
          <a:chOff x="0" y="0"/>
          <a:chExt cx="0" cy="0"/>
        </a:xfrm>
      </p:grpSpPr>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pic>
        <p:nvPicPr>
          <p:cNvPr id="20" name="Picture 19" descr="Circle&#10;&#10;Description automatically generated with medium confidence">
            <a:extLst>
              <a:ext uri="{FF2B5EF4-FFF2-40B4-BE49-F238E27FC236}">
                <a16:creationId xmlns:a16="http://schemas.microsoft.com/office/drawing/2014/main" id="{87D5AF06-6AF8-9002-BEDC-176CB57496A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25084"/>
          <a:stretch/>
        </p:blipFill>
        <p:spPr>
          <a:xfrm>
            <a:off x="6835701" y="-6395"/>
            <a:ext cx="5356300" cy="6858000"/>
          </a:xfrm>
          <a:prstGeom prst="rect">
            <a:avLst/>
          </a:prstGeom>
        </p:spPr>
      </p:pic>
      <p:sp>
        <p:nvSpPr>
          <p:cNvPr id="16" name="TextBox 15">
            <a:extLst>
              <a:ext uri="{FF2B5EF4-FFF2-40B4-BE49-F238E27FC236}">
                <a16:creationId xmlns:a16="http://schemas.microsoft.com/office/drawing/2014/main" id="{8D94EDB0-D38F-0FE8-27C1-80BAE2455A1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EFAF1A61-3518-0ABC-1BC0-5990D5EF88D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496FB4B1-7F2F-CF04-74B8-D3A7467B0ED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D7602F8-4BD9-B6B1-C7A6-FD4801224633}"/>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4" name="Picture 3" descr="Logo, icon&#10;&#10;Description automatically generated">
            <a:extLst>
              <a:ext uri="{FF2B5EF4-FFF2-40B4-BE49-F238E27FC236}">
                <a16:creationId xmlns:a16="http://schemas.microsoft.com/office/drawing/2014/main" id="{EC77C1F8-BB9C-3828-A548-A2507A3DF0C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66800622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6.1 - Cover K Orange1">
    <p:spTree>
      <p:nvGrpSpPr>
        <p:cNvPr id="1" name=""/>
        <p:cNvGrpSpPr/>
        <p:nvPr/>
      </p:nvGrpSpPr>
      <p:grpSpPr>
        <a:xfrm>
          <a:off x="0" y="0"/>
          <a:ext cx="0" cy="0"/>
          <a:chOff x="0" y="0"/>
          <a:chExt cx="0" cy="0"/>
        </a:xfrm>
      </p:grpSpPr>
      <p:pic>
        <p:nvPicPr>
          <p:cNvPr id="16" name="Picture 15" descr="Background pattern&#10;&#10;Description automatically generated">
            <a:extLst>
              <a:ext uri="{FF2B5EF4-FFF2-40B4-BE49-F238E27FC236}">
                <a16:creationId xmlns:a16="http://schemas.microsoft.com/office/drawing/2014/main" id="{38FCEB48-BE41-308F-33AB-94163C02BF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0" name="Graphic 9">
            <a:extLst>
              <a:ext uri="{FF2B5EF4-FFF2-40B4-BE49-F238E27FC236}">
                <a16:creationId xmlns:a16="http://schemas.microsoft.com/office/drawing/2014/main" id="{193793F7-1073-3781-E44D-DD541B786672}"/>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17" name="Title 4">
            <a:extLst>
              <a:ext uri="{FF2B5EF4-FFF2-40B4-BE49-F238E27FC236}">
                <a16:creationId xmlns:a16="http://schemas.microsoft.com/office/drawing/2014/main" id="{4A761E77-5CBD-451F-FA38-EA3EF19CE9E8}"/>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1349CF4D-C3F5-69B9-4227-EC331C16F094}"/>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801FC38E-29E5-B44A-FE96-F713B08050E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7AAAD9DC-C952-84F6-32BA-CE8084E916D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B603A7C0-7450-F57A-CF86-135B131E63C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D81CA0E-B5D2-6BEA-A531-1C416A10C98E}"/>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75DEA05F-B223-816A-CC61-2EF92B5073E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33148707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6.2 - Cover K BlueGreen4">
    <p:spTree>
      <p:nvGrpSpPr>
        <p:cNvPr id="1" name=""/>
        <p:cNvGrpSpPr/>
        <p:nvPr/>
      </p:nvGrpSpPr>
      <p:grpSpPr>
        <a:xfrm>
          <a:off x="0" y="0"/>
          <a:ext cx="0" cy="0"/>
          <a:chOff x="0" y="0"/>
          <a:chExt cx="0" cy="0"/>
        </a:xfrm>
      </p:grpSpPr>
      <p:pic>
        <p:nvPicPr>
          <p:cNvPr id="26" name="Picture 25" descr="Background pattern&#10;&#10;Description automatically generated">
            <a:extLst>
              <a:ext uri="{FF2B5EF4-FFF2-40B4-BE49-F238E27FC236}">
                <a16:creationId xmlns:a16="http://schemas.microsoft.com/office/drawing/2014/main" id="{8FF1A58D-53A4-65F6-8F2B-645D65C5331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Graphic 3">
            <a:extLst>
              <a:ext uri="{FF2B5EF4-FFF2-40B4-BE49-F238E27FC236}">
                <a16:creationId xmlns:a16="http://schemas.microsoft.com/office/drawing/2014/main" id="{5166BBE5-C86E-3E87-A7C5-F29BE64D716D}"/>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5C4391E8-E519-220E-82C7-E7E85659A4E4}"/>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F3E219A7-8ADF-6CBF-872C-AEF07B645E6D}"/>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7" name="TextBox 16">
            <a:extLst>
              <a:ext uri="{FF2B5EF4-FFF2-40B4-BE49-F238E27FC236}">
                <a16:creationId xmlns:a16="http://schemas.microsoft.com/office/drawing/2014/main" id="{D9CCAE72-315B-6DC4-6ED3-6C32104BB037}"/>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9F6B1C01-19BD-7D67-4E40-88818E2139B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7C973916-701B-92E4-FA4C-28A5746F5C0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9EC7BAF-A22F-6738-77B4-F51F884ED11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09B52E8E-3458-89EB-4F51-F878723BC94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42725981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6.3 - Cover K Pink1">
    <p:spTree>
      <p:nvGrpSpPr>
        <p:cNvPr id="1" name=""/>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DBC0B63B-5EB2-C517-FFAF-0A5B2B5AB93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 name="Graphic 1">
            <a:extLst>
              <a:ext uri="{FF2B5EF4-FFF2-40B4-BE49-F238E27FC236}">
                <a16:creationId xmlns:a16="http://schemas.microsoft.com/office/drawing/2014/main" id="{D2D54FC7-5739-CC9E-8372-80A8BD5BD489}"/>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FADBBE10-EF5A-37AA-E18F-F9B27AA61FED}"/>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0DF69E35-608B-F57E-3615-F9FB9D11DD83}"/>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8" name="TextBox 17">
            <a:extLst>
              <a:ext uri="{FF2B5EF4-FFF2-40B4-BE49-F238E27FC236}">
                <a16:creationId xmlns:a16="http://schemas.microsoft.com/office/drawing/2014/main" id="{5AE80B1C-FD35-F288-8BFD-2F827D4C51A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0B17E72F-0CE2-D4D0-F696-BEA9F83EF5A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AB4C8BF7-D6EA-CCEB-F116-FF8F674A1D0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E9AF91A8-961C-A189-FE31-F20EC310BEB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8A738E76-8413-40D6-063B-2820F6CFF9A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232295976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6.4 - Cover K Whit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3F4EAC9-01A1-ED6A-B271-D7FC17A6D29B}"/>
              </a:ext>
            </a:extLst>
          </p:cNvPr>
          <p:cNvPicPr>
            <a:picLocks noChangeAspect="1"/>
          </p:cNvPicPr>
          <p:nvPr userDrawn="1"/>
        </p:nvPicPr>
        <p:blipFill rotWithShape="1">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r="18798"/>
          <a:stretch/>
        </p:blipFill>
        <p:spPr>
          <a:xfrm>
            <a:off x="6622168" y="0"/>
            <a:ext cx="5569832" cy="6859200"/>
          </a:xfrm>
          <a:prstGeom prst="rect">
            <a:avLst/>
          </a:prstGeom>
        </p:spPr>
      </p:pic>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685118FE-3A69-7878-D9BB-1A3313720C8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0F609D8D-5CB0-9FB7-12C3-CB2F81E54A6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A6A581A3-9568-ADAA-C577-D08AD5F1385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D145F5C9-B0D7-A853-4611-85FEFFB68BA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descr="Logo, icon&#10;&#10;Description automatically generated">
            <a:extLst>
              <a:ext uri="{FF2B5EF4-FFF2-40B4-BE49-F238E27FC236}">
                <a16:creationId xmlns:a16="http://schemas.microsoft.com/office/drawing/2014/main" id="{BA046007-1DC4-1745-E53F-44DBA02352F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3476322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7.1 - Divider BlueGreen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98BFE0-FEAC-1333-6BF5-7907903B2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A3AA9E6A-3B54-EBA8-25AB-52211D52F5EA}"/>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0FC82D3C-5CAB-DDEA-5BAD-0CE49311B44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F275CFF-10A6-01B8-606D-73D7A564226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5" name="Text Placeholder 42">
            <a:extLst>
              <a:ext uri="{FF2B5EF4-FFF2-40B4-BE49-F238E27FC236}">
                <a16:creationId xmlns:a16="http://schemas.microsoft.com/office/drawing/2014/main" id="{56D07526-2E9D-2AAD-EE94-167EEE1536FF}"/>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A1FCC02C-AA09-DFA8-8A6A-D41F9345081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D866DE3A-281D-02D9-50A0-99ED34A25CC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94670056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7.2 - Divider BlueGreen3">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82BC244E-62D2-236F-4DC8-EEBFE9AF287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Text Placeholder 42">
            <a:extLst>
              <a:ext uri="{FF2B5EF4-FFF2-40B4-BE49-F238E27FC236}">
                <a16:creationId xmlns:a16="http://schemas.microsoft.com/office/drawing/2014/main" id="{BE7F6530-2B80-C2AA-C92D-861D7E8FD530}"/>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4FBBDEB0-7315-4214-F9C8-48DBCC502C8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3976F6A6-5835-91B8-5B94-A197DCCF65D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146445DD-AC0A-C4BA-03CB-A346CF3E927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ED3C240-0F31-AD4B-E3D6-E9E2DFC4EB67}"/>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486B89F7-9432-082D-BED0-08937C3ACD3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5BE6BFC3-C804-C0C6-5C51-BE68C6F4228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84371441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7.3 - Divider BlueGreen5">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1ACC9534-D4F4-B471-C3A8-8380F72B349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BC0FACD4-71CC-9E35-CDCC-22C146E52E9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823572DF-299F-8B6C-1E42-1A659F39324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F374EA10-DD32-7823-1E8C-8A5B6454CCC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B4CCFE40-D40E-A7E0-E99F-0E9E3E7CA3B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01BDB6A4-726E-6BA2-355D-D90953F3B74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5F3E4E5B-ADBB-7BA4-987C-43F00755E1A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7550176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7.4 - Divider PurpleBlue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E01D2CA4-939C-12C2-DF49-53BE4EA4C10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0DABAD96-0284-76FF-D804-48E7FFCA08F5}"/>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06758511-3EE8-4852-763C-F4F1187FA97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486F512-1927-A0E0-A1C2-79941992D99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8DEF3F3-5CAD-FC0C-F7DD-4A913E71BD3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E790325F-8E1D-1D8F-9BC9-63324BDA4002}"/>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20D065A-4A42-3865-710B-715654120A9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5C23879-9F0A-CFAC-879C-4C43FD86821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2971054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7.5 - Divider BluePink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FEF07AED-C885-0A94-CE92-AD0235762C6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5" name="Text Placeholder 42">
            <a:extLst>
              <a:ext uri="{FF2B5EF4-FFF2-40B4-BE49-F238E27FC236}">
                <a16:creationId xmlns:a16="http://schemas.microsoft.com/office/drawing/2014/main" id="{513AFDC9-7EA7-195A-AC21-49A03E74AF4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35665458-1735-3CFE-DB60-E654932058A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B8EAC92C-19BC-5473-42AE-69A4371F2861}"/>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E2C85D8-A3A9-A261-1BCF-70106685644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21CF4E5-14D0-7A0E-3B20-BC1F539D9BFE}"/>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E794429-E1E5-FB82-7B63-0A97C77621D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49BC0B2-8B2B-3EBB-CDB6-0EAE64E0E7C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71440072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7.6 - Divider Pink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D17980-F783-4A27-87DC-42985B6C77B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522A1BAB-7805-96E3-BA5B-3E8B26D8AA37}"/>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C4C0B05D-F0F7-15F3-4C17-EED0899C7AF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9857B24-CF63-C1F9-6FBA-114618B4AAB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9CB5136-AC36-0B5E-A3A9-2D5B7B13CF9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45165F11-ACDF-2F83-0960-B38B3A16DAD5}"/>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2EB5D894-EDB4-4163-1A2E-B13CED147E53}"/>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285EBC4A-70BE-D7C6-A8B6-A6C85F11F90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9508399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7.7 - Divider Orange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734BF0FE-66B0-30DC-7C7E-0C60AC62082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4" name="Text Placeholder 42">
            <a:extLst>
              <a:ext uri="{FF2B5EF4-FFF2-40B4-BE49-F238E27FC236}">
                <a16:creationId xmlns:a16="http://schemas.microsoft.com/office/drawing/2014/main" id="{915CB6A6-17E7-3E33-E841-80BBD7036B36}"/>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849B4D71-50D7-0502-EF7E-5AAF38E865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256B84B-A641-FF3B-04A5-7875DE216F3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B5AF0F0-B002-CB3B-6A1E-945904E802D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BFB53FB7-1753-80D0-CDCE-10664D914FBD}"/>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314D2010-F695-A04D-EBC0-D0464C30EF4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C8C803A5-93F7-94B2-027A-41E534EBF95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40531363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8.1 - End BlueGreen2">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3A71822B-C712-A4E6-919B-405BA7F21A5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6C29765E-7F2C-B17B-0281-56F38BFCD18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06873871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8.3 - End BlueGreen5">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08FFEE3-9429-FB20-94DA-036B3BA28AF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CEC9323-964A-6961-8E6A-B60A79C0C22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23875758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8.4 - End PurpleBlue2">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3465075C-3A04-8F21-2D96-F11146239A8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316DE3BF-7777-0490-C2A7-5AFB00C6E1D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6628532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8.5 - End BluePink1">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39F40A4-C4FE-CE81-4DDE-1096BF05B17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D9A120A1-103E-9D5F-7D1D-6423CDFF9DA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84226974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8.6 - End Pink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21011232-FEC1-556E-5D81-2627C46F6D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1EE57701-5D93-7321-C659-BD0776DA8EB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8495502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8.7 - Divider Orange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AC7C13A4-489B-3211-82FF-868A0A256E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4CD636C-50BC-813D-8C70-C021A3721ED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16610652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8.2 - End BlueGreen3">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0EF89375-E21D-F63F-06A8-C59355F1254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8C930ED2-8DA8-EDDB-F5FC-06193DCAC90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25529657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8.8 - Divider White">
    <p:bg>
      <p:bgPr>
        <a:solidFill>
          <a:schemeClr val="bg1"/>
        </a:solidFill>
        <a:effectLst/>
      </p:bgPr>
    </p:bg>
    <p:spTree>
      <p:nvGrpSpPr>
        <p:cNvPr id="1" name=""/>
        <p:cNvGrpSpPr/>
        <p:nvPr/>
      </p:nvGrpSpPr>
      <p:grpSpPr>
        <a:xfrm>
          <a:off x="0" y="0"/>
          <a:ext cx="0" cy="0"/>
          <a:chOff x="0" y="0"/>
          <a:chExt cx="0" cy="0"/>
        </a:xfrm>
      </p:grpSpPr>
      <p:pic>
        <p:nvPicPr>
          <p:cNvPr id="2" name="Picture 1" descr="Logo, icon&#10;&#10;Description automatically generated">
            <a:extLst>
              <a:ext uri="{FF2B5EF4-FFF2-40B4-BE49-F238E27FC236}">
                <a16:creationId xmlns:a16="http://schemas.microsoft.com/office/drawing/2014/main" id="{B06A5004-39BB-9DF5-83D9-F6646DB51C5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26828269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slideLayout" Target="../slideLayouts/slideLayout51.xml"/><Relationship Id="rId41" Type="http://schemas.openxmlformats.org/officeDocument/2006/relationships/slideLayout" Target="../slideLayouts/slideLayout52.xml"/><Relationship Id="rId42" Type="http://schemas.openxmlformats.org/officeDocument/2006/relationships/slideLayout" Target="../slideLayouts/slideLayout53.xml"/><Relationship Id="rId43" Type="http://schemas.openxmlformats.org/officeDocument/2006/relationships/slideLayout" Target="../slideLayouts/slideLayout54.xml"/><Relationship Id="rId44" Type="http://schemas.openxmlformats.org/officeDocument/2006/relationships/slideLayout" Target="../slideLayouts/slideLayout55.xml"/><Relationship Id="rId45" Type="http://schemas.openxmlformats.org/officeDocument/2006/relationships/slideLayout" Target="../slideLayouts/slideLayout56.xml"/><Relationship Id="rId46" Type="http://schemas.openxmlformats.org/officeDocument/2006/relationships/slideLayout" Target="../slideLayouts/slideLayout57.xml"/><Relationship Id="rId47" Type="http://schemas.openxmlformats.org/officeDocument/2006/relationships/slideLayout" Target="../slideLayouts/slideLayout58.xml"/><Relationship Id="rId48" Type="http://schemas.openxmlformats.org/officeDocument/2006/relationships/slideLayout" Target="../slideLayouts/slideLayout59.xml"/><Relationship Id="rId49" Type="http://schemas.openxmlformats.org/officeDocument/2006/relationships/slideLayout" Target="../slideLayouts/slideLayout60.xml"/><Relationship Id="rId5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756DB1-1893-2588-3EB8-FB8AEC9810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IT"/>
          </a:p>
        </p:txBody>
      </p:sp>
      <p:sp>
        <p:nvSpPr>
          <p:cNvPr id="3" name="Text Placeholder 2">
            <a:extLst>
              <a:ext uri="{FF2B5EF4-FFF2-40B4-BE49-F238E27FC236}">
                <a16:creationId xmlns:a16="http://schemas.microsoft.com/office/drawing/2014/main" id="{9E5CE88F-CAB3-40A4-697A-C1BC74A6BF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22056322-A1B2-D5AA-9535-70C236EA1527}"/>
              </a:ext>
            </a:extLst>
          </p:cNvPr>
          <p:cNvSpPr>
            <a:spLocks noGrp="1"/>
          </p:cNvSpPr>
          <p:nvPr>
            <p:ph type="dt" sz="half" idx="2"/>
          </p:nvPr>
        </p:nvSpPr>
        <p:spPr>
          <a:xfrm>
            <a:off x="8610600" y="6356349"/>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B42A8EC-065D-994A-8D55-A1E577DFD1A3}" type="datetime1">
              <a:rPr lang="it-IT" smtClean="0"/>
              <a:t>22/08/26</a:t>
            </a:fld>
            <a:endParaRPr lang="en-IT"/>
          </a:p>
        </p:txBody>
      </p:sp>
      <p:sp>
        <p:nvSpPr>
          <p:cNvPr id="5" name="Footer Placeholder 4">
            <a:extLst>
              <a:ext uri="{FF2B5EF4-FFF2-40B4-BE49-F238E27FC236}">
                <a16:creationId xmlns:a16="http://schemas.microsoft.com/office/drawing/2014/main" id="{1017BD14-B613-799B-7CE1-EAF8F54683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7D8D6CF9-F404-7790-F601-47A49BD79627}"/>
              </a:ext>
            </a:extLst>
          </p:cNvPr>
          <p:cNvSpPr>
            <a:spLocks noGrp="1"/>
          </p:cNvSpPr>
          <p:nvPr>
            <p:ph type="sldNum" sz="quarter" idx="4"/>
          </p:nvPr>
        </p:nvSpPr>
        <p:spPr>
          <a:xfrm>
            <a:off x="0" y="6492875"/>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l"/>
            <a:fld id="{A5A6EFC7-8735-7E44-BFA7-969B9F5B451D}" type="slidenum">
              <a:rPr lang="en-IT" smtClean="0"/>
              <a:pPr algn="l"/>
              <a:t>‹#›</a:t>
            </a:fld>
            <a:endParaRPr lang="en-IT" dirty="0"/>
          </a:p>
        </p:txBody>
      </p:sp>
    </p:spTree>
    <p:extLst>
      <p:ext uri="{BB962C8B-B14F-4D97-AF65-F5344CB8AC3E}">
        <p14:creationId xmlns:p14="http://schemas.microsoft.com/office/powerpoint/2010/main" val="3473743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99021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Lst>
  <p:hf sldNum="0" hd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png"/><Relationship Id="rId7" Type="http://schemas.microsoft.com/office/2007/relationships/hdphoto" Target="../media/hdphoto2.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54;p13">
            <a:extLst>
              <a:ext uri="{FF2B5EF4-FFF2-40B4-BE49-F238E27FC236}">
                <a16:creationId xmlns:a16="http://schemas.microsoft.com/office/drawing/2014/main" id="{A35DDA13-8241-05A3-C923-0BBF4F839A5C}"/>
              </a:ext>
            </a:extLst>
          </p:cNvPr>
          <p:cNvSpPr txBox="1">
            <a:spLocks/>
          </p:cNvSpPr>
          <p:nvPr/>
        </p:nvSpPr>
        <p:spPr>
          <a:xfrm>
            <a:off x="415600" y="1080647"/>
            <a:ext cx="11360800" cy="193084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p:txBody>
      </p:sp>
      <p:pic>
        <p:nvPicPr>
          <p:cNvPr id="6" name="Google Shape;56;p13">
            <a:extLst>
              <a:ext uri="{FF2B5EF4-FFF2-40B4-BE49-F238E27FC236}">
                <a16:creationId xmlns:a16="http://schemas.microsoft.com/office/drawing/2014/main" id="{8BA00BCC-45DB-91CE-DF96-CEC4B49F424B}"/>
              </a:ext>
            </a:extLst>
          </p:cNvPr>
          <p:cNvPicPr preferRelativeResize="0"/>
          <p:nvPr/>
        </p:nvPicPr>
        <p:blipFill>
          <a:blip r:embed="rId3">
            <a:alphaModFix/>
          </a:blip>
          <a:stretch>
            <a:fillRect/>
          </a:stretch>
        </p:blipFill>
        <p:spPr>
          <a:xfrm>
            <a:off x="0" y="0"/>
            <a:ext cx="12192000" cy="1056800"/>
          </a:xfrm>
          <a:prstGeom prst="rect">
            <a:avLst/>
          </a:prstGeom>
          <a:noFill/>
          <a:ln>
            <a:noFill/>
          </a:ln>
        </p:spPr>
      </p:pic>
      <p:pic>
        <p:nvPicPr>
          <p:cNvPr id="7" name="Google Shape;58;p13">
            <a:extLst>
              <a:ext uri="{FF2B5EF4-FFF2-40B4-BE49-F238E27FC236}">
                <a16:creationId xmlns:a16="http://schemas.microsoft.com/office/drawing/2014/main" id="{3E80D904-D97B-158A-561E-FD0FD0F8D4E1}"/>
              </a:ext>
            </a:extLst>
          </p:cNvPr>
          <p:cNvPicPr preferRelativeResize="0"/>
          <p:nvPr/>
        </p:nvPicPr>
        <p:blipFill>
          <a:blip r:embed="rId3">
            <a:alphaModFix/>
          </a:blip>
          <a:stretch>
            <a:fillRect/>
          </a:stretch>
        </p:blipFill>
        <p:spPr>
          <a:xfrm>
            <a:off x="0" y="6329200"/>
            <a:ext cx="12192000" cy="528800"/>
          </a:xfrm>
          <a:prstGeom prst="rect">
            <a:avLst/>
          </a:prstGeom>
          <a:noFill/>
          <a:ln>
            <a:noFill/>
          </a:ln>
        </p:spPr>
      </p:pic>
      <p:sp>
        <p:nvSpPr>
          <p:cNvPr id="8" name="Google Shape;59;p13">
            <a:extLst>
              <a:ext uri="{FF2B5EF4-FFF2-40B4-BE49-F238E27FC236}">
                <a16:creationId xmlns:a16="http://schemas.microsoft.com/office/drawing/2014/main" id="{6380BA05-8101-1416-1C7B-621656F337EF}"/>
              </a:ext>
            </a:extLst>
          </p:cNvPr>
          <p:cNvSpPr txBox="1"/>
          <p:nvPr/>
        </p:nvSpPr>
        <p:spPr>
          <a:xfrm>
            <a:off x="520504" y="4956291"/>
            <a:ext cx="11360800" cy="989974"/>
          </a:xfrm>
          <a:prstGeom prst="rect">
            <a:avLst/>
          </a:prstGeom>
          <a:noFill/>
          <a:ln>
            <a:noFill/>
          </a:ln>
        </p:spPr>
        <p:txBody>
          <a:bodyPr spcFirstLastPara="1" wrap="square" lIns="121900" tIns="121900" rIns="121900" bIns="121900" numCol="1" anchor="t" anchorCtr="0">
            <a:spAutoFit/>
          </a:bodyPr>
          <a:lstStyle/>
          <a:p/>
        </p:txBody>
      </p:sp>
      <p:sp>
        <p:nvSpPr>
          <p:cNvPr id="9" name="Google Shape;60;p13">
            <a:extLst>
              <a:ext uri="{FF2B5EF4-FFF2-40B4-BE49-F238E27FC236}">
                <a16:creationId xmlns:a16="http://schemas.microsoft.com/office/drawing/2014/main" id="{4D143047-4F4D-CBE4-149B-59898FF003CA}"/>
              </a:ext>
            </a:extLst>
          </p:cNvPr>
          <p:cNvSpPr txBox="1"/>
          <p:nvPr/>
        </p:nvSpPr>
        <p:spPr>
          <a:xfrm>
            <a:off x="5247000" y="6329200"/>
            <a:ext cx="1698000" cy="492402"/>
          </a:xfrm>
          <a:prstGeom prst="rect">
            <a:avLst/>
          </a:prstGeom>
          <a:noFill/>
          <a:ln>
            <a:noFill/>
          </a:ln>
        </p:spPr>
        <p:txBody>
          <a:bodyPr spcFirstLastPara="1" wrap="square" lIns="121900" tIns="121900" rIns="121900" bIns="121900" anchor="t" anchorCtr="0">
            <a:spAutoFit/>
          </a:bodyPr>
          <a:lstStyle/>
          <a:p>
            <a:pPr algn="ctr">
              <a:defRPr sz="1400" b="1">
                <a:solidFill>
                  <a:srgbClr val="FFFFFF"/>
                </a:solidFill>
                <a:latin typeface="Arial"/>
              </a:defRPr>
            </a:pPr>
            <a:r>
              <a:t>September 2026</a:t>
            </a:r>
          </a:p>
        </p:txBody>
      </p:sp>
      <p:pic>
        <p:nvPicPr>
          <p:cNvPr id="10" name="Picture 4" descr="ccsiec | IEC">
            <a:extLst>
              <a:ext uri="{FF2B5EF4-FFF2-40B4-BE49-F238E27FC236}">
                <a16:creationId xmlns:a16="http://schemas.microsoft.com/office/drawing/2014/main" id="{2826A1DA-C070-4BFE-DA57-DFDBCFCA10B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artisticPhotocopy trans="0"/>
                    </a14:imgEffect>
                  </a14:imgLayer>
                </a14:imgProps>
              </a:ext>
              <a:ext uri="{28A0092B-C50C-407E-A947-70E740481C1C}">
                <a14:useLocalDpi xmlns:a14="http://schemas.microsoft.com/office/drawing/2010/main" val="0"/>
              </a:ext>
            </a:extLst>
          </a:blip>
          <a:srcRect/>
          <a:stretch>
            <a:fillRect/>
          </a:stretch>
        </p:blipFill>
        <p:spPr bwMode="auto">
          <a:xfrm>
            <a:off x="415600" y="118907"/>
            <a:ext cx="3473753" cy="818985"/>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1FAD4C78-B2D7-F092-3028-AA3A913DA2E3}"/>
              </a:ext>
            </a:extLst>
          </p:cNvPr>
          <p:cNvCxnSpPr>
            <a:cxnSpLocks/>
          </p:cNvCxnSpPr>
          <p:nvPr/>
        </p:nvCxnSpPr>
        <p:spPr>
          <a:xfrm>
            <a:off x="3097877" y="3111515"/>
            <a:ext cx="5996247" cy="0"/>
          </a:xfrm>
          <a:prstGeom prst="line">
            <a:avLst/>
          </a:prstGeom>
          <a:ln w="38100">
            <a:solidFill>
              <a:srgbClr val="0F2C53"/>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F01073B-477C-AB84-4671-1F596BAA2C96}"/>
              </a:ext>
            </a:extLst>
          </p:cNvPr>
          <p:cNvSpPr txBox="1"/>
          <p:nvPr/>
        </p:nvSpPr>
        <p:spPr>
          <a:xfrm>
            <a:off x="6316173" y="266789"/>
            <a:ext cx="5875827" cy="523220"/>
          </a:xfrm>
          <a:prstGeom prst="rect">
            <a:avLst/>
          </a:prstGeom>
          <a:noFill/>
        </p:spPr>
        <p:txBody>
          <a:bodyPr wrap="square" rtlCol="0">
            <a:spAutoFit/>
          </a:bodyPr>
          <a:lstStyle/>
          <a:p>
            <a:pPr algn="ctr"/>
            <a:r>
              <a:rPr lang="it-IT" altLang="en-US" sz="1400" dirty="0">
                <a:solidFill>
                  <a:schemeClr val="bg1"/>
                </a:solidFill>
              </a:rPr>
              <a:t>Dipartimento di Elettronica, Informazione e Bioingegneria</a:t>
            </a:r>
          </a:p>
          <a:p>
            <a:pPr algn="ctr"/>
            <a:r>
              <a:rPr lang="en-US" altLang="en-US" sz="1400" dirty="0" err="1">
                <a:solidFill>
                  <a:schemeClr val="bg1"/>
                </a:solidFill>
              </a:rPr>
              <a:t>Politecnico</a:t>
            </a:r>
            <a:r>
              <a:rPr lang="en-US" altLang="en-US" sz="1400" dirty="0">
                <a:solidFill>
                  <a:schemeClr val="bg1"/>
                </a:solidFill>
              </a:rPr>
              <a:t> </a:t>
            </a:r>
            <a:r>
              <a:rPr lang="en-US" altLang="en-US" sz="1400">
                <a:solidFill>
                  <a:schemeClr val="bg1"/>
                </a:solidFill>
              </a:rPr>
              <a:t>di Milano</a:t>
            </a:r>
            <a:endParaRPr lang="it-IT" altLang="en-US" sz="1400" dirty="0">
              <a:solidFill>
                <a:schemeClr val="bg1"/>
              </a:solidFill>
            </a:endParaRPr>
          </a:p>
        </p:txBody>
      </p:sp>
      <p:sp>
        <p:nvSpPr>
          <p:cNvPr id="13" name="TextBox 12"/>
          <p:cNvSpPr txBox="1"/>
          <p:nvPr/>
        </p:nvSpPr>
        <p:spPr>
          <a:xfrm>
            <a:off x="731520" y="1371600"/>
            <a:ext cx="10698480" cy="2011680"/>
          </a:xfrm>
          <a:prstGeom prst="rect">
            <a:avLst/>
          </a:prstGeom>
          <a:noFill/>
        </p:spPr>
        <p:txBody>
          <a:bodyPr wrap="square">
            <a:spAutoFit/>
          </a:bodyPr>
          <a:lstStyle/>
          <a:p>
            <a:pPr algn="ctr">
              <a:defRPr sz="3200" b="1">
                <a:solidFill>
                  <a:srgbClr val="85200C"/>
                </a:solidFill>
                <a:latin typeface="Titillium Web SemiBold"/>
              </a:defRPr>
            </a:pPr>
            <a:r>
              <a:t>LLM-Assisted Risk-Adaptive Neurosymbolic Intent Planning</a:t>
            </a:r>
            <a:br/>
            <a:r>
              <a:t>for Optical Networks</a:t>
            </a:r>
          </a:p>
          <a:p>
            <a:pPr algn="ctr">
              <a:defRPr sz="1800">
                <a:solidFill>
                  <a:srgbClr val="0F2C53"/>
                </a:solidFill>
                <a:latin typeface="Arial"/>
              </a:defRPr>
            </a:pPr>
            <a:r>
              <a:t>A Pre-Deployment Decision Mechanism with Joint Semantic and QoT Assessment</a:t>
            </a:r>
          </a:p>
        </p:txBody>
      </p:sp>
      <p:sp>
        <p:nvSpPr>
          <p:cNvPr id="14" name="TextBox 13"/>
          <p:cNvSpPr txBox="1"/>
          <p:nvPr/>
        </p:nvSpPr>
        <p:spPr>
          <a:xfrm>
            <a:off x="2286000" y="3931920"/>
            <a:ext cx="7589520" cy="2011680"/>
          </a:xfrm>
          <a:prstGeom prst="rect">
            <a:avLst/>
          </a:prstGeom>
          <a:noFill/>
        </p:spPr>
        <p:txBody>
          <a:bodyPr wrap="square">
            <a:spAutoFit/>
          </a:bodyPr>
          <a:lstStyle/>
          <a:p>
            <a:pPr algn="ctr">
              <a:defRPr sz="1600" b="1">
                <a:solidFill>
                  <a:srgbClr val="222222"/>
                </a:solidFill>
                <a:latin typeface="Arial"/>
              </a:defRPr>
            </a:pPr>
            <a:r>
              <a:t>Candidate: Felipe Abadía</a:t>
            </a:r>
          </a:p>
          <a:p>
            <a:pPr algn="ctr">
              <a:defRPr sz="1500" b="1">
                <a:solidFill>
                  <a:srgbClr val="0F2C53"/>
                </a:solidFill>
                <a:latin typeface="Arial"/>
              </a:defRPr>
            </a:pPr>
            <a:r>
              <a:t>Academic Advisor: Prof. Massimo Tornatore &amp; Prof. Qiaolun Zhang</a:t>
            </a:r>
          </a:p>
          <a:p>
            <a:pPr algn="ctr">
              <a:defRPr sz="1300">
                <a:solidFill>
                  <a:srgbClr val="5A6B82"/>
                </a:solidFill>
                <a:latin typeface="Arial"/>
              </a:defRPr>
            </a:pPr>
            <a:r>
              <a:t>Dipartimento di Elettronica, Informazione e Bioingegneria — Politecnico di Milano</a:t>
            </a:r>
          </a:p>
        </p:txBody>
      </p:sp>
    </p:spTree>
    <p:extLst>
      <p:ext uri="{BB962C8B-B14F-4D97-AF65-F5344CB8AC3E}">
        <p14:creationId xmlns:p14="http://schemas.microsoft.com/office/powerpoint/2010/main" val="3934854283"/>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OUTLINE</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188720"/>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188720"/>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[01] Bottleneck</a:t>
            </a:r>
          </a:p>
        </p:txBody>
      </p:sp>
      <p:sp>
        <p:nvSpPr>
          <p:cNvPr id="9" name="TextBox 8"/>
          <p:cNvSpPr txBox="1"/>
          <p:nvPr/>
        </p:nvSpPr>
        <p:spPr>
          <a:xfrm>
            <a:off x="2880360" y="1188720"/>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The Optical Intent Planning Bottleneck</a:t>
            </a:r>
          </a:p>
          <a:p>
            <a:pPr>
              <a:defRPr sz="1200">
                <a:solidFill>
                  <a:srgbClr val="222222"/>
                </a:solidFill>
              </a:defRPr>
            </a:pPr>
            <a:r>
              <a:rPr sz="1200" b="0">
                <a:solidFill>
                  <a:srgbClr val="222222"/>
                </a:solidFill>
                <a:latin typeface="Arial"/>
              </a:rPr>
              <a:t>Physical-layer constraints, token saturation, and hallucinated routing in optical backbones</a:t>
            </a:r>
          </a:p>
        </p:txBody>
      </p:sp>
      <p:sp>
        <p:nvSpPr>
          <p:cNvPr id="10" name="Rounded Rectangle 9"/>
          <p:cNvSpPr/>
          <p:nvPr/>
        </p:nvSpPr>
        <p:spPr>
          <a:xfrm>
            <a:off x="731520" y="2242108"/>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2242108"/>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[02] Architecture</a:t>
            </a:r>
          </a:p>
        </p:txBody>
      </p:sp>
      <p:sp>
        <p:nvSpPr>
          <p:cNvPr id="12" name="TextBox 11"/>
          <p:cNvSpPr txBox="1"/>
          <p:nvPr/>
        </p:nvSpPr>
        <p:spPr>
          <a:xfrm>
            <a:off x="2880360" y="2242108"/>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Neurosymbolic Intent Planning Pipeline</a:t>
            </a:r>
          </a:p>
          <a:p>
            <a:pPr>
              <a:defRPr sz="1200">
                <a:solidFill>
                  <a:srgbClr val="222222"/>
                </a:solidFill>
              </a:defRPr>
            </a:pPr>
            <a:r>
              <a:rPr sz="1200" b="0">
                <a:solidFill>
                  <a:srgbClr val="222222"/>
                </a:solidFill>
                <a:latin typeface="Arial"/>
              </a:rPr>
              <a:t>Decoupling probabilistic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200" b="0">
                <a:solidFill>
                  <a:srgbClr val="222222"/>
                </a:solidFill>
                <a:latin typeface="Arial"/>
              </a:rPr>
              <a:t>) from deterministic solvers and physics tools</a:t>
            </a:r>
          </a:p>
        </p:txBody>
      </p:sp>
      <p:sp>
        <p:nvSpPr>
          <p:cNvPr id="13" name="Rounded Rectangle 12"/>
          <p:cNvSpPr/>
          <p:nvPr/>
        </p:nvSpPr>
        <p:spPr>
          <a:xfrm>
            <a:off x="731520" y="3295497"/>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3295497"/>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[03] Risk Gates</a:t>
            </a:r>
          </a:p>
        </p:txBody>
      </p:sp>
      <p:sp>
        <p:nvSpPr>
          <p:cNvPr id="15" name="TextBox 14"/>
          <p:cNvSpPr txBox="1"/>
          <p:nvPr/>
        </p:nvSpPr>
        <p:spPr>
          <a:xfrm>
            <a:off x="2880360" y="3295497"/>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Pre-Deployment Risk Gates: Semantic &amp; Physical Validation</a:t>
            </a:r>
          </a:p>
          <a:p>
            <a:pPr>
              <a:defRPr sz="1200">
                <a:solidFill>
                  <a:srgbClr val="222222"/>
                </a:solidFill>
              </a:defRPr>
            </a:pPr>
            <a:r>
              <a:rPr sz="1200" b="0">
                <a:solidFill>
                  <a:srgbClr val="222222"/>
                </a:solidFill>
                <a:latin typeface="Arial"/>
              </a:rPr>
              <a:t>Sequential fail-fast decision via Layer 1/2 semantic gate (</a:t>
            </a:r>
            <a14:m xmlns:a14="http://schemas.microsoft.com/office/drawing/2010/main" xmlns:m="http://schemas.openxmlformats.org/officeDocument/2006/math">
              <m:oMath>
                <m:sSub>
                  <m:e>
                    <m:r>
                      <m:t>U</m:t>
                    </m:r>
                  </m:e>
                  <m:sub>
                    <m:r>
                      <m:t>sem</m:t>
                    </m:r>
                  </m:sub>
                </m:sSub>
              </m:oMath>
            </a14:m>
            <a:r>
              <a:rPr sz="1200" b="0">
                <a:solidFill>
                  <a:srgbClr val="222222"/>
                </a:solidFill>
                <a:latin typeface="Arial"/>
              </a:rPr>
              <a:t>) and GN-model QoT gate (</a:t>
            </a:r>
            <a14:m xmlns:a14="http://schemas.microsoft.com/office/drawing/2010/main" xmlns:m="http://schemas.openxmlformats.org/officeDocument/2006/math">
              <m:oMath>
                <m:sSub>
                  <m:e>
                    <m:r>
                      <m:t>QoT</m:t>
                    </m:r>
                  </m:e>
                  <m:sub>
                    <m:r>
                      <m:t>valid</m:t>
                    </m:r>
                  </m:sub>
                </m:sSub>
              </m:oMath>
            </a14:m>
            <a:r>
              <a:rPr sz="1200" b="0">
                <a:solidFill>
                  <a:srgbClr val="222222"/>
                </a:solidFill>
                <a:latin typeface="Arial"/>
              </a:rPr>
              <a:t>)</a:t>
            </a:r>
          </a:p>
        </p:txBody>
      </p:sp>
      <p:sp>
        <p:nvSpPr>
          <p:cNvPr id="16" name="Rounded Rectangle 15"/>
          <p:cNvSpPr/>
          <p:nvPr/>
        </p:nvSpPr>
        <p:spPr>
          <a:xfrm>
            <a:off x="731520" y="4348886"/>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4348886"/>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[04] Evaluation</a:t>
            </a:r>
          </a:p>
        </p:txBody>
      </p:sp>
      <p:sp>
        <p:nvSpPr>
          <p:cNvPr id="18" name="TextBox 17"/>
          <p:cNvSpPr txBox="1"/>
          <p:nvPr/>
        </p:nvSpPr>
        <p:spPr>
          <a:xfrm>
            <a:off x="2880360" y="4348886"/>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Experimental Testbed Validation on 17-Node Optical Topology</a:t>
            </a:r>
          </a:p>
          <a:p>
            <a:pPr>
              <a:defRPr sz="1200">
                <a:solidFill>
                  <a:srgbClr val="222222"/>
                </a:solidFill>
              </a:defRPr>
            </a:pPr>
            <a:r>
              <a:rPr sz="1200" b="0">
                <a:solidFill>
                  <a:srgbClr val="222222"/>
                </a:solidFill>
                <a:latin typeface="Arial"/>
              </a:rPr>
              <a:t>Benchmarking safety (</a:t>
            </a:r>
            <a14:m xmlns:a14="http://schemas.microsoft.com/office/drawing/2010/main" xmlns:m="http://schemas.openxmlformats.org/officeDocument/2006/math">
              <m:oMath>
                <m:r>
                  <m:t>UAR = 100%</m:t>
                </m:r>
              </m:oMath>
            </a14:m>
            <a:r>
              <a:rPr sz="1200" b="0">
                <a:solidFill>
                  <a:srgbClr val="222222"/>
                </a:solidFill>
                <a:latin typeface="Arial"/>
              </a:rPr>
              <a:t>), human intervention reduction, and orchestration latency against baselines</a:t>
            </a:r>
          </a:p>
        </p:txBody>
      </p:sp>
      <p:sp>
        <p:nvSpPr>
          <p:cNvPr id="19" name="Rounded Rectangle 18"/>
          <p:cNvSpPr/>
          <p:nvPr/>
        </p:nvSpPr>
        <p:spPr>
          <a:xfrm>
            <a:off x="731520" y="5402275"/>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5402275"/>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[05] Outlook</a:t>
            </a:r>
          </a:p>
        </p:txBody>
      </p:sp>
      <p:sp>
        <p:nvSpPr>
          <p:cNvPr id="21" name="TextBox 20"/>
          <p:cNvSpPr txBox="1"/>
          <p:nvPr/>
        </p:nvSpPr>
        <p:spPr>
          <a:xfrm>
            <a:off x="2880360" y="5402275"/>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Key Takeaways, System Guarantees &amp; Future Directions</a:t>
            </a:r>
          </a:p>
          <a:p>
            <a:pPr>
              <a:defRPr sz="1200">
                <a:solidFill>
                  <a:srgbClr val="222222"/>
                </a:solidFill>
              </a:defRPr>
            </a:pPr>
            <a:r>
              <a:rPr sz="1200" b="0">
                <a:solidFill>
                  <a:srgbClr val="222222"/>
                </a:solidFill>
                <a:latin typeface="Arial"/>
              </a:rPr>
              <a:t>Summary of thesis contributions, operational guarantees, and extension to joint compute scheduling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Motivation: The Evolution from Imperative SDON to Declarative IBON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1298448"/>
            <a:ext cx="4251960" cy="4032504"/>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4617720" cy="65836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50" b="1">
                <a:solidFill>
                  <a:srgbClr val="FFFFFF"/>
                </a:solidFill>
                <a:latin typeface="Titillium Web SemiBold"/>
              </a:defRPr>
            </a:pPr>
            <a:r>
              <a:t>⚠️ Current Paradigm: Imperative SDON</a:t>
            </a:r>
          </a:p>
          <a:p>
            <a:pPr algn="ctr">
              <a:defRPr sz="1050">
                <a:solidFill>
                  <a:srgbClr val="FFFFFF"/>
                </a:solidFill>
                <a:latin typeface="Arial"/>
              </a:defRPr>
            </a:pPr>
            <a:r>
              <a:t>Procedural "HOW" Execution • Open-Loop Control</a:t>
            </a:r>
          </a:p>
        </p:txBody>
      </p:sp>
      <p:sp>
        <p:nvSpPr>
          <p:cNvPr id="9" name="Rounded Rectangle 8"/>
          <p:cNvSpPr/>
          <p:nvPr/>
        </p:nvSpPr>
        <p:spPr>
          <a:xfrm>
            <a:off x="1069848" y="2249424"/>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Procedural Scripts</a:t>
            </a:r>
          </a:p>
        </p:txBody>
      </p:sp>
      <p:sp>
        <p:nvSpPr>
          <p:cNvPr id="10" name="Rounded Rectangle 9"/>
          <p:cNvSpPr/>
          <p:nvPr/>
        </p:nvSpPr>
        <p:spPr>
          <a:xfrm>
            <a:off x="1069848" y="3031236"/>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Static Margins</a:t>
            </a:r>
          </a:p>
        </p:txBody>
      </p:sp>
      <p:sp>
        <p:nvSpPr>
          <p:cNvPr id="11" name="Rounded Rectangle 10"/>
          <p:cNvSpPr/>
          <p:nvPr/>
        </p:nvSpPr>
        <p:spPr>
          <a:xfrm>
            <a:off x="1069848" y="3813048"/>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Open-Loop Control</a:t>
            </a:r>
          </a:p>
        </p:txBody>
      </p:sp>
      <p:sp>
        <p:nvSpPr>
          <p:cNvPr id="12" name="Right Arrow 11"/>
          <p:cNvSpPr/>
          <p:nvPr/>
        </p:nvSpPr>
        <p:spPr>
          <a:xfrm>
            <a:off x="4946904" y="2194560"/>
            <a:ext cx="2295144" cy="2185416"/>
          </a:xfrm>
          <a:prstGeom prst="rightArrow">
            <a:avLst/>
          </a:prstGeom>
          <a:solidFill>
            <a:srgbClr val="DCE6F2"/>
          </a:solidFill>
          <a:ln w="1270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312664" y="2953512"/>
            <a:ext cx="1527048" cy="630936"/>
          </a:xfrm>
          <a:prstGeom prst="roundRect">
            <a:avLst/>
          </a:prstGeom>
          <a:solidFill>
            <a:srgbClr val="FFFFFF"/>
          </a:solidFill>
          <a:ln w="12700">
            <a:solidFill>
              <a:srgbClr val="5A6B82"/>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950" b="1">
                <a:solidFill>
                  <a:srgbClr val="0F2C53"/>
                </a:solidFill>
                <a:latin typeface="Titillium Web SemiBold"/>
              </a:defRPr>
            </a:pPr>
            <a:r>
              <a:t>PARADIGM SHIFT</a:t>
            </a:r>
          </a:p>
          <a:p>
            <a:pPr algn="ctr">
              <a:defRPr sz="950" b="1">
                <a:solidFill>
                  <a:srgbClr val="85200C"/>
                </a:solidFill>
                <a:latin typeface="Titillium Web SemiBold"/>
              </a:defRPr>
            </a:pPr>
            <a:r>
              <a:t>"HOW" ➔ "WHAT"</a:t>
            </a:r>
          </a:p>
        </p:txBody>
      </p:sp>
      <p:sp>
        <p:nvSpPr>
          <p:cNvPr id="14" name="Rounded Rectangle 13"/>
          <p:cNvSpPr/>
          <p:nvPr/>
        </p:nvSpPr>
        <p:spPr>
          <a:xfrm>
            <a:off x="7040880" y="1298448"/>
            <a:ext cx="4251960" cy="4032504"/>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0" y="1188720"/>
            <a:ext cx="4617720" cy="658368"/>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50" b="1">
                <a:solidFill>
                  <a:srgbClr val="FFFFFF"/>
                </a:solidFill>
                <a:latin typeface="Titillium Web SemiBold"/>
              </a:defRPr>
            </a:pPr>
            <a:r>
              <a:t>⚡ Target Vision: Declarative IBON</a:t>
            </a:r>
          </a:p>
          <a:p>
            <a:pPr algn="ctr">
              <a:defRPr sz="1050">
                <a:solidFill>
                  <a:srgbClr val="FFFFFF"/>
                </a:solidFill>
                <a:latin typeface="Arial"/>
              </a:defRPr>
            </a:pPr>
            <a:r>
              <a:t>Autonomous "WHAT" Abstraction • Closed-Loop Assurance</a:t>
            </a:r>
          </a:p>
        </p:txBody>
      </p:sp>
      <p:sp>
        <p:nvSpPr>
          <p:cNvPr id="16" name="Rounded Rectangle 15"/>
          <p:cNvSpPr/>
          <p:nvPr/>
        </p:nvSpPr>
        <p:spPr>
          <a:xfrm>
            <a:off x="7242048" y="2249424"/>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High-Level Intents</a:t>
            </a:r>
          </a:p>
        </p:txBody>
      </p:sp>
      <p:sp>
        <p:nvSpPr>
          <p:cNvPr id="17" name="Rounded Rectangle 16"/>
          <p:cNvSpPr/>
          <p:nvPr/>
        </p:nvSpPr>
        <p:spPr>
          <a:xfrm>
            <a:off x="7242048" y="3031236"/>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Dynamic Physics</a:t>
            </a:r>
          </a:p>
        </p:txBody>
      </p:sp>
      <p:sp>
        <p:nvSpPr>
          <p:cNvPr id="18" name="Rounded Rectangle 17"/>
          <p:cNvSpPr/>
          <p:nvPr/>
        </p:nvSpPr>
        <p:spPr>
          <a:xfrm>
            <a:off x="7242048" y="3813048"/>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Zero-Touch Assurance</a:t>
            </a:r>
          </a:p>
        </p:txBody>
      </p:sp>
      <p:sp>
        <p:nvSpPr>
          <p:cNvPr id="19" name="Rounded Rectangle 18"/>
          <p:cNvSpPr/>
          <p:nvPr/>
        </p:nvSpPr>
        <p:spPr>
          <a:xfrm>
            <a:off x="676656" y="5623560"/>
            <a:ext cx="10744200" cy="6858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sz="1450" b="1">
                <a:solidFill>
                  <a:srgbClr val="85200C"/>
                </a:solidFill>
                <a:latin typeface="Titillium Web SemiBold"/>
              </a:defRPr>
            </a:pPr>
            <a:r>
              <a:t>⚠️ BUT: Standard LLMs alone cannot simply drive an IBON controller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Illustrative Failure: Why Standard LLMs Break Optical Backbones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1. Token Budget Saturation</a:t>
            </a:r>
          </a:p>
        </p:txBody>
      </p:sp>
      <p:sp>
        <p:nvSpPr>
          <p:cNvPr id="9" name="TextBox 8"/>
          <p:cNvSpPr txBox="1"/>
          <p:nvPr/>
        </p:nvSpPr>
        <p:spPr>
          <a:xfrm>
            <a:off x="4160520" y="1188720"/>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Telemetry dumps trigger attention degradation, dropping critical route exclusions</a:t>
            </a:r>
          </a:p>
        </p:txBody>
      </p:sp>
      <p:sp>
        <p:nvSpPr>
          <p:cNvPr id="10" name="Rounded Rectangle 9"/>
          <p:cNvSpPr/>
          <p:nvPr/>
        </p:nvSpPr>
        <p:spPr>
          <a:xfrm>
            <a:off x="685800" y="2066544"/>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066544"/>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2. Hallucinated Physics</a:t>
            </a:r>
          </a:p>
        </p:txBody>
      </p:sp>
      <p:sp>
        <p:nvSpPr>
          <p:cNvPr id="12" name="TextBox 11"/>
          <p:cNvSpPr txBox="1"/>
          <p:nvPr/>
        </p:nvSpPr>
        <p:spPr>
          <a:xfrm>
            <a:off x="4160520" y="2066544"/>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Probabilistic predictors lack wave propagation engines, violating non-linear GSNR margins</a:t>
            </a:r>
          </a:p>
        </p:txBody>
      </p:sp>
      <p:sp>
        <p:nvSpPr>
          <p:cNvPr id="13" name="Rounded Rectangle 12"/>
          <p:cNvSpPr/>
          <p:nvPr/>
        </p:nvSpPr>
        <p:spPr>
          <a:xfrm>
            <a:off x="685800" y="2944368"/>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2944368"/>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3. Semantic Drift</a:t>
            </a:r>
          </a:p>
        </p:txBody>
      </p:sp>
      <p:sp>
        <p:nvSpPr>
          <p:cNvPr id="15" name="TextBox 14"/>
          <p:cNvSpPr txBox="1"/>
          <p:nvPr/>
        </p:nvSpPr>
        <p:spPr>
          <a:xfrm>
            <a:off x="4160520" y="2944368"/>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Unconstrained multi-turn conversational loops mutate or drop initial boundary constraints</a:t>
            </a:r>
          </a:p>
        </p:txBody>
      </p:sp>
      <p:sp>
        <p:nvSpPr>
          <p:cNvPr id="16" name="Rounded Rectangle 15"/>
          <p:cNvSpPr/>
          <p:nvPr/>
        </p:nvSpPr>
        <p:spPr>
          <a:xfrm>
            <a:off x="685800" y="3822192"/>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822192"/>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4. Reactive Deployment Latency</a:t>
            </a:r>
          </a:p>
        </p:txBody>
      </p:sp>
      <p:sp>
        <p:nvSpPr>
          <p:cNvPr id="18" name="TextBox 17"/>
          <p:cNvSpPr txBox="1"/>
          <p:nvPr/>
        </p:nvSpPr>
        <p:spPr>
          <a:xfrm>
            <a:off x="4160520" y="3822192"/>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Trial-and-error configuration risks live outages and introduces high control-plane recovery latency</a:t>
            </a:r>
          </a:p>
        </p:txBody>
      </p:sp>
      <p:sp>
        <p:nvSpPr>
          <p:cNvPr id="19" name="Rounded Rectangle 18"/>
          <p:cNvSpPr/>
          <p:nvPr/>
        </p:nvSpPr>
        <p:spPr>
          <a:xfrm>
            <a:off x="685800" y="4700016"/>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5800" y="4700016"/>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5. Suboptimal HITL Friction</a:t>
            </a:r>
          </a:p>
        </p:txBody>
      </p:sp>
      <p:sp>
        <p:nvSpPr>
          <p:cNvPr id="21" name="TextBox 20"/>
          <p:cNvSpPr txBox="1"/>
          <p:nvPr/>
        </p:nvSpPr>
        <p:spPr>
          <a:xfrm>
            <a:off x="4160520" y="4700016"/>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Binary all-or-nothing review causes operator fatigue or outages; models fail to fail-early</a:t>
            </a:r>
          </a:p>
        </p:txBody>
      </p:sp>
      <p:sp>
        <p:nvSpPr>
          <p:cNvPr id="22" name="Rounded Rectangle 21"/>
          <p:cNvSpPr/>
          <p:nvPr/>
        </p:nvSpPr>
        <p:spPr>
          <a:xfrm>
            <a:off x="685800" y="5669280"/>
            <a:ext cx="10744200" cy="59436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200" b="1">
                <a:solidFill>
                  <a:srgbClr val="85200C"/>
                </a:solidFill>
              </a:defRPr>
            </a:pPr>
            <a:r>
              <a:rPr sz="1200" b="1">
                <a:solidFill>
                  <a:srgbClr val="85200C"/>
                </a:solidFill>
                <a:latin typeface="Titillium Web SemiBold"/>
              </a:rPr>
              <a:t>Empirical Risk: Unconstrained LLMs might allow unfeasible deployments, semantic drift loops, and critical control-plane latency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Problem Statement: Given, Decide, Objective &amp; Constraints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[1] Given (System Inputs)</a:t>
            </a:r>
          </a:p>
        </p:txBody>
      </p:sp>
      <p:sp>
        <p:nvSpPr>
          <p:cNvPr id="9" name="Rounded Rectangle 8"/>
          <p:cNvSpPr/>
          <p:nvPr/>
        </p:nvSpPr>
        <p:spPr>
          <a:xfrm>
            <a:off x="9326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Unstructured operator intent (</a:t>
            </a:r>
            <a14:m xmlns:a14="http://schemas.microsoft.com/office/drawing/2010/main" xmlns:m="http://schemas.openxmlformats.org/officeDocument/2006/math">
              <m:oMath>
                <m:sSub>
                  <m:e>
                    <m:r>
                      <m:t>ℐ</m:t>
                    </m:r>
                  </m:e>
                  <m:sub>
                    <m:r>
                      <m:t>NL</m:t>
                    </m:r>
                  </m:sub>
                </m:sSub>
              </m:oMath>
            </a14:m>
            <a:r>
              <a:rPr sz="1000" b="1">
                <a:solidFill>
                  <a:srgbClr val="222222"/>
                </a:solidFill>
                <a:latin typeface="Titillium Web SemiBold"/>
              </a:rPr>
              <a:t>)</a:t>
            </a:r>
          </a:p>
        </p:txBody>
      </p:sp>
      <p:sp>
        <p:nvSpPr>
          <p:cNvPr id="10" name="Rounded Rectangle 9"/>
          <p:cNvSpPr/>
          <p:nvPr/>
        </p:nvSpPr>
        <p:spPr>
          <a:xfrm>
            <a:off x="9326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Active optical topology graph </a:t>
            </a:r>
            <a14:m xmlns:a14="http://schemas.microsoft.com/office/drawing/2010/main" xmlns:m="http://schemas.openxmlformats.org/officeDocument/2006/math">
              <m:oMath>
                <m:r>
                  <m:t>G(V, E)</m:t>
                </m:r>
              </m:oMath>
            </a14:m>
          </a:p>
        </p:txBody>
      </p:sp>
      <p:sp>
        <p:nvSpPr>
          <p:cNvPr id="11" name="Rounded Rectangle 10"/>
          <p:cNvSpPr/>
          <p:nvPr/>
        </p:nvSpPr>
        <p:spPr>
          <a:xfrm>
            <a:off x="9326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Physical parameters (e.g. span length </a:t>
            </a:r>
            <a14:m xmlns:a14="http://schemas.microsoft.com/office/drawing/2010/main" xmlns:m="http://schemas.openxmlformats.org/officeDocument/2006/math">
              <m:oMath>
                <m:r>
                  <m:t>L</m:t>
                </m:r>
              </m:oMath>
            </a14:m>
            <a:r>
              <a:rPr sz="1000" b="1">
                <a:solidFill>
                  <a:srgbClr val="222222"/>
                </a:solidFill>
                <a:latin typeface="Titillium Web SemiBold"/>
              </a:rPr>
              <a:t>)</a:t>
            </a:r>
          </a:p>
        </p:txBody>
      </p:sp>
      <p:sp>
        <p:nvSpPr>
          <p:cNvPr id="12" name="Rounded Rectangle 11"/>
          <p:cNvSpPr/>
          <p:nvPr/>
        </p:nvSpPr>
        <p:spPr>
          <a:xfrm>
            <a:off x="9326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Feasibility threshold (e.g. </a:t>
            </a:r>
            <a14:m xmlns:a14="http://schemas.microsoft.com/office/drawing/2010/main" xmlns:m="http://schemas.openxmlformats.org/officeDocument/2006/math">
              <m:oMath>
                <m:r>
                  <m:t>GSNR</m:t>
                </m:r>
              </m:oMath>
            </a14:m>
            <a:r>
              <a:rPr sz="1000" b="1">
                <a:solidFill>
                  <a:srgbClr val="222222"/>
                </a:solidFill>
                <a:latin typeface="Titillium Web SemiBold"/>
              </a:rPr>
              <a:t>)</a:t>
            </a:r>
          </a:p>
        </p:txBody>
      </p:sp>
      <p:sp>
        <p:nvSpPr>
          <p:cNvPr id="13" name="Rounded Rectangle 12"/>
          <p:cNvSpPr/>
          <p:nvPr/>
        </p:nvSpPr>
        <p:spPr>
          <a:xfrm>
            <a:off x="43434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434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[2] Decide (Variables &amp; Actions)</a:t>
            </a:r>
          </a:p>
        </p:txBody>
      </p:sp>
      <p:sp>
        <p:nvSpPr>
          <p:cNvPr id="15" name="Rounded Rectangle 14"/>
          <p:cNvSpPr/>
          <p:nvPr/>
        </p:nvSpPr>
        <p:spPr>
          <a:xfrm>
            <a:off x="45902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Formal symbolic specification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b>
                  <m:e>
                    <m:r>
                      <m:t>𝒮</m:t>
                    </m:r>
                  </m:e>
                  <m:sub>
                    <m:r>
                      <m:t>PDDL</m:t>
                    </m:r>
                  </m:sub>
                </m:sSub>
              </m:oMath>
            </a14:m>
            <a:r>
              <a:rPr sz="950" b="0">
                <a:solidFill>
                  <a:srgbClr val="222222"/>
                </a:solidFill>
                <a:latin typeface="Arial"/>
              </a:rPr>
              <a:t> compiled from intent)</a:t>
            </a:r>
          </a:p>
        </p:txBody>
      </p:sp>
      <p:sp>
        <p:nvSpPr>
          <p:cNvPr id="16" name="Rounded Rectangle 15"/>
          <p:cNvSpPr/>
          <p:nvPr/>
        </p:nvSpPr>
        <p:spPr>
          <a:xfrm>
            <a:off x="45902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Optimal physical lightpath route</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p>
                  <m:e>
                    <m:r>
                      <m:t>π</m:t>
                    </m:r>
                  </m:e>
                  <m:sup>
                    <m:r>
                      <m:t>*</m:t>
                    </m:r>
                  </m:sup>
                </m:sSup>
                <m:r>
                  <m:t> ∈ </m:t>
                </m:r>
                <m:sSub>
                  <m:e>
                    <m:r>
                      <m:t>𝒦</m:t>
                    </m:r>
                  </m:e>
                  <m:sub>
                    <m:r>
                      <m:t>path</m:t>
                    </m:r>
                  </m:sub>
                </m:sSub>
              </m:oMath>
            </a14:m>
            <a:r>
              <a:rPr sz="950" b="0">
                <a:solidFill>
                  <a:srgbClr val="222222"/>
                </a:solidFill>
                <a:latin typeface="Arial"/>
              </a:rPr>
              <a:t> from candidate paths)</a:t>
            </a:r>
          </a:p>
        </p:txBody>
      </p:sp>
      <p:sp>
        <p:nvSpPr>
          <p:cNvPr id="17" name="Rounded Rectangle 16"/>
          <p:cNvSpPr/>
          <p:nvPr/>
        </p:nvSpPr>
        <p:spPr>
          <a:xfrm>
            <a:off x="45902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Pre-deployment control action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a ∈ {approve, clarify, replan}</m:t>
                </m:r>
              </m:oMath>
            </a14:m>
            <a:r>
              <a:rPr sz="950" b="0">
                <a:solidFill>
                  <a:srgbClr val="222222"/>
                </a:solidFill>
                <a:latin typeface="Arial"/>
              </a:rPr>
              <a:t>)</a:t>
            </a:r>
          </a:p>
        </p:txBody>
      </p:sp>
      <p:sp>
        <p:nvSpPr>
          <p:cNvPr id="18" name="Rounded Rectangle 17"/>
          <p:cNvSpPr/>
          <p:nvPr/>
        </p:nvSpPr>
        <p:spPr>
          <a:xfrm>
            <a:off x="45902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Provisioning routing configuration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p>
                  <m:e>
                    <m:r>
                      <m:t>c</m:t>
                    </m:r>
                  </m:e>
                  <m:sup>
                    <m:r>
                      <m:t>*</m:t>
                    </m:r>
                  </m:sup>
                </m:sSup>
              </m:oMath>
            </a14:m>
            <a:r>
              <a:rPr sz="950" b="0">
                <a:solidFill>
                  <a:srgbClr val="222222"/>
                </a:solidFill>
                <a:latin typeface="Arial"/>
              </a:rPr>
              <a:t> dispatched to controller)</a:t>
            </a:r>
          </a:p>
        </p:txBody>
      </p:sp>
      <p:sp>
        <p:nvSpPr>
          <p:cNvPr id="19" name="Rounded Rectangle 18"/>
          <p:cNvSpPr/>
          <p:nvPr/>
        </p:nvSpPr>
        <p:spPr>
          <a:xfrm>
            <a:off x="8001000" y="1188720"/>
            <a:ext cx="3429000" cy="24231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188720"/>
            <a:ext cx="3429000" cy="45720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[3] Objective (Optimization)</a:t>
            </a:r>
          </a:p>
        </p:txBody>
      </p:sp>
      <p:sp>
        <p:nvSpPr>
          <p:cNvPr id="21" name="Rounded Rectangle 20"/>
          <p:cNvSpPr/>
          <p:nvPr/>
        </p:nvSpPr>
        <p:spPr>
          <a:xfrm>
            <a:off x="82478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human interruptions (</a:t>
            </a:r>
            <a14:m xmlns:a14="http://schemas.microsoft.com/office/drawing/2010/main" xmlns:m="http://schemas.openxmlformats.org/officeDocument/2006/math">
              <m:oMath>
                <m:r>
                  <m:t>min </m:t>
                </m:r>
                <m:sSub>
                  <m:e>
                    <m:r>
                      <m:t>N</m:t>
                    </m:r>
                  </m:e>
                  <m:sub>
                    <m:r>
                      <m:t>hitl</m:t>
                    </m:r>
                  </m:sub>
                </m:sSub>
              </m:oMath>
            </a14:m>
            <a:r>
              <a:rPr sz="1000" b="1">
                <a:solidFill>
                  <a:srgbClr val="222222"/>
                </a:solidFill>
                <a:latin typeface="Titillium Web SemiBold"/>
              </a:rPr>
              <a:t>)</a:t>
            </a:r>
          </a:p>
        </p:txBody>
      </p:sp>
      <p:sp>
        <p:nvSpPr>
          <p:cNvPr id="22" name="Rounded Rectangle 21"/>
          <p:cNvSpPr/>
          <p:nvPr/>
        </p:nvSpPr>
        <p:spPr>
          <a:xfrm>
            <a:off x="82478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prompt tokens (</a:t>
            </a:r>
            <a14:m xmlns:a14="http://schemas.microsoft.com/office/drawing/2010/main" xmlns:m="http://schemas.openxmlformats.org/officeDocument/2006/math">
              <m:oMath>
                <m:r>
                  <m:t>min </m:t>
                </m:r>
                <m:sSub>
                  <m:e>
                    <m:r>
                      <m:t>T</m:t>
                    </m:r>
                  </m:e>
                  <m:sub>
                    <m:r>
                      <m:t>tokens</m:t>
                    </m:r>
                  </m:sub>
                </m:sSub>
              </m:oMath>
            </a14:m>
            <a:r>
              <a:rPr sz="1000" b="1">
                <a:solidFill>
                  <a:srgbClr val="222222"/>
                </a:solidFill>
                <a:latin typeface="Titillium Web SemiBold"/>
              </a:rPr>
              <a:t>)</a:t>
            </a:r>
          </a:p>
        </p:txBody>
      </p:sp>
      <p:sp>
        <p:nvSpPr>
          <p:cNvPr id="23" name="Rounded Rectangle 22"/>
          <p:cNvSpPr/>
          <p:nvPr/>
        </p:nvSpPr>
        <p:spPr>
          <a:xfrm>
            <a:off x="82478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operational friction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min α · </m:t>
                </m:r>
                <m:sSub>
                  <m:e>
                    <m:r>
                      <m:t>N</m:t>
                    </m:r>
                  </m:e>
                  <m:sub>
                    <m:r>
                      <m:t>hitl</m:t>
                    </m:r>
                  </m:sub>
                </m:sSub>
                <m:r>
                  <m:t> + β · </m:t>
                </m:r>
                <m:sSub>
                  <m:e>
                    <m:r>
                      <m:t>T</m:t>
                    </m:r>
                  </m:e>
                  <m:sub>
                    <m:r>
                      <m:t>tokens</m:t>
                    </m:r>
                  </m:sub>
                </m:sSub>
              </m:oMath>
            </a14:m>
            <a:r>
              <a:rPr sz="950" b="0">
                <a:solidFill>
                  <a:srgbClr val="222222"/>
                </a:solidFill>
                <a:latin typeface="Arial"/>
              </a:rPr>
              <a:t>)</a:t>
            </a:r>
          </a:p>
        </p:txBody>
      </p:sp>
      <p:sp>
        <p:nvSpPr>
          <p:cNvPr id="24" name="Rounded Rectangle 23"/>
          <p:cNvSpPr/>
          <p:nvPr/>
        </p:nvSpPr>
        <p:spPr>
          <a:xfrm>
            <a:off x="82478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Guarantee pre-deployment safety</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𝒟(</m:t>
                </m:r>
                <m:sSub>
                  <m:e>
                    <m:r>
                      <m:t>U</m:t>
                    </m:r>
                  </m:e>
                  <m:sub>
                    <m:r>
                      <m:t>sem</m:t>
                    </m:r>
                  </m:sub>
                </m:sSub>
                <m:r>
                  <m:t>, </m:t>
                </m:r>
                <m:sSub>
                  <m:e>
                    <m:r>
                      <m:t>QoT</m:t>
                    </m:r>
                  </m:e>
                  <m:sub>
                    <m:r>
                      <m:t>valid</m:t>
                    </m:r>
                  </m:sub>
                </m:sSub>
                <m:r>
                  <m:t>) = approve</m:t>
                </m:r>
              </m:oMath>
            </a14:m>
            <a:r>
              <a:rPr sz="950" b="0">
                <a:solidFill>
                  <a:srgbClr val="222222"/>
                </a:solidFill>
                <a:latin typeface="Arial"/>
              </a:rPr>
              <a:t>)</a:t>
            </a:r>
          </a:p>
        </p:txBody>
      </p:sp>
      <p:sp>
        <p:nvSpPr>
          <p:cNvPr id="25" name="Rounded Rectangle 24"/>
          <p:cNvSpPr/>
          <p:nvPr/>
        </p:nvSpPr>
        <p:spPr>
          <a:xfrm>
            <a:off x="1345082" y="4328769"/>
            <a:ext cx="9425635" cy="1945843"/>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345082" y="4253788"/>
            <a:ext cx="9425635" cy="438912"/>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[4] Constraints: Resource Limits vs. Physical &amp; Semantic Boundaries</a:t>
            </a:r>
          </a:p>
        </p:txBody>
      </p:sp>
      <p:sp>
        <p:nvSpPr>
          <p:cNvPr id="27" name="TextBox 26"/>
          <p:cNvSpPr txBox="1"/>
          <p:nvPr/>
        </p:nvSpPr>
        <p:spPr>
          <a:xfrm>
            <a:off x="1442008" y="4784140"/>
            <a:ext cx="4394606" cy="1036929"/>
          </a:xfrm>
          <a:prstGeom prst="rect">
            <a:avLst/>
          </a:prstGeom>
          <a:noFill/>
        </p:spPr>
        <p:txBody>
          <a:bodyPr wrap="square" tIns="18288">
            <a:spAutoFit/>
          </a:bodyPr>
          <a:lstStyle/>
          <a:p>
            <a:pPr>
              <a:spcAft>
                <a:spcPts val="200"/>
              </a:spcAft>
              <a:defRPr sz="1100" b="1">
                <a:solidFill>
                  <a:srgbClr val="0F2C53"/>
                </a:solidFill>
                <a:latin typeface="Titillium Web SemiBold"/>
              </a:defRPr>
            </a:pPr>
            <a:r>
              <a:t>Resource Constraints (System &amp; Solver Limits):</a:t>
            </a:r>
          </a:p>
          <a:p>
            <a:pPr>
              <a:spcBef>
                <a:spcPts val="0"/>
              </a:spcBef>
              <a:spcAft>
                <a:spcPts val="200"/>
              </a:spcAft>
              <a:defRPr sz="1000">
                <a:solidFill>
                  <a:srgbClr val="222222"/>
                </a:solidFill>
              </a:defRPr>
            </a:pPr>
            <a:r>
              <a:rPr sz="1000" b="0">
                <a:solidFill>
                  <a:srgbClr val="222222"/>
                </a:solidFill>
                <a:latin typeface="Arial"/>
              </a:rPr>
              <a:t>•  Token context limits (</a:t>
            </a:r>
            <a14:m xmlns:a14="http://schemas.microsoft.com/office/drawing/2010/main" xmlns:m="http://schemas.openxmlformats.org/officeDocument/2006/math">
              <m:oMath>
                <m:sSub>
                  <m:e>
                    <m:r>
                      <m:t>T</m:t>
                    </m:r>
                  </m:e>
                  <m:sub>
                    <m:r>
                      <m:t>prompt</m:t>
                    </m:r>
                  </m:sub>
                </m:sSub>
                <m:r>
                  <m:t> ≤ </m:t>
                </m:r>
                <m:sSub>
                  <m:e>
                    <m:r>
                      <m:t>T</m:t>
                    </m:r>
                  </m:e>
                  <m:sub>
                    <m:r>
                      <m:t>max</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Computational inference latency (</a:t>
            </a:r>
            <a14:m xmlns:a14="http://schemas.microsoft.com/office/drawing/2010/main" xmlns:m="http://schemas.openxmlformats.org/officeDocument/2006/math">
              <m:oMath>
                <m:sSub>
                  <m:e>
                    <m:r>
                      <m:t>t</m:t>
                    </m:r>
                  </m:e>
                  <m:sub>
                    <m:r>
                      <m:t>exec</m:t>
                    </m:r>
                  </m:sub>
                </m:sSub>
                <m:r>
                  <m:t> ≤ </m:t>
                </m:r>
                <m:sSub>
                  <m:e>
                    <m:r>
                      <m:t>t</m:t>
                    </m:r>
                  </m:e>
                  <m:sub>
                    <m:r>
                      <m:t>max_budget</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Symbolic solver complexity </a:t>
            </a:r>
            <a14:m xmlns:a14="http://schemas.microsoft.com/office/drawing/2010/main" xmlns:m="http://schemas.openxmlformats.org/officeDocument/2006/math">
              <m:oMath>
                <m:r>
                  <m:t>K ∈ [3, 5]</m:t>
                </m:r>
              </m:oMath>
            </a14:m>
          </a:p>
        </p:txBody>
      </p:sp>
      <p:sp>
        <p:nvSpPr>
          <p:cNvPr id="28" name="TextBox 27"/>
          <p:cNvSpPr txBox="1"/>
          <p:nvPr/>
        </p:nvSpPr>
        <p:spPr>
          <a:xfrm>
            <a:off x="6279184" y="4784140"/>
            <a:ext cx="4394606" cy="1254556"/>
          </a:xfrm>
          <a:prstGeom prst="rect">
            <a:avLst/>
          </a:prstGeom>
          <a:noFill/>
        </p:spPr>
        <p:txBody>
          <a:bodyPr wrap="square" tIns="18288">
            <a:spAutoFit/>
          </a:bodyPr>
          <a:lstStyle/>
          <a:p>
            <a:pPr>
              <a:spcAft>
                <a:spcPts val="200"/>
              </a:spcAft>
              <a:defRPr sz="1100" b="1">
                <a:solidFill>
                  <a:srgbClr val="85200C"/>
                </a:solidFill>
                <a:latin typeface="Titillium Web SemiBold"/>
              </a:defRPr>
            </a:pPr>
            <a:r>
              <a:t>Boundary Constraints (Physical &amp; Semantic Feasibility):</a:t>
            </a:r>
          </a:p>
          <a:p>
            <a:pPr>
              <a:spcBef>
                <a:spcPts val="0"/>
              </a:spcBef>
              <a:spcAft>
                <a:spcPts val="200"/>
              </a:spcAft>
              <a:defRPr sz="1000">
                <a:solidFill>
                  <a:srgbClr val="222222"/>
                </a:solidFill>
              </a:defRPr>
            </a:pPr>
            <a:r>
              <a:rPr sz="1000" b="0">
                <a:solidFill>
                  <a:srgbClr val="222222"/>
                </a:solidFill>
                <a:latin typeface="Arial"/>
              </a:rPr>
              <a:t>•  Zero semantic drift tolerance bound</a:t>
            </a:r>
          </a:p>
          <a:p>
            <a:pPr>
              <a:spcBef>
                <a:spcPts val="0"/>
              </a:spcBef>
              <a:spcAft>
                <a:spcPts val="200"/>
              </a:spcAft>
              <a:defRPr sz="1000">
                <a:solidFill>
                  <a:srgbClr val="222222"/>
                </a:solidFill>
              </a:defRPr>
            </a:pPr>
            <a:r>
              <a:rPr sz="1000" b="0">
                <a:solidFill>
                  <a:srgbClr val="222222"/>
                </a:solidFill>
                <a:latin typeface="Arial"/>
              </a:rPr>
              <a:t>•  Deterministic optical QoT feasibility</a:t>
            </a:r>
          </a:p>
          <a:p>
            <a:pPr>
              <a:spcBef>
                <a:spcPts val="0"/>
              </a:spcBef>
              <a:spcAft>
                <a:spcPts val="200"/>
              </a:spcAft>
              <a:defRPr sz="1000">
                <a:solidFill>
                  <a:srgbClr val="222222"/>
                </a:solidFill>
              </a:defRPr>
            </a:pPr>
            <a:r>
              <a:rPr sz="1000" b="0">
                <a:solidFill>
                  <a:srgbClr val="222222"/>
                </a:solidFill>
                <a:latin typeface="Arial"/>
              </a:rPr>
              <a:t>•  Pre-deployment physical validity state (</a:t>
            </a:r>
            <a14:m xmlns:a14="http://schemas.microsoft.com/office/drawing/2010/main" xmlns:m="http://schemas.openxmlformats.org/officeDocument/2006/math">
              <m:oMath>
                <m:sSub>
                  <m:e>
                    <m:r>
                      <m:t>QoT</m:t>
                    </m:r>
                  </m:e>
                  <m:sub>
                    <m:r>
                      <m:t>valid</m:t>
                    </m:r>
                  </m:sub>
                </m:sSub>
                <m:r>
                  <m:t> ∈ {0, 1}</m:t>
                </m:r>
              </m:oMath>
            </a14:m>
            <a:r>
              <a:rPr sz="1000" b="0">
                <a:solidFill>
                  <a:srgbClr val="222222"/>
                </a:solidFill>
                <a:latin typeface="Aria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6</a:t>
            </a:r>
          </a:p>
        </p:txBody>
      </p:sp>
      <p:sp>
        <p:nvSpPr>
          <p:cNvPr id="5" name="TextBox 4"/>
          <p:cNvSpPr txBox="1"/>
          <p:nvPr/>
        </p:nvSpPr>
        <p:spPr>
          <a:xfrm>
            <a:off x="640080" y="228600"/>
            <a:ext cx="10789920" cy="523036"/>
          </a:xfrm>
          <a:prstGeom prst="rect">
            <a:avLst/>
          </a:prstGeom>
          <a:noFill/>
        </p:spPr>
        <p:txBody>
          <a:bodyPr wrap="square">
            <a:spAutoFit/>
          </a:bodyPr>
          <a:lstStyle/>
          <a:p>
            <a:pPr>
              <a:defRPr sz="2800" b="1">
                <a:solidFill>
                  <a:srgbClr val="0F2C53"/>
                </a:solidFill>
                <a:latin typeface="Titillium Web SemiBold"/>
              </a:defRPr>
            </a:pPr>
            <a:r>
              <a:t>Proposed Solution: RADG with Neurosymbolic Planning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248716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Neural Subsystem (Semantic Domain)</a:t>
            </a:r>
          </a:p>
        </p:txBody>
      </p:sp>
      <p:sp>
        <p:nvSpPr>
          <p:cNvPr id="9" name="Rounded Rectangle 8"/>
          <p:cNvSpPr/>
          <p:nvPr/>
        </p:nvSpPr>
        <p:spPr>
          <a:xfrm>
            <a:off x="1456639" y="1888236"/>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Translation of the intent</a:t>
            </a:r>
          </a:p>
        </p:txBody>
      </p:sp>
      <p:sp>
        <p:nvSpPr>
          <p:cNvPr id="10" name="Rounded Rectangle 9"/>
          <p:cNvSpPr/>
          <p:nvPr/>
        </p:nvSpPr>
        <p:spPr>
          <a:xfrm>
            <a:off x="1456639" y="2388412"/>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Validation of the semantic similarity</a:t>
            </a:r>
          </a:p>
        </p:txBody>
      </p:sp>
      <p:sp>
        <p:nvSpPr>
          <p:cNvPr id="11" name="Rounded Rectangle 10"/>
          <p:cNvSpPr/>
          <p:nvPr/>
        </p:nvSpPr>
        <p:spPr>
          <a:xfrm>
            <a:off x="1456639" y="2935224"/>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Orchestration</a:t>
            </a:r>
          </a:p>
        </p:txBody>
      </p:sp>
      <p:sp>
        <p:nvSpPr>
          <p:cNvPr id="12" name="Rounded Rectangle 11"/>
          <p:cNvSpPr/>
          <p:nvPr/>
        </p:nvSpPr>
        <p:spPr>
          <a:xfrm>
            <a:off x="685800" y="3822191"/>
            <a:ext cx="5212080" cy="248716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3822191"/>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Symbolic Subsystem (Optical Domain)</a:t>
            </a:r>
          </a:p>
        </p:txBody>
      </p:sp>
      <p:sp>
        <p:nvSpPr>
          <p:cNvPr id="14" name="Rounded Rectangle 13"/>
          <p:cNvSpPr/>
          <p:nvPr/>
        </p:nvSpPr>
        <p:spPr>
          <a:xfrm>
            <a:off x="1456639" y="4550968"/>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Topology extraction</a:t>
            </a:r>
          </a:p>
        </p:txBody>
      </p:sp>
      <p:sp>
        <p:nvSpPr>
          <p:cNvPr id="15" name="Rounded Rectangle 14"/>
          <p:cNvSpPr/>
          <p:nvPr/>
        </p:nvSpPr>
        <p:spPr>
          <a:xfrm>
            <a:off x="1456639" y="5051145"/>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Deterministic tools usage</a:t>
            </a:r>
          </a:p>
        </p:txBody>
      </p:sp>
      <p:sp>
        <p:nvSpPr>
          <p:cNvPr id="16" name="Rounded Rectangle 15"/>
          <p:cNvSpPr/>
          <p:nvPr/>
        </p:nvSpPr>
        <p:spPr>
          <a:xfrm>
            <a:off x="1456639" y="5597956"/>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Physical feasibility validation</a:t>
            </a:r>
          </a:p>
        </p:txBody>
      </p:sp>
      <p:sp>
        <p:nvSpPr>
          <p:cNvPr id="17" name="Rounded Rectangle 16"/>
          <p:cNvSpPr/>
          <p:nvPr/>
        </p:nvSpPr>
        <p:spPr>
          <a:xfrm>
            <a:off x="6217920" y="1188720"/>
            <a:ext cx="525780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Core Thesis Contributions</a:t>
            </a:r>
          </a:p>
        </p:txBody>
      </p:sp>
      <p:sp>
        <p:nvSpPr>
          <p:cNvPr id="18" name="Rounded Rectangle 17"/>
          <p:cNvSpPr/>
          <p:nvPr/>
        </p:nvSpPr>
        <p:spPr>
          <a:xfrm>
            <a:off x="6217920" y="1783080"/>
            <a:ext cx="5257800" cy="143560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1856232"/>
            <a:ext cx="4983480" cy="1289304"/>
          </a:xfrm>
          <a:prstGeom prst="rect">
            <a:avLst/>
          </a:prstGeom>
          <a:noFill/>
        </p:spPr>
        <p:txBody>
          <a:bodyPr wrap="square" tIns="18288" bIns="18288">
            <a:spAutoFit/>
          </a:bodyPr>
          <a:lstStyle/>
          <a:p>
            <a:pPr>
              <a:spcAft>
                <a:spcPts val="200"/>
              </a:spcAft>
              <a:defRPr sz="1200" b="1">
                <a:solidFill>
                  <a:srgbClr val="0F2C53"/>
                </a:solidFill>
              </a:defRPr>
            </a:pPr>
            <a:r>
              <a:rPr sz="1200" b="1">
                <a:solidFill>
                  <a:srgbClr val="0F2C53"/>
                </a:solidFill>
                <a:latin typeface="Titillium Web SemiBold"/>
              </a:rPr>
              <a:t>1. Scoped GraphRAG for IBN in a Neurosymbolic system</a:t>
            </a:r>
          </a:p>
          <a:p>
            <a:pPr>
              <a:spcBef>
                <a:spcPts val="0"/>
              </a:spcBef>
              <a:spcAft>
                <a:spcPts val="200"/>
              </a:spcAft>
              <a:defRPr sz="1000">
                <a:solidFill>
                  <a:srgbClr val="222222"/>
                </a:solidFill>
              </a:defRPr>
            </a:pPr>
            <a:r>
              <a:rPr sz="1000" b="0">
                <a:solidFill>
                  <a:srgbClr val="222222"/>
                </a:solidFill>
                <a:latin typeface="Arial"/>
              </a:rPr>
              <a:t>•  Strict separation: probabilistic semantic translation vs deterministic physics</a:t>
            </a:r>
          </a:p>
          <a:p>
            <a:pPr>
              <a:spcBef>
                <a:spcPts val="0"/>
              </a:spcBef>
              <a:spcAft>
                <a:spcPts val="200"/>
              </a:spcAft>
              <a:defRPr sz="1000">
                <a:solidFill>
                  <a:srgbClr val="222222"/>
                </a:solidFill>
              </a:defRPr>
            </a:pPr>
            <a:r>
              <a:rPr sz="1000" b="0">
                <a:solidFill>
                  <a:srgbClr val="222222"/>
                </a:solidFill>
                <a:latin typeface="Arial"/>
              </a:rPr>
              <a:t>•  Subtopology scoping reduces prompt tokens, eliminating attention loss</a:t>
            </a:r>
          </a:p>
        </p:txBody>
      </p:sp>
      <p:sp>
        <p:nvSpPr>
          <p:cNvPr id="20" name="Rounded Rectangle 19"/>
          <p:cNvSpPr/>
          <p:nvPr/>
        </p:nvSpPr>
        <p:spPr>
          <a:xfrm>
            <a:off x="6217920" y="3328416"/>
            <a:ext cx="5257800" cy="1435608"/>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3401568"/>
            <a:ext cx="4983480" cy="1289304"/>
          </a:xfrm>
          <a:prstGeom prst="rect">
            <a:avLst/>
          </a:prstGeom>
          <a:noFill/>
        </p:spPr>
        <p:txBody>
          <a:bodyPr wrap="square" tIns="18288" bIns="18288">
            <a:spAutoFit/>
          </a:bodyPr>
          <a:lstStyle/>
          <a:p>
            <a:pPr>
              <a:spcAft>
                <a:spcPts val="200"/>
              </a:spcAft>
              <a:defRPr sz="1200" b="1">
                <a:solidFill>
                  <a:srgbClr val="B07D00"/>
                </a:solidFill>
              </a:defRPr>
            </a:pPr>
            <a:r>
              <a:rPr sz="1200" b="1">
                <a:solidFill>
                  <a:srgbClr val="B07D00"/>
                </a:solidFill>
                <a:latin typeface="Titillium Web SemiBold"/>
              </a:rPr>
              <a:t>2. Quantification of Semantic Uncertainty for IBN in a Neurosymbolic system</a:t>
            </a:r>
          </a:p>
          <a:p>
            <a:pPr>
              <a:spcBef>
                <a:spcPts val="0"/>
              </a:spcBef>
              <a:spcAft>
                <a:spcPts val="200"/>
              </a:spcAft>
              <a:defRPr sz="1000">
                <a:solidFill>
                  <a:srgbClr val="222222"/>
                </a:solidFill>
              </a:defRPr>
            </a:pPr>
            <a:r>
              <a:rPr sz="1000" b="0">
                <a:solidFill>
                  <a:srgbClr val="222222"/>
                </a:solidFill>
                <a:latin typeface="Arial"/>
              </a:rPr>
              <a:t>•  Layer 1 syntax check (</a:t>
            </a:r>
            <a14:m xmlns:a14="http://schemas.microsoft.com/office/drawing/2010/main" xmlns:m="http://schemas.openxmlformats.org/officeDocument/2006/math">
              <m:oMath>
                <m:sSub>
                  <m:e>
                    <m:r>
                      <m:t>v</m:t>
                    </m:r>
                  </m:e>
                  <m:sub>
                    <m:r>
                      <m:t>struct</m:t>
                    </m:r>
                  </m:sub>
                </m:sSub>
                <m:r>
                  <m:t> ∈ {0, 1}</m:t>
                </m:r>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Layer 2 semantic discrepancy (</a:t>
            </a:r>
            <a14:m xmlns:a14="http://schemas.microsoft.com/office/drawing/2010/main" xmlns:m="http://schemas.openxmlformats.org/officeDocument/2006/math">
              <m:oMath>
                <m:sSub>
                  <m:e>
                    <m:r>
                      <m:t>d</m:t>
                    </m:r>
                  </m:e>
                  <m:sub>
                    <m:r>
                      <m:t>sem</m:t>
                    </m:r>
                  </m:sub>
                </m:sSub>
              </m:oMath>
            </a14:m>
            <a:r>
              <a:rPr sz="1000" b="0">
                <a:solidFill>
                  <a:srgbClr val="222222"/>
                </a:solidFill>
                <a:latin typeface="Arial"/>
              </a:rPr>
              <a:t>)</a:t>
            </a:r>
          </a:p>
        </p:txBody>
      </p:sp>
      <p:sp>
        <p:nvSpPr>
          <p:cNvPr id="22" name="Rounded Rectangle 21"/>
          <p:cNvSpPr/>
          <p:nvPr/>
        </p:nvSpPr>
        <p:spPr>
          <a:xfrm>
            <a:off x="6217920" y="4873752"/>
            <a:ext cx="5257800" cy="143560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4946904"/>
            <a:ext cx="4983480" cy="1289304"/>
          </a:xfrm>
          <a:prstGeom prst="rect">
            <a:avLst/>
          </a:prstGeom>
          <a:noFill/>
        </p:spPr>
        <p:txBody>
          <a:bodyPr wrap="square" tIns="18288" bIns="18288">
            <a:spAutoFit/>
          </a:bodyPr>
          <a:lstStyle/>
          <a:p>
            <a:pPr>
              <a:spcAft>
                <a:spcPts val="200"/>
              </a:spcAft>
              <a:defRPr sz="1200" b="1">
                <a:solidFill>
                  <a:srgbClr val="1A7F37"/>
                </a:solidFill>
              </a:defRPr>
            </a:pPr>
            <a:r>
              <a:rPr sz="1200" b="1">
                <a:solidFill>
                  <a:srgbClr val="1A7F37"/>
                </a:solidFill>
                <a:latin typeface="Titillium Web SemiBold"/>
              </a:rPr>
              <a:t>3. Risk-Adaptive Decision Gate (RADG) for optimized HITL</a:t>
            </a:r>
          </a:p>
          <a:p>
            <a:pPr>
              <a:spcBef>
                <a:spcPts val="0"/>
              </a:spcBef>
              <a:spcAft>
                <a:spcPts val="200"/>
              </a:spcAft>
              <a:defRPr sz="1000">
                <a:solidFill>
                  <a:srgbClr val="222222"/>
                </a:solidFill>
              </a:defRPr>
            </a:pPr>
            <a:r>
              <a:rPr sz="1000" b="0">
                <a:solidFill>
                  <a:srgbClr val="222222"/>
                </a:solidFill>
                <a:latin typeface="Arial"/>
              </a:rPr>
              <a:t>•  Piecewise decision </a:t>
            </a:r>
            <a14:m xmlns:a14="http://schemas.microsoft.com/office/drawing/2010/main" xmlns:m="http://schemas.openxmlformats.org/officeDocument/2006/math">
              <m:oMath>
                <m:r>
                  <m:t>D(</m:t>
                </m:r>
                <m:sSub>
                  <m:e>
                    <m:r>
                      <m:t>U</m:t>
                    </m:r>
                  </m:e>
                  <m:sub>
                    <m:r>
                      <m:t>sem</m:t>
                    </m:r>
                  </m:sub>
                </m:sSub>
                <m:r>
                  <m:t>, </m:t>
                </m:r>
                <m:sSub>
                  <m:e>
                    <m:r>
                      <m:t>QoT</m:t>
                    </m:r>
                  </m:e>
                  <m:sub>
                    <m:r>
                      <m:t>valid</m:t>
                    </m:r>
                  </m:sub>
                </m:sSub>
                <m:r>
                  <m:t>)</m:t>
                </m:r>
              </m:oMath>
            </a14:m>
            <a:r>
              <a:rPr sz="1000" b="0">
                <a:solidFill>
                  <a:srgbClr val="222222"/>
                </a:solidFill>
                <a:latin typeface="Arial"/>
              </a:rPr>
              <a:t>: clarify, replan, or auto-approve</a:t>
            </a:r>
          </a:p>
          <a:p>
            <a:pPr>
              <a:spcBef>
                <a:spcPts val="0"/>
              </a:spcBef>
              <a:spcAft>
                <a:spcPts val="200"/>
              </a:spcAft>
              <a:defRPr sz="1000">
                <a:solidFill>
                  <a:srgbClr val="222222"/>
                </a:solidFill>
              </a:defRPr>
            </a:pPr>
            <a:r>
              <a:rPr sz="1000" b="0">
                <a:solidFill>
                  <a:srgbClr val="222222"/>
                </a:solidFill>
                <a:latin typeface="Arial"/>
              </a:rPr>
              <a:t>•  Guarantees physical safety (</a:t>
            </a:r>
            <a14:m xmlns:a14="http://schemas.microsoft.com/office/drawing/2010/main" xmlns:m="http://schemas.openxmlformats.org/officeDocument/2006/math">
              <m:oMath>
                <m:r>
                  <m:t>UAR = 0</m:t>
                </m:r>
              </m:oMath>
            </a14:m>
            <a:r>
              <a:rPr sz="1000" b="0">
                <a:solidFill>
                  <a:srgbClr val="222222"/>
                </a:solidFill>
                <a:latin typeface="Arial"/>
              </a:rPr>
              <a:t>) with &lt;5 ms calculation latency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7</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End-to-End System Architecture &amp; Pipeline Flow</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1</a:t>
            </a:r>
          </a:p>
        </p:txBody>
      </p:sp>
      <p:sp>
        <p:nvSpPr>
          <p:cNvPr id="9" name="TextBox 8"/>
          <p:cNvSpPr txBox="1"/>
          <p:nvPr/>
        </p:nvSpPr>
        <p:spPr>
          <a:xfrm>
            <a:off x="67665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Optical RAG</a:t>
            </a:r>
          </a:p>
          <a:p>
            <a:pPr algn="l">
              <a:spcBef>
                <a:spcPts val="400"/>
              </a:spcBef>
              <a:defRPr sz="950">
                <a:solidFill>
                  <a:srgbClr val="222222"/>
                </a:solidFill>
              </a:defRPr>
            </a:pPr>
            <a:r>
              <a:rPr sz="950" b="0">
                <a:solidFill>
                  <a:srgbClr val="222222"/>
                </a:solidFill>
                <a:latin typeface="Arial"/>
              </a:rPr>
              <a:t>Enrich </a:t>
            </a:r>
            <a14:m xmlns:a14="http://schemas.microsoft.com/office/drawing/2010/main" xmlns:m="http://schemas.openxmlformats.org/officeDocument/2006/math">
              <m:oMath>
                <m:sSub>
                  <m:e>
                    <m:r>
                      <m:t>ℐ</m:t>
                    </m:r>
                  </m:e>
                  <m:sub>
                    <m:r>
                      <m:t>NL</m:t>
                    </m:r>
                  </m:sub>
                </m:sSub>
              </m:oMath>
            </a14:m>
            <a:r>
              <a:rPr sz="950" b="0">
                <a:solidFill>
                  <a:srgbClr val="222222"/>
                </a:solidFill>
                <a:latin typeface="Arial"/>
              </a:rPr>
              <a:t> with ITU-T grid &amp; transponders</a:t>
            </a:r>
          </a:p>
        </p:txBody>
      </p:sp>
      <p:sp>
        <p:nvSpPr>
          <p:cNvPr id="10" name="Right Arrow 9"/>
          <p:cNvSpPr/>
          <p:nvPr/>
        </p:nvSpPr>
        <p:spPr>
          <a:xfrm>
            <a:off x="20078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2326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2326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2</a:t>
            </a:r>
          </a:p>
        </p:txBody>
      </p:sp>
      <p:sp>
        <p:nvSpPr>
          <p:cNvPr id="13" name="TextBox 12"/>
          <p:cNvSpPr txBox="1"/>
          <p:nvPr/>
        </p:nvSpPr>
        <p:spPr>
          <a:xfrm>
            <a:off x="22692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PDDL Parser</a:t>
            </a:r>
          </a:p>
          <a:p>
            <a:pPr algn="l">
              <a:spcBef>
                <a:spcPts val="400"/>
              </a:spcBef>
              <a:defRPr sz="950">
                <a:solidFill>
                  <a:srgbClr val="222222"/>
                </a:solidFill>
              </a:defRPr>
            </a:pPr>
            <a:r>
              <a:rPr sz="950" b="0">
                <a:solidFill>
                  <a:srgbClr val="222222"/>
                </a:solidFill>
                <a:latin typeface="Arial"/>
              </a:rPr>
              <a:t>Translate intent into formal PDDL </a:t>
            </a:r>
            <a14:m xmlns:a14="http://schemas.microsoft.com/office/drawing/2010/main" xmlns:m="http://schemas.openxmlformats.org/officeDocument/2006/math">
              <m:oMath>
                <m:sSub>
                  <m:e>
                    <m:r>
                      <m:t>𝒮</m:t>
                    </m:r>
                  </m:e>
                  <m:sub>
                    <m:r>
                      <m:t>PDDL</m:t>
                    </m:r>
                  </m:sub>
                </m:sSub>
              </m:oMath>
            </a14:m>
            <a:r>
              <a:rPr sz="950" b="0">
                <a:solidFill>
                  <a:srgbClr val="222222"/>
                </a:solidFill>
                <a:latin typeface="Arial"/>
              </a:rPr>
              <a:t> AST</a:t>
            </a:r>
          </a:p>
        </p:txBody>
      </p:sp>
      <p:sp>
        <p:nvSpPr>
          <p:cNvPr id="14" name="Right Arrow 13"/>
          <p:cNvSpPr/>
          <p:nvPr/>
        </p:nvSpPr>
        <p:spPr>
          <a:xfrm>
            <a:off x="360045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825240" y="1234440"/>
            <a:ext cx="1325880" cy="384048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825240" y="1234440"/>
            <a:ext cx="1325880" cy="50292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3</a:t>
            </a:r>
          </a:p>
        </p:txBody>
      </p:sp>
      <p:sp>
        <p:nvSpPr>
          <p:cNvPr id="17" name="TextBox 16"/>
          <p:cNvSpPr txBox="1"/>
          <p:nvPr/>
        </p:nvSpPr>
        <p:spPr>
          <a:xfrm>
            <a:off x="3861816" y="1773936"/>
            <a:ext cx="1252728" cy="3264408"/>
          </a:xfrm>
          <a:prstGeom prst="rect">
            <a:avLst/>
          </a:prstGeom>
          <a:noFill/>
        </p:spPr>
        <p:txBody>
          <a:bodyPr wrap="square" tIns="54864" lIns="36576" rIns="36576">
            <a:spAutoFit/>
          </a:bodyPr>
          <a:lstStyle/>
          <a:p>
            <a:pPr algn="ctr">
              <a:defRPr sz="1100" b="1">
                <a:solidFill>
                  <a:srgbClr val="B07D00"/>
                </a:solidFill>
                <a:latin typeface="Titillium Web SemiBold"/>
              </a:defRPr>
            </a:pPr>
            <a:r>
              <a:t>Semantic Gate</a:t>
            </a:r>
          </a:p>
          <a:p>
            <a:pPr algn="ctr">
              <a:defRPr sz="900" b="1">
                <a:solidFill>
                  <a:srgbClr val="B07D00"/>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  Evaluate CFG </a:t>
            </a:r>
            <a14:m xmlns:a14="http://schemas.microsoft.com/office/drawing/2010/main" xmlns:m="http://schemas.openxmlformats.org/officeDocument/2006/math">
              <m:oMath>
                <m:sSub>
                  <m:e>
                    <m:r>
                      <m:t>v</m:t>
                    </m:r>
                  </m:e>
                  <m:sub>
                    <m:r>
                      <m:t>struct</m:t>
                    </m:r>
                  </m:sub>
                </m:sSub>
              </m:oMath>
            </a14:m>
          </a:p>
          <a:p>
            <a:pPr algn="l">
              <a:spcBef>
                <a:spcPts val="200"/>
              </a:spcBef>
              <a:defRPr sz="950">
                <a:solidFill>
                  <a:srgbClr val="222222"/>
                </a:solidFill>
              </a:defRPr>
            </a:pPr>
            <a:r>
              <a:rPr sz="950" b="0">
                <a:solidFill>
                  <a:srgbClr val="222222"/>
                </a:solidFill>
                <a:latin typeface="Arial"/>
              </a:rPr>
              <a:t>•  Reverse Prompting </a:t>
            </a:r>
            <a14:m xmlns:a14="http://schemas.microsoft.com/office/drawing/2010/main" xmlns:m="http://schemas.openxmlformats.org/officeDocument/2006/math">
              <m:oMath>
                <m:sSub>
                  <m:e>
                    <m:r>
                      <m:t>d</m:t>
                    </m:r>
                  </m:e>
                  <m:sub>
                    <m:r>
                      <m:t>sem</m:t>
                    </m:r>
                  </m:sub>
                </m:sSub>
              </m:oMath>
            </a14:m>
          </a:p>
        </p:txBody>
      </p:sp>
      <p:sp>
        <p:nvSpPr>
          <p:cNvPr id="18" name="Right Arrow 17"/>
          <p:cNvSpPr/>
          <p:nvPr/>
        </p:nvSpPr>
        <p:spPr>
          <a:xfrm>
            <a:off x="519303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1782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1782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4</a:t>
            </a:r>
          </a:p>
        </p:txBody>
      </p:sp>
      <p:sp>
        <p:nvSpPr>
          <p:cNvPr id="21" name="TextBox 20"/>
          <p:cNvSpPr txBox="1"/>
          <p:nvPr/>
        </p:nvSpPr>
        <p:spPr>
          <a:xfrm>
            <a:off x="545439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Symbolic Solver</a:t>
            </a:r>
          </a:p>
          <a:p>
            <a:pPr algn="l">
              <a:spcBef>
                <a:spcPts val="400"/>
              </a:spcBef>
              <a:defRPr sz="950">
                <a:solidFill>
                  <a:srgbClr val="222222"/>
                </a:solidFill>
              </a:defRPr>
            </a:pPr>
            <a:r>
              <a:rPr sz="950" b="0">
                <a:solidFill>
                  <a:srgbClr val="222222"/>
                </a:solidFill>
                <a:latin typeface="Arial"/>
              </a:rPr>
              <a:t>Scoped GraphRAG &amp; Yen's </a:t>
            </a:r>
            <a14:m xmlns:a14="http://schemas.microsoft.com/office/drawing/2010/main" xmlns:m="http://schemas.openxmlformats.org/officeDocument/2006/math">
              <m:oMath>
                <m:r>
                  <m:t>K</m:t>
                </m:r>
                <m:r>
                  <m:t>-SP</m:t>
                </m:r>
              </m:oMath>
            </a14:m>
            <a:r>
              <a:rPr sz="950" b="0">
                <a:solidFill>
                  <a:srgbClr val="222222"/>
                </a:solidFill>
                <a:latin typeface="Arial"/>
              </a:rPr>
              <a:t> routing</a:t>
            </a:r>
          </a:p>
        </p:txBody>
      </p:sp>
      <p:sp>
        <p:nvSpPr>
          <p:cNvPr id="22" name="Right Arrow 21"/>
          <p:cNvSpPr/>
          <p:nvPr/>
        </p:nvSpPr>
        <p:spPr>
          <a:xfrm>
            <a:off x="678561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040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01040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5</a:t>
            </a:r>
          </a:p>
        </p:txBody>
      </p:sp>
      <p:sp>
        <p:nvSpPr>
          <p:cNvPr id="25" name="TextBox 24"/>
          <p:cNvSpPr txBox="1"/>
          <p:nvPr/>
        </p:nvSpPr>
        <p:spPr>
          <a:xfrm>
            <a:off x="704697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QoT Physics</a:t>
            </a:r>
          </a:p>
          <a:p>
            <a:pPr algn="l">
              <a:spcBef>
                <a:spcPts val="400"/>
              </a:spcBef>
              <a:defRPr sz="950">
                <a:solidFill>
                  <a:srgbClr val="222222"/>
                </a:solidFill>
              </a:defRPr>
            </a:pPr>
            <a:r>
              <a:rPr sz="950" b="0">
                <a:solidFill>
                  <a:srgbClr val="222222"/>
                </a:solidFill>
                <a:latin typeface="Arial"/>
              </a:rPr>
              <a:t>Deterministic GN-model </a:t>
            </a:r>
            <a14:m xmlns:a14="http://schemas.microsoft.com/office/drawing/2010/main" xmlns:m="http://schemas.openxmlformats.org/officeDocument/2006/math">
              <m:oMath>
                <m:r>
                  <m:t>GSNR</m:t>
                </m:r>
              </m:oMath>
            </a14:m>
            <a:r>
              <a:rPr sz="950" b="0">
                <a:solidFill>
                  <a:srgbClr val="222222"/>
                </a:solidFill>
                <a:latin typeface="Arial"/>
              </a:rPr>
              <a:t> calculation</a:t>
            </a:r>
          </a:p>
        </p:txBody>
      </p:sp>
      <p:sp>
        <p:nvSpPr>
          <p:cNvPr id="26" name="Right Arrow 25"/>
          <p:cNvSpPr/>
          <p:nvPr/>
        </p:nvSpPr>
        <p:spPr>
          <a:xfrm>
            <a:off x="837819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602980" y="1234440"/>
            <a:ext cx="1325880" cy="38404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02980" y="1234440"/>
            <a:ext cx="1325880" cy="50292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6</a:t>
            </a:r>
          </a:p>
        </p:txBody>
      </p:sp>
      <p:sp>
        <p:nvSpPr>
          <p:cNvPr id="29" name="TextBox 28"/>
          <p:cNvSpPr txBox="1"/>
          <p:nvPr/>
        </p:nvSpPr>
        <p:spPr>
          <a:xfrm>
            <a:off x="8639556" y="1773936"/>
            <a:ext cx="1252728" cy="3264408"/>
          </a:xfrm>
          <a:prstGeom prst="rect">
            <a:avLst/>
          </a:prstGeom>
          <a:noFill/>
        </p:spPr>
        <p:txBody>
          <a:bodyPr wrap="square" tIns="54864" lIns="36576" rIns="36576">
            <a:spAutoFit/>
          </a:bodyPr>
          <a:lstStyle/>
          <a:p>
            <a:pPr algn="ctr">
              <a:defRPr sz="1100" b="1">
                <a:solidFill>
                  <a:srgbClr val="85200C"/>
                </a:solidFill>
                <a:latin typeface="Titillium Web SemiBold"/>
              </a:defRPr>
            </a:pPr>
            <a:r>
              <a:t>Feasibility Gate</a:t>
            </a:r>
          </a:p>
          <a:p>
            <a:pPr algn="ctr">
              <a:defRPr sz="900" b="1">
                <a:solidFill>
                  <a:srgbClr val="85200C"/>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Piecewise risk gate </a:t>
            </a:r>
            <a14:m xmlns:a14="http://schemas.microsoft.com/office/drawing/2010/main" xmlns:m="http://schemas.openxmlformats.org/officeDocument/2006/math">
              <m:oMath>
                <m:r>
                  <m:t>D(</m:t>
                </m:r>
                <m:sSub>
                  <m:e>
                    <m:r>
                      <m:t>U</m:t>
                    </m:r>
                  </m:e>
                  <m:sub>
                    <m:r>
                      <m:t>sem</m:t>
                    </m:r>
                  </m:sub>
                </m:sSub>
                <m:r>
                  <m:t>, QoT)</m:t>
                </m:r>
              </m:oMath>
            </a14:m>
          </a:p>
        </p:txBody>
      </p:sp>
      <p:sp>
        <p:nvSpPr>
          <p:cNvPr id="30" name="Right Arrow 29"/>
          <p:cNvSpPr/>
          <p:nvPr/>
        </p:nvSpPr>
        <p:spPr>
          <a:xfrm>
            <a:off x="99707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955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1955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7</a:t>
            </a:r>
          </a:p>
        </p:txBody>
      </p:sp>
      <p:sp>
        <p:nvSpPr>
          <p:cNvPr id="33" name="TextBox 32"/>
          <p:cNvSpPr txBox="1"/>
          <p:nvPr/>
        </p:nvSpPr>
        <p:spPr>
          <a:xfrm>
            <a:off x="102321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Plan Synthesizer</a:t>
            </a:r>
          </a:p>
          <a:p>
            <a:pPr algn="l">
              <a:spcBef>
                <a:spcPts val="400"/>
              </a:spcBef>
              <a:defRPr sz="950">
                <a:solidFill>
                  <a:srgbClr val="222222"/>
                </a:solidFill>
              </a:defRPr>
            </a:pPr>
            <a:r>
              <a:rPr sz="950" b="0">
                <a:solidFill>
                  <a:srgbClr val="222222"/>
                </a:solidFill>
                <a:latin typeface="Arial"/>
              </a:rPr>
              <a:t>Auditable report &amp; deployment commands</a:t>
            </a:r>
          </a:p>
        </p:txBody>
      </p:sp>
      <p:sp>
        <p:nvSpPr>
          <p:cNvPr id="34" name="Rounded Rectangle 33"/>
          <p:cNvSpPr/>
          <p:nvPr/>
        </p:nvSpPr>
        <p:spPr>
          <a:xfrm>
            <a:off x="640080" y="5349240"/>
            <a:ext cx="5212080" cy="868680"/>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376672"/>
            <a:ext cx="5120640" cy="804672"/>
          </a:xfrm>
          <a:prstGeom prst="rect">
            <a:avLst/>
          </a:prstGeom>
          <a:noFill/>
        </p:spPr>
        <p:txBody>
          <a:bodyPr wrap="square" tIns="36576">
            <a:spAutoFit/>
          </a:bodyPr>
          <a:lstStyle/>
          <a:p>
            <a:pPr>
              <a:defRPr sz="1200" b="1">
                <a:solidFill>
                  <a:srgbClr val="B07D00"/>
                </a:solidFill>
                <a:latin typeface="Titillium Web SemiBold"/>
              </a:defRPr>
            </a:pPr>
            <a:r>
              <a:t>⏸️ Phase 3b: Clarify Loop (LangGraph interrupt())</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U</m:t>
                    </m:r>
                  </m:e>
                  <m:sub>
                    <m:r>
                      <m:t>sem</m:t>
                    </m:r>
                  </m:sub>
                </m:sSub>
                <m:r>
                  <m:t> &gt; </m:t>
                </m:r>
                <m:sSub>
                  <m:e>
                    <m:r>
                      <m:t>τ</m:t>
                    </m:r>
                  </m:e>
                  <m:sub>
                    <m:r>
                      <m:t>sem</m:t>
                    </m:r>
                  </m:sub>
                </m:sSub>
              </m:oMath>
            </a14:m>
            <a:r>
              <a:rPr sz="1000" b="0">
                <a:solidFill>
                  <a:srgbClr val="222222"/>
                </a:solidFill>
                <a:latin typeface="Arial"/>
              </a:rPr>
              <a:t>: Pauses execution and prompts operator for intent disambiguation</a:t>
            </a:r>
          </a:p>
        </p:txBody>
      </p:sp>
      <p:sp>
        <p:nvSpPr>
          <p:cNvPr id="36" name="Rounded Rectangle 35"/>
          <p:cNvSpPr/>
          <p:nvPr/>
        </p:nvSpPr>
        <p:spPr>
          <a:xfrm>
            <a:off x="6217920" y="5349240"/>
            <a:ext cx="5212080" cy="86868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3640" y="5376672"/>
            <a:ext cx="5120640" cy="804672"/>
          </a:xfrm>
          <a:prstGeom prst="rect">
            <a:avLst/>
          </a:prstGeom>
          <a:noFill/>
        </p:spPr>
        <p:txBody>
          <a:bodyPr wrap="square" tIns="36576">
            <a:spAutoFit/>
          </a:bodyPr>
          <a:lstStyle/>
          <a:p>
            <a:pPr>
              <a:defRPr sz="1200" b="1">
                <a:solidFill>
                  <a:srgbClr val="85200C"/>
                </a:solidFill>
                <a:latin typeface="Titillium Web SemiBold"/>
              </a:defRPr>
            </a:pPr>
            <a:r>
              <a:t>↺ Phase 6: Suggest Replan Loop (Physics Unfeasible)</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QoT</m:t>
                    </m:r>
                  </m:e>
                  <m:sub>
                    <m:r>
                      <m:t>valid</m:t>
                    </m:r>
                  </m:sub>
                </m:sSub>
                <m:r>
                  <m:t> = 0</m:t>
                </m:r>
              </m:oMath>
            </a14:m>
            <a:r>
              <a:rPr sz="1000" b="0">
                <a:solidFill>
                  <a:srgbClr val="222222"/>
                </a:solidFill>
                <a:latin typeface="Arial"/>
              </a:rPr>
              <a:t>: Suggests operator to relax constraints (lower baud rate, alternate link)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8</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Token Saturation: Scoped Optical GraphRAG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61695" y="1188720"/>
            <a:ext cx="850392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37513"/>
            <a:ext cx="5120640" cy="645566"/>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Deterministic Subtopology Scoping</a:t>
            </a:r>
          </a:p>
        </p:txBody>
      </p:sp>
      <p:sp>
        <p:nvSpPr>
          <p:cNvPr id="9" name="Down Arrow 8"/>
          <p:cNvSpPr/>
          <p:nvPr/>
        </p:nvSpPr>
        <p:spPr>
          <a:xfrm>
            <a:off x="3027578" y="1897380"/>
            <a:ext cx="701344" cy="2064715"/>
          </a:xfrm>
          <a:prstGeom prst="downArrow">
            <a:avLst/>
          </a:prstGeom>
          <a:solidFill>
            <a:srgbClr val="85200C"/>
          </a:solidFill>
          <a:ln>
            <a:solidFill>
              <a:srgbClr val="F4F6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22983" y="2031796"/>
            <a:ext cx="2910535" cy="569671"/>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defRPr sz="1200" b="1">
                <a:solidFill>
                  <a:srgbClr val="222222"/>
                </a:solidFill>
                <a:latin typeface="Titillium Web SemiBold"/>
              </a:defRPr>
            </a:pPr>
            <a:r>
              <a:t>Raw JSON contains excessive telemetry:</a:t>
            </a:r>
          </a:p>
          <a:p>
            <a:pPr algn="ctr">
              <a:defRPr sz="1200" b="1">
                <a:solidFill>
                  <a:srgbClr val="222222"/>
                </a:solidFill>
                <a:latin typeface="Titillium Web SemiBold"/>
              </a:defRPr>
            </a:pPr>
            <a:r>
              <a:t>ROADM ports, EDFAs, fibers</a:t>
            </a:r>
          </a:p>
        </p:txBody>
      </p:sp>
      <p:sp>
        <p:nvSpPr>
          <p:cNvPr id="11" name="Rounded Rectangle 10"/>
          <p:cNvSpPr/>
          <p:nvPr/>
        </p:nvSpPr>
        <p:spPr>
          <a:xfrm>
            <a:off x="1891893" y="2839212"/>
            <a:ext cx="2941624" cy="569671"/>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91440" bIns="36576"/>
          <a:lstStyle/>
          <a:p>
            <a:pPr algn="ctr">
              <a:defRPr sz="1200" b="1">
                <a:solidFill>
                  <a:srgbClr val="222222"/>
                </a:solidFill>
                <a:latin typeface="Titillium Web SemiBold"/>
              </a:defRPr>
            </a:pPr>
            <a:r>
              <a:t>Full topology dumps overwhelm LLM context windows</a:t>
            </a:r>
          </a:p>
        </p:txBody>
      </p:sp>
      <p:sp>
        <p:nvSpPr>
          <p:cNvPr id="12" name="Rounded Rectangle 11"/>
          <p:cNvSpPr/>
          <p:nvPr/>
        </p:nvSpPr>
        <p:spPr>
          <a:xfrm>
            <a:off x="1626717" y="3962095"/>
            <a:ext cx="3627424" cy="541324"/>
          </a:xfrm>
          <a:prstGeom prst="roundRect">
            <a:avLst/>
          </a:prstGeom>
          <a:solidFill>
            <a:srgbClr val="FFFFFF"/>
          </a:solidFill>
          <a:ln w="127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defRPr sz="1200" b="1">
                <a:solidFill>
                  <a:srgbClr val="1A7F37"/>
                </a:solidFill>
                <a:latin typeface="Titillium Web SemiBold"/>
              </a:defRPr>
            </a:pPr>
            <a:r>
              <a:t>Mock GraphRAG extracts localized subtopology</a:t>
            </a:r>
          </a:p>
          <a:p>
            <a:pPr algn="ctr">
              <a:defRPr sz="1200">
                <a:solidFill>
                  <a:srgbClr val="1A7F37"/>
                </a:solidFill>
              </a:defRPr>
            </a:pPr>
            <a14:m xmlns:a14="http://schemas.microsoft.com/office/drawing/2010/main" xmlns:m="http://schemas.openxmlformats.org/officeDocument/2006/math">
              <m:oMath>
                <m:sSub>
                  <m:e>
                    <m:r>
                      <m:t>G</m:t>
                    </m:r>
                  </m:e>
                  <m:sub>
                    <m:r>
                      <m:t>sub</m:t>
                    </m:r>
                  </m:sub>
                </m:sSub>
                <m:r>
                  <m:t> ⊆ G</m:t>
                </m:r>
              </m:oMath>
            </a14:m>
          </a:p>
        </p:txBody>
      </p:sp>
      <p:sp>
        <p:nvSpPr>
          <p:cNvPr id="13" name="TextBox 12"/>
          <p:cNvSpPr txBox="1"/>
          <p:nvPr/>
        </p:nvSpPr>
        <p:spPr>
          <a:xfrm>
            <a:off x="1000353" y="4752136"/>
            <a:ext cx="4754880" cy="645566"/>
          </a:xfrm>
          <a:prstGeom prst="rect">
            <a:avLst/>
          </a:prstGeom>
          <a:noFill/>
        </p:spPr>
        <p:txBody>
          <a:bodyPr wrap="square">
            <a:spAutoFit/>
          </a:bodyPr>
          <a:lstStyle/>
          <a:p>
            <a:pPr>
              <a:spcBef>
                <a:spcPts val="0"/>
              </a:spcBef>
              <a:spcAft>
                <a:spcPts val="200"/>
              </a:spcAft>
              <a:defRPr sz="1100" b="1">
                <a:solidFill>
                  <a:srgbClr val="0F2C53"/>
                </a:solidFill>
                <a:latin typeface="Titillium Web SemiBold"/>
              </a:defRPr>
            </a:pPr>
            <a:r>
              <a:t>Mathematical Scoping Bound:</a:t>
            </a:r>
          </a:p>
          <a:p>
            <a:pPr algn="ctr">
              <a:defRPr sz="1200">
                <a:solidFill>
                  <a:srgbClr val="0F2C53"/>
                </a:solidFill>
              </a:defRPr>
            </a:pPr>
            <a14:m xmlns:a14="http://schemas.microsoft.com/office/drawing/2010/main" xmlns:m="http://schemas.openxmlformats.org/officeDocument/2006/math">
              <m:oMathPara>
                <m:oMath>
                  <m:sSub>
                    <m:e>
                      <m:r>
                        <m:t>G</m:t>
                      </m:r>
                    </m:e>
                    <m:sub>
                      <m:r>
                        <m:t>sub</m:t>
                      </m:r>
                    </m:sub>
                  </m:sSub>
                  <m:r>
                    <m:t> = (</m:t>
                  </m:r>
                  <m:sSub>
                    <m:e>
                      <m:r>
                        <m:t>V</m:t>
                      </m:r>
                    </m:e>
                    <m:sub>
                      <m:r>
                        <m:t>sub</m:t>
                      </m:r>
                    </m:sub>
                  </m:sSub>
                  <m:r>
                    <m:t>, </m:t>
                  </m:r>
                  <m:sSub>
                    <m:e>
                      <m:r>
                        <m:t>E</m:t>
                      </m:r>
                    </m:e>
                    <m:sub>
                      <m:r>
                        <m:t>sub</m:t>
                      </m:r>
                    </m:sub>
                  </m:sSub>
                  <m:r>
                    <m:t>) ⊆ G</m:t>
                  </m:r>
                </m:oMath>
              </m:oMathPara>
            </a14:m>
          </a:p>
          <a:p>
            <a:pPr algn="ctr">
              <a:defRPr sz="1200">
                <a:solidFill>
                  <a:srgbClr val="0F2C53"/>
                </a:solidFill>
              </a:defRPr>
            </a:pPr>
            <a14:m xmlns:a14="http://schemas.microsoft.com/office/drawing/2010/main" xmlns:m="http://schemas.openxmlformats.org/officeDocument/2006/math">
              <m:oMathPara>
                <m:oMath>
                  <m:sSub>
                    <m:e>
                      <m:r>
                        <m:t>T</m:t>
                      </m:r>
                    </m:e>
                    <m:sub>
                      <m:r>
                        <m:t>prompt</m:t>
                      </m:r>
                    </m:sub>
                  </m:sSub>
                  <m:r>
                    <m:t>(</m:t>
                  </m:r>
                  <m:sSub>
                    <m:e>
                      <m:r>
                        <m:t>G</m:t>
                      </m:r>
                    </m:e>
                    <m:sub>
                      <m:r>
                        <m:t>sub</m:t>
                      </m:r>
                    </m:sub>
                  </m:sSub>
                  <m:r>
                    <m:t>) ≪ </m:t>
                  </m:r>
                  <m:sSub>
                    <m:e>
                      <m:r>
                        <m:t>T</m:t>
                      </m:r>
                    </m:e>
                    <m:sub>
                      <m:r>
                        <m:t>prompt</m:t>
                      </m:r>
                    </m:sub>
                  </m:sSub>
                  <m:r>
                    <m:t>(G)</m:t>
                  </m:r>
                </m:oMath>
              </m:oMathPara>
            </a14:m>
          </a:p>
        </p:txBody>
      </p:sp>
      <p:pic>
        <p:nvPicPr>
          <p:cNvPr id="14" name="Picture 13"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pic>
        <p:nvPicPr>
          <p:cNvPr id="15" name="Picture 14" descr="germany_17nodes_opaco.jpg"/>
          <p:cNvPicPr>
            <a:picLocks noChangeAspect="1"/>
          </p:cNvPicPr>
          <p:nvPr/>
        </p:nvPicPr>
        <p:blipFill>
          <a:blip r:embed="rId3"/>
          <a:stretch>
            <a:fillRect/>
          </a:stretch>
        </p:blipFill>
        <p:spPr>
          <a:xfrm>
            <a:off x="6263640" y="1897380"/>
            <a:ext cx="5029200" cy="3355848"/>
          </a:xfrm>
          <a:prstGeom prst="rect">
            <a:avLst/>
          </a:prstGeom>
          <a:ln w="12700">
            <a:solidFill>
              <a:srgbClr val="D0D7DE"/>
            </a:solidFill>
          </a:ln>
        </p:spPr>
      </p:pic>
      <p:sp>
        <p:nvSpPr>
          <p:cNvPr id="16" name="TextBox 15"/>
          <p:cNvSpPr txBox="1"/>
          <p:nvPr/>
        </p:nvSpPr>
        <p:spPr>
          <a:xfrm>
            <a:off x="6263640" y="5053888"/>
            <a:ext cx="5029200" cy="215798"/>
          </a:xfrm>
          <a:prstGeom prst="rect">
            <a:avLst/>
          </a:prstGeom>
          <a:noFill/>
        </p:spPr>
        <p:txBody>
          <a:bodyPr wrap="square">
            <a:spAutoFit/>
          </a:bodyPr>
          <a:lstStyle/>
          <a:p>
            <a:pPr>
              <a:defRPr sz="800">
                <a:solidFill>
                  <a:srgbClr val="222222"/>
                </a:solidFill>
                <a:latin typeface="Arial"/>
              </a:defRPr>
            </a:pPr>
            <a:r>
              <a:t>From: https://topolib.readthedocs.io/en/latest/topology_repository.html</a:t>
            </a:r>
          </a:p>
        </p:txBody>
      </p:sp>
      <p:sp>
        <p:nvSpPr>
          <p:cNvPr id="17" name="Rounded Rectangle 16"/>
          <p:cNvSpPr/>
          <p:nvPr/>
        </p:nvSpPr>
        <p:spPr>
          <a:xfrm>
            <a:off x="6263640" y="5449824"/>
            <a:ext cx="5029200" cy="43891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3"/>
                </a:solidFill>
                <a:latin typeface="Titillium Web SemiBold"/>
              </a:defRPr>
            </a:pPr>
            <a:r>
              <a:t>e.g.  Frankfurt ➔ Munich demand: Northern nodes pruned from LLM prompt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9</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Semantic Drift: Reverse Prompting &amp; HITL</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2784" y="1143000"/>
            <a:ext cx="7781544"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097280"/>
            <a:ext cx="5212080" cy="6858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sz="1500" b="1">
                <a:solidFill>
                  <a:srgbClr val="FFFFFF"/>
                </a:solidFill>
                <a:latin typeface="Titillium Web SemiBold"/>
              </a:rPr>
              <a:t>🧠 Two-Layer Semantic Uncertainty (</a:t>
            </a:r>
            <a14:m xmlns:a14="http://schemas.microsoft.com/office/drawing/2010/main" xmlns:m="http://schemas.openxmlformats.org/officeDocument/2006/math">
              <m:oMath>
                <m:sSub>
                  <m:e>
                    <m:r>
                      <m:t>U</m:t>
                    </m:r>
                  </m:e>
                  <m:sub>
                    <m:r>
                      <m:t>sem</m:t>
                    </m:r>
                  </m:sub>
                </m:sSub>
              </m:oMath>
            </a14:m>
            <a:r>
              <a:rPr sz="1500" b="1">
                <a:solidFill>
                  <a:srgbClr val="FFFFFF"/>
                </a:solidFill>
                <a:latin typeface="Titillium Web SemiBold"/>
              </a:rPr>
              <a:t>)</a:t>
            </a:r>
          </a:p>
        </p:txBody>
      </p:sp>
      <p:sp>
        <p:nvSpPr>
          <p:cNvPr id="9" name="TextBox 8"/>
          <p:cNvSpPr txBox="1"/>
          <p:nvPr/>
        </p:nvSpPr>
        <p:spPr>
          <a:xfrm>
            <a:off x="969264" y="3401568"/>
            <a:ext cx="5824728" cy="1132027"/>
          </a:xfrm>
          <a:prstGeom prst="rect">
            <a:avLst/>
          </a:prstGeom>
          <a:noFill/>
        </p:spPr>
        <p:txBody>
          <a:bodyPr wrap="square">
            <a:spAutoFit/>
          </a:bodyPr>
          <a:lstStyle/>
          <a:p>
            <a:pPr>
              <a:defRPr sz="1400">
                <a:solidFill>
                  <a:srgbClr val="222222"/>
                </a:solidFill>
              </a:defRPr>
            </a:pPr>
            <a:r>
              <a:rPr sz="1400" b="0">
                <a:solidFill>
                  <a:srgbClr val="222222"/>
                </a:solidFill>
                <a:latin typeface="Arial"/>
              </a:rPr>
              <a:t>Independent LLM judge measures semantic discrepancy </a:t>
            </a:r>
            <a14:m xmlns:a14="http://schemas.microsoft.com/office/drawing/2010/main" xmlns:m="http://schemas.openxmlformats.org/officeDocument/2006/math">
              <m:oMath>
                <m:sSub>
                  <m:e>
                    <m:r>
                      <m:t>d</m:t>
                    </m:r>
                  </m:e>
                  <m:sub>
                    <m:r>
                      <m:t>sem</m:t>
                    </m:r>
                  </m:sub>
                </m:sSub>
                <m:r>
                  <m:t> ∈ [0, 1]</m:t>
                </m:r>
              </m:oMath>
            </a14:m>
          </a:p>
          <a:p>
            <a:pPr>
              <a:spcBef>
                <a:spcPts val="400"/>
              </a:spcBef>
              <a:defRPr sz="1400">
                <a:solidFill>
                  <a:srgbClr val="222222"/>
                </a:solidFill>
                <a:latin typeface="Arial"/>
              </a:defRPr>
            </a:pPr>
            <a:r>
              <a:t>Uncertainty Formulation:</a:t>
            </a:r>
          </a:p>
          <a:p>
            <a:pPr algn="ctr">
              <a:defRPr sz="1200">
                <a:solidFill>
                  <a:srgbClr val="0F2C53"/>
                </a:solidFill>
              </a:defRPr>
            </a:pPr>
            <a14:m xmlns:a14="http://schemas.microsoft.com/office/drawing/2010/main" xmlns:m="http://schemas.openxmlformats.org/officeDocument/2006/math">
              <m:oMathPara>
                <m:oMath>
                  <m:sSub>
                    <m:e>
                      <m:r>
                        <m:t>U</m:t>
                      </m:r>
                    </m:e>
                    <m:sub>
                      <m:r>
                        <m:t>sem</m:t>
                      </m:r>
                    </m:sub>
                  </m:sSub>
                  <m:r>
                    <m:t> = </m:t>
                  </m:r>
                  <m:d>
                    <m:dPr>
                      <m:begChr m:val="{"/>
                      <m:endChr m:val=""/>
                      <m:grow m:val="1"/>
                    </m:dPr>
                    <m:e>
                      <m:eqArr>
                        <m:e>
                          <m:r>
                            <m:t>1        if </m:t>
                          </m:r>
                          <m:sSub>
                            <m:e>
                              <m:r>
                                <m:t>v</m:t>
                              </m:r>
                            </m:e>
                            <m:sub>
                              <m:r>
                                <m:t>struct</m:t>
                              </m:r>
                            </m:sub>
                          </m:sSub>
                          <m:r>
                            <m:t> = 0</m:t>
                          </m:r>
                        </m:e>
                        <m:e>
                          <m:sSub>
                            <m:e>
                              <m:r>
                                <m:t>d</m:t>
                              </m:r>
                            </m:e>
                            <m:sub>
                              <m:r>
                                <m:t>sem</m:t>
                              </m:r>
                            </m:sub>
                          </m:sSub>
                          <m:r>
                            <m:t>    if </m:t>
                          </m:r>
                          <m:sSub>
                            <m:e>
                              <m:r>
                                <m:t>v</m:t>
                              </m:r>
                            </m:e>
                            <m:sub>
                              <m:r>
                                <m:t>struct</m:t>
                              </m:r>
                            </m:sub>
                          </m:sSub>
                          <m:r>
                            <m:t> = 1</m:t>
                          </m:r>
                        </m:e>
                      </m:eqArr>
                    </m:e>
                  </m:d>
                </m:oMath>
              </m:oMathPara>
            </a14:m>
          </a:p>
        </p:txBody>
      </p:sp>
      <p:sp>
        <p:nvSpPr>
          <p:cNvPr id="10" name="Rounded Rectangle 9"/>
          <p:cNvSpPr/>
          <p:nvPr/>
        </p:nvSpPr>
        <p:spPr>
          <a:xfrm>
            <a:off x="6862572" y="3475634"/>
            <a:ext cx="3883456" cy="73792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Titillium Web SemiBold"/>
              </a:defRPr>
            </a:pPr>
            <a:r>
              <a:t>⏸️ Fail-Fast HITL Clarification Loop</a:t>
            </a:r>
          </a:p>
        </p:txBody>
      </p:sp>
      <p:sp>
        <p:nvSpPr>
          <p:cNvPr id="11" name="Rounded Rectangle 10"/>
          <p:cNvSpPr/>
          <p:nvPr/>
        </p:nvSpPr>
        <p:spPr>
          <a:xfrm>
            <a:off x="6862572" y="4405579"/>
            <a:ext cx="3883456" cy="73792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A7F37"/>
                </a:solidFill>
                <a:latin typeface="Titillium Web SemiBold"/>
              </a:defRPr>
            </a:pPr>
            <a:r>
              <a:t>Fail-Fast Guarantee: Zero computational waste on physics simulation when intent is ambiguous</a:t>
            </a:r>
          </a:p>
        </p:txBody>
      </p:sp>
      <p:sp>
        <p:nvSpPr>
          <p:cNvPr id="12" name="Rounded Rectangle 11"/>
          <p:cNvSpPr/>
          <p:nvPr/>
        </p:nvSpPr>
        <p:spPr>
          <a:xfrm>
            <a:off x="1333195" y="2325319"/>
            <a:ext cx="1950415" cy="747979"/>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a:solidFill>
                  <a:srgbClr val="222222"/>
                </a:solidFill>
                <a:latin typeface="Titillium Web SemiBold"/>
              </a:defRPr>
            </a:pPr>
            <a:r>
              <a:t>Structural</a:t>
            </a:r>
          </a:p>
          <a:p>
            <a:pPr algn="ctr">
              <a:defRPr sz="1100">
                <a:solidFill>
                  <a:srgbClr val="222222"/>
                </a:solidFill>
              </a:defRPr>
            </a:pPr>
            <a:r>
              <a:rPr sz="1100" b="0">
                <a:solidFill>
                  <a:srgbClr val="222222"/>
                </a:solidFill>
                <a:latin typeface="Arial"/>
              </a:rPr>
              <a:t>CFG regex AST checks (</a:t>
            </a:r>
            <a14:m xmlns:a14="http://schemas.microsoft.com/office/drawing/2010/main" xmlns:m="http://schemas.openxmlformats.org/officeDocument/2006/math">
              <m:oMath>
                <m:sSub>
                  <m:e>
                    <m:r>
                      <m:t>v</m:t>
                    </m:r>
                  </m:e>
                  <m:sub>
                    <m:r>
                      <m:t>struct</m:t>
                    </m:r>
                  </m:sub>
                </m:sSub>
                <m:r>
                  <m:t> ∈ {0, 1}</m:t>
                </m:r>
              </m:oMath>
            </a14:m>
            <a:r>
              <a:rPr sz="1100" b="0">
                <a:solidFill>
                  <a:srgbClr val="222222"/>
                </a:solidFill>
                <a:latin typeface="Arial"/>
              </a:rPr>
              <a:t>)</a:t>
            </a:r>
          </a:p>
        </p:txBody>
      </p:sp>
      <p:sp>
        <p:nvSpPr>
          <p:cNvPr id="13" name="Rounded Rectangle 12"/>
          <p:cNvSpPr/>
          <p:nvPr/>
        </p:nvSpPr>
        <p:spPr>
          <a:xfrm>
            <a:off x="3696004" y="2354580"/>
            <a:ext cx="1950415" cy="747979"/>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a:solidFill>
                  <a:srgbClr val="222222"/>
                </a:solidFill>
                <a:latin typeface="Titillium Web SemiBold"/>
              </a:defRPr>
            </a:pPr>
            <a:r>
              <a:t>Semantic</a:t>
            </a:r>
          </a:p>
          <a:p>
            <a:pPr algn="ctr">
              <a:defRPr sz="1100" b="1">
                <a:solidFill>
                  <a:srgbClr val="222222"/>
                </a:solidFill>
                <a:latin typeface="Titillium Web SemiBold"/>
              </a:defRPr>
            </a:pPr>
            <a:r>
              <a:t>Reverse Prompting reconstructs the intent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10</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Pre-Deployment Risk Gate: The RADG Decision Function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89920" cy="2011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10424160" cy="1371600"/>
          </a:xfrm>
          <a:prstGeom prst="rect">
            <a:avLst/>
          </a:prstGeom>
          <a:noFill/>
        </p:spPr>
        <p:txBody>
          <a:bodyPr wrap="square">
            <a:spAutoFit/>
          </a:bodyPr>
          <a:lstStyle/>
          <a:p>
            <a:pPr>
              <a:defRPr sz="1600" b="1">
                <a:solidFill>
                  <a:srgbClr val="0F2C53"/>
                </a:solidFill>
                <a:latin typeface="Titillium Web SemiBold"/>
              </a:defRPr>
            </a:pPr>
            <a:r>
              <a:t>Piecewise Decision Formulation:</a:t>
            </a:r>
          </a:p>
          <a:p/>
          <a:p>
            <a:pPr algn="ctr">
              <a:defRPr sz="1300">
                <a:solidFill>
                  <a:srgbClr val="0F2C53"/>
                </a:solidFill>
              </a:defRPr>
            </a:pPr>
            <a14:m xmlns:a14="http://schemas.microsoft.com/office/drawing/2010/main" xmlns:m="http://schemas.openxmlformats.org/officeDocument/2006/math">
              <m:oMathPara>
                <m:oMath>
                  <m:r>
                    <m:t>D(</m:t>
                  </m:r>
                  <m:sSub>
                    <m:e>
                      <m:r>
                        <m:t>U</m:t>
                      </m:r>
                    </m:e>
                    <m:sub>
                      <m:r>
                        <m:t>sem</m:t>
                      </m:r>
                    </m:sub>
                  </m:sSub>
                  <m:r>
                    <m:t>, </m:t>
                  </m:r>
                  <m:sSub>
                    <m:e>
                      <m:r>
                        <m:t>QoT</m:t>
                      </m:r>
                    </m:e>
                    <m:sub>
                      <m:r>
                        <m:t>valid</m:t>
                      </m:r>
                    </m:sub>
                  </m:sSub>
                  <m:r>
                    <m:t>) = </m:t>
                  </m:r>
                  <m:d>
                    <m:dPr>
                      <m:begChr m:val="{"/>
                      <m:endChr m:val=""/>
                      <m:grow m:val="1"/>
                    </m:dPr>
                    <m:e>
                      <m:eqArr>
                        <m:e>
                          <m:r>
                            <m:t>clarify</m:t>
                          </m:r>
                          <m:r>
                            <m:t>    if </m:t>
                          </m:r>
                          <m:sSub>
                            <m:e>
                              <m:r>
                                <m:t>U</m:t>
                              </m:r>
                            </m:e>
                            <m:sub>
                              <m:r>
                                <m:t>sem</m:t>
                              </m:r>
                            </m:sub>
                          </m:sSub>
                          <m:r>
                            <m:t> &gt; </m:t>
                          </m:r>
                          <m:sSub>
                            <m:e>
                              <m:r>
                                <m:t>τ</m:t>
                              </m:r>
                            </m:e>
                            <m:sub>
                              <m:r>
                                <m:t>sem</m:t>
                              </m:r>
                            </m:sub>
                          </m:sSub>
                        </m:e>
                        <m:e>
                          <m:r>
                            <m:t>replan</m:t>
                          </m:r>
                          <m:r>
                            <m:t>    if </m:t>
                          </m:r>
                          <m:sSub>
                            <m:e>
                              <m:r>
                                <m:t>U</m:t>
                              </m:r>
                            </m:e>
                            <m:sub>
                              <m:r>
                                <m:t>sem</m:t>
                              </m:r>
                            </m:sub>
                          </m:sSub>
                          <m:r>
                            <m:t> ≤ </m:t>
                          </m:r>
                          <m:sSub>
                            <m:e>
                              <m:r>
                                <m:t>τ</m:t>
                              </m:r>
                            </m:e>
                            <m:sub>
                              <m:r>
                                <m:t>sem</m:t>
                              </m:r>
                            </m:sub>
                          </m:sSub>
                          <m:r>
                            <m:t> ∧ </m:t>
                          </m:r>
                          <m:sSub>
                            <m:e>
                              <m:r>
                                <m:t>QoT</m:t>
                              </m:r>
                            </m:e>
                            <m:sub>
                              <m:r>
                                <m:t>valid</m:t>
                              </m:r>
                            </m:sub>
                          </m:sSub>
                          <m:r>
                            <m:t> = 0</m:t>
                          </m:r>
                        </m:e>
                        <m:e>
                          <m:r>
                            <m:t>approve</m:t>
                          </m:r>
                          <m:r>
                            <m:t>    if </m:t>
                          </m:r>
                          <m:sSub>
                            <m:e>
                              <m:r>
                                <m:t>U</m:t>
                              </m:r>
                            </m:e>
                            <m:sub>
                              <m:r>
                                <m:t>sem</m:t>
                              </m:r>
                            </m:sub>
                          </m:sSub>
                          <m:r>
                            <m:t> ≤ </m:t>
                          </m:r>
                          <m:sSub>
                            <m:e>
                              <m:r>
                                <m:t>τ</m:t>
                              </m:r>
                            </m:e>
                            <m:sub>
                              <m:r>
                                <m:t>sem</m:t>
                              </m:r>
                            </m:sub>
                          </m:sSub>
                          <m:r>
                            <m:t> ∧ </m:t>
                          </m:r>
                          <m:sSub>
                            <m:e>
                              <m:r>
                                <m:t>QoT</m:t>
                              </m:r>
                            </m:e>
                            <m:sub>
                              <m:r>
                                <m:t>valid</m:t>
                              </m:r>
                            </m:sub>
                          </m:sSub>
                          <m:r>
                            <m:t> = 1</m:t>
                          </m:r>
                        </m:e>
                      </m:eqArr>
                    </m:e>
                  </m:d>
                </m:oMath>
              </m:oMathPara>
            </a14:m>
          </a:p>
        </p:txBody>
      </p:sp>
      <p:sp>
        <p:nvSpPr>
          <p:cNvPr id="9" name="Rounded Rectangle 8"/>
          <p:cNvSpPr/>
          <p:nvPr/>
        </p:nvSpPr>
        <p:spPr>
          <a:xfrm>
            <a:off x="685800" y="3429000"/>
            <a:ext cx="3444240" cy="274320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3336645"/>
            <a:ext cx="3444240" cy="778154"/>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Clarify Intent</a:t>
            </a:r>
          </a:p>
          <a:p>
            <a:pPr algn="ctr">
              <a:defRPr sz="1200">
                <a:solidFill>
                  <a:srgbClr val="FFFFFF"/>
                </a:solidFill>
              </a:defRPr>
            </a:pPr>
            <a14:m xmlns:a14="http://schemas.microsoft.com/office/drawing/2010/main" xmlns:m="http://schemas.openxmlformats.org/officeDocument/2006/math">
              <m:oMathPara>
                <m:oMath>
                  <m:sSub>
                    <m:e>
                      <m:r>
                        <m:t>U</m:t>
                      </m:r>
                    </m:e>
                    <m:sub>
                      <m:r>
                        <m:t>sem</m:t>
                      </m:r>
                    </m:sub>
                  </m:sSub>
                  <m:r>
                    <m:t> &gt; </m:t>
                  </m:r>
                  <m:sSub>
                    <m:e>
                      <m:r>
                        <m:t>τ</m:t>
                      </m:r>
                    </m:e>
                    <m:sub>
                      <m:r>
                        <m:t>sem</m:t>
                      </m:r>
                    </m:sub>
                  </m:sSub>
                </m:oMath>
              </m:oMathPara>
            </a14:m>
          </a:p>
        </p:txBody>
      </p:sp>
      <p:sp>
        <p:nvSpPr>
          <p:cNvPr id="11" name="TextBox 10"/>
          <p:cNvSpPr txBox="1"/>
          <p:nvPr/>
        </p:nvSpPr>
        <p:spPr>
          <a:xfrm>
            <a:off x="838504" y="4302252"/>
            <a:ext cx="3169920" cy="1261872"/>
          </a:xfrm>
          <a:prstGeom prst="rect">
            <a:avLst/>
          </a:prstGeom>
          <a:noFill/>
        </p:spPr>
        <p:txBody>
          <a:bodyPr wrap="square">
            <a:spAutoFit/>
          </a:bodyPr>
          <a:lstStyle/>
          <a:p>
            <a:pPr>
              <a:spcAft>
                <a:spcPts val="300"/>
              </a:spcAft>
              <a:defRPr sz="1100">
                <a:solidFill>
                  <a:srgbClr val="222222"/>
                </a:solidFill>
              </a:defRPr>
            </a:pPr>
            <a:r>
              <a:rPr sz="1100" b="0">
                <a:solidFill>
                  <a:srgbClr val="222222"/>
                </a:solidFill>
                <a:latin typeface="Arial"/>
              </a:rPr>
              <a:t>•  Trigger: Semantic uncertainty exceeds threshold</a:t>
            </a:r>
          </a:p>
          <a:p>
            <a:pPr>
              <a:spcBef>
                <a:spcPts val="0"/>
              </a:spcBef>
              <a:spcAft>
                <a:spcPts val="300"/>
              </a:spcAft>
              <a:defRPr sz="1100">
                <a:solidFill>
                  <a:srgbClr val="222222"/>
                </a:solidFill>
              </a:defRPr>
            </a:pPr>
            <a:r>
              <a:rPr sz="1100" b="0">
                <a:solidFill>
                  <a:srgbClr val="222222"/>
                </a:solidFill>
                <a:latin typeface="Arial"/>
              </a:rPr>
              <a:t>•  Action: Pause pipeline via interrupt()</a:t>
            </a:r>
          </a:p>
          <a:p>
            <a:pPr>
              <a:spcBef>
                <a:spcPts val="0"/>
              </a:spcBef>
              <a:spcAft>
                <a:spcPts val="300"/>
              </a:spcAft>
              <a:defRPr sz="1100">
                <a:solidFill>
                  <a:srgbClr val="222222"/>
                </a:solidFill>
              </a:defRPr>
            </a:pPr>
            <a:r>
              <a:rPr sz="1100" b="0">
                <a:solidFill>
                  <a:srgbClr val="222222"/>
                </a:solidFill>
                <a:latin typeface="Arial"/>
              </a:rPr>
              <a:t>•  Prompts operator to provide missing data</a:t>
            </a:r>
          </a:p>
          <a:p>
            <a:pPr>
              <a:spcBef>
                <a:spcPts val="0"/>
              </a:spcBef>
              <a:spcAft>
                <a:spcPts val="300"/>
              </a:spcAft>
              <a:defRPr sz="1100">
                <a:solidFill>
                  <a:srgbClr val="222222"/>
                </a:solidFill>
              </a:defRPr>
            </a:pPr>
            <a:r>
              <a:rPr sz="1100" b="0">
                <a:solidFill>
                  <a:srgbClr val="222222"/>
                </a:solidFill>
                <a:latin typeface="Arial"/>
              </a:rPr>
              <a:t>•  Prevents unverified intent from reaching physics</a:t>
            </a:r>
          </a:p>
        </p:txBody>
      </p:sp>
      <p:sp>
        <p:nvSpPr>
          <p:cNvPr id="12" name="Rounded Rectangle 11"/>
          <p:cNvSpPr/>
          <p:nvPr/>
        </p:nvSpPr>
        <p:spPr>
          <a:xfrm>
            <a:off x="4358640" y="3429000"/>
            <a:ext cx="3444240" cy="274320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58640" y="3336645"/>
            <a:ext cx="3444240" cy="778154"/>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Suggest Replan</a:t>
            </a:r>
          </a:p>
          <a:p>
            <a:pPr algn="ctr">
              <a:defRPr sz="1200">
                <a:solidFill>
                  <a:srgbClr val="FFFFFF"/>
                </a:solidFill>
              </a:defRPr>
            </a:pPr>
            <a14:m xmlns:a14="http://schemas.microsoft.com/office/drawing/2010/main" xmlns:m="http://schemas.openxmlformats.org/officeDocument/2006/math">
              <m:oMathPara>
                <m:oMath>
                  <m:sSub>
                    <m:e>
                      <m:r>
                        <m:t>U</m:t>
                      </m:r>
                    </m:e>
                    <m:sub>
                      <m:r>
                        <m:t>sem</m:t>
                      </m:r>
                    </m:sub>
                  </m:sSub>
                  <m:r>
                    <m:t> ≤ </m:t>
                  </m:r>
                  <m:sSub>
                    <m:e>
                      <m:r>
                        <m:t>τ</m:t>
                      </m:r>
                    </m:e>
                    <m:sub>
                      <m:r>
                        <m:t>sem</m:t>
                      </m:r>
                    </m:sub>
                  </m:sSub>
                  <m:r>
                    <m:t> ∧ </m:t>
                  </m:r>
                  <m:sSub>
                    <m:e>
                      <m:r>
                        <m:t>QoT</m:t>
                      </m:r>
                    </m:e>
                    <m:sub>
                      <m:r>
                        <m:t>valid</m:t>
                      </m:r>
                    </m:sub>
                  </m:sSub>
                  <m:r>
                    <m:t> = 0</m:t>
                  </m:r>
                </m:oMath>
              </m:oMathPara>
            </a14:m>
          </a:p>
        </p:txBody>
      </p:sp>
      <p:sp>
        <p:nvSpPr>
          <p:cNvPr id="14" name="TextBox 13"/>
          <p:cNvSpPr txBox="1"/>
          <p:nvPr/>
        </p:nvSpPr>
        <p:spPr>
          <a:xfrm>
            <a:off x="4511344" y="4302252"/>
            <a:ext cx="3169920" cy="1261872"/>
          </a:xfrm>
          <a:prstGeom prst="rect">
            <a:avLst/>
          </a:prstGeom>
          <a:noFill/>
        </p:spPr>
        <p:txBody>
          <a:bodyPr wrap="square">
            <a:spAutoFit/>
          </a:bodyPr>
          <a:lstStyle/>
          <a:p>
            <a:pPr>
              <a:spcAft>
                <a:spcPts val="300"/>
              </a:spcAft>
              <a:defRPr sz="1100">
                <a:solidFill>
                  <a:srgbClr val="222222"/>
                </a:solidFill>
              </a:defRPr>
            </a:pPr>
            <a:r>
              <a:rPr sz="1100" b="0">
                <a:solidFill>
                  <a:srgbClr val="222222"/>
                </a:solidFill>
                <a:latin typeface="Arial"/>
              </a:rPr>
              <a:t>•  Trigger: Valid semantics, but physics infeasible</a:t>
            </a:r>
          </a:p>
          <a:p>
            <a:pPr>
              <a:spcBef>
                <a:spcPts val="0"/>
              </a:spcBef>
              <a:spcAft>
                <a:spcPts val="300"/>
              </a:spcAft>
              <a:defRPr sz="1100">
                <a:solidFill>
                  <a:srgbClr val="222222"/>
                </a:solidFill>
              </a:defRPr>
            </a:pPr>
            <a:r>
              <a:rPr sz="1100" b="0">
                <a:solidFill>
                  <a:srgbClr val="222222"/>
                </a:solidFill>
                <a:latin typeface="Arial"/>
              </a:rPr>
              <a:t>•  Action: Physics failed; notifies operator</a:t>
            </a:r>
          </a:p>
          <a:p>
            <a:pPr>
              <a:spcBef>
                <a:spcPts val="0"/>
              </a:spcBef>
              <a:spcAft>
                <a:spcPts val="300"/>
              </a:spcAft>
              <a:defRPr sz="1100">
                <a:solidFill>
                  <a:srgbClr val="222222"/>
                </a:solidFill>
              </a:defRPr>
            </a:pPr>
            <a:r>
              <a:rPr sz="1100" b="0">
                <a:solidFill>
                  <a:srgbClr val="222222"/>
                </a:solidFill>
                <a:latin typeface="Arial"/>
              </a:rPr>
              <a:t>•  Suggests relaxing constraints (e.g. lower baud rate)</a:t>
            </a:r>
          </a:p>
          <a:p>
            <a:pPr>
              <a:spcBef>
                <a:spcPts val="0"/>
              </a:spcBef>
              <a:spcAft>
                <a:spcPts val="300"/>
              </a:spcAft>
              <a:defRPr sz="1100">
                <a:solidFill>
                  <a:srgbClr val="222222"/>
                </a:solidFill>
              </a:defRPr>
            </a:pPr>
            <a:r>
              <a:rPr sz="1100" b="0">
                <a:solidFill>
                  <a:srgbClr val="222222"/>
                </a:solidFill>
                <a:latin typeface="Arial"/>
              </a:rPr>
              <a:t>•  Loops back to PDDL parsing with feedback</a:t>
            </a:r>
          </a:p>
        </p:txBody>
      </p:sp>
      <p:sp>
        <p:nvSpPr>
          <p:cNvPr id="15" name="Rounded Rectangle 14"/>
          <p:cNvSpPr/>
          <p:nvPr/>
        </p:nvSpPr>
        <p:spPr>
          <a:xfrm>
            <a:off x="8031480" y="3429000"/>
            <a:ext cx="3444240" cy="2743200"/>
          </a:xfrm>
          <a:prstGeom prst="roundRect">
            <a:avLst/>
          </a:prstGeom>
          <a:solidFill>
            <a:srgbClr val="F4F6F9"/>
          </a:solidFill>
          <a:ln w="254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31480" y="3336645"/>
            <a:ext cx="3444240" cy="778154"/>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Auto-Approve</a:t>
            </a:r>
          </a:p>
          <a:p>
            <a:pPr algn="ctr">
              <a:defRPr sz="1200">
                <a:solidFill>
                  <a:srgbClr val="FFFFFF"/>
                </a:solidFill>
              </a:defRPr>
            </a:pPr>
            <a14:m xmlns:a14="http://schemas.microsoft.com/office/drawing/2010/main" xmlns:m="http://schemas.openxmlformats.org/officeDocument/2006/math">
              <m:oMathPara>
                <m:oMath>
                  <m:sSub>
                    <m:e>
                      <m:r>
                        <m:t>U</m:t>
                      </m:r>
                    </m:e>
                    <m:sub>
                      <m:r>
                        <m:t>sem</m:t>
                      </m:r>
                    </m:sub>
                  </m:sSub>
                  <m:r>
                    <m:t> ≤ </m:t>
                  </m:r>
                  <m:sSub>
                    <m:e>
                      <m:r>
                        <m:t>τ</m:t>
                      </m:r>
                    </m:e>
                    <m:sub>
                      <m:r>
                        <m:t>sem</m:t>
                      </m:r>
                    </m:sub>
                  </m:sSub>
                  <m:r>
                    <m:t> ∧ </m:t>
                  </m:r>
                  <m:sSub>
                    <m:e>
                      <m:r>
                        <m:t>QoT</m:t>
                      </m:r>
                    </m:e>
                    <m:sub>
                      <m:r>
                        <m:t>valid</m:t>
                      </m:r>
                    </m:sub>
                  </m:sSub>
                  <m:r>
                    <m:t> = 1</m:t>
                  </m:r>
                </m:oMath>
              </m:oMathPara>
            </a14:m>
          </a:p>
        </p:txBody>
      </p:sp>
      <p:sp>
        <p:nvSpPr>
          <p:cNvPr id="17" name="TextBox 16"/>
          <p:cNvSpPr txBox="1"/>
          <p:nvPr/>
        </p:nvSpPr>
        <p:spPr>
          <a:xfrm>
            <a:off x="8184184" y="4302252"/>
            <a:ext cx="3169920" cy="923544"/>
          </a:xfrm>
          <a:prstGeom prst="rect">
            <a:avLst/>
          </a:prstGeom>
          <a:noFill/>
        </p:spPr>
        <p:txBody>
          <a:bodyPr wrap="square">
            <a:spAutoFit/>
          </a:bodyPr>
          <a:lstStyle/>
          <a:p>
            <a:pPr>
              <a:spcAft>
                <a:spcPts val="300"/>
              </a:spcAft>
              <a:defRPr sz="1100">
                <a:solidFill>
                  <a:srgbClr val="222222"/>
                </a:solidFill>
              </a:defRPr>
            </a:pPr>
            <a:r>
              <a:rPr sz="1100" b="0">
                <a:solidFill>
                  <a:srgbClr val="222222"/>
                </a:solidFill>
                <a:latin typeface="Arial"/>
              </a:rPr>
              <a:t>•  Trigger: Clear semantics and feasible </a:t>
            </a:r>
            <a14:m xmlns:a14="http://schemas.microsoft.com/office/drawing/2010/main" xmlns:m="http://schemas.openxmlformats.org/officeDocument/2006/math">
              <m:oMath>
                <m:r>
                  <m:t>GSNR</m:t>
                </m:r>
              </m:oMath>
            </a14:m>
          </a:p>
          <a:p>
            <a:pPr>
              <a:spcBef>
                <a:spcPts val="0"/>
              </a:spcBef>
              <a:spcAft>
                <a:spcPts val="300"/>
              </a:spcAft>
              <a:defRPr sz="1100">
                <a:solidFill>
                  <a:srgbClr val="222222"/>
                </a:solidFill>
              </a:defRPr>
            </a:pPr>
            <a:r>
              <a:rPr sz="1100" b="0">
                <a:solidFill>
                  <a:srgbClr val="222222"/>
                </a:solidFill>
                <a:latin typeface="Arial"/>
              </a:rPr>
              <a:t>•  Action: Autonomous zero-touch provisioning</a:t>
            </a:r>
          </a:p>
          <a:p>
            <a:pPr>
              <a:spcBef>
                <a:spcPts val="0"/>
              </a:spcBef>
              <a:spcAft>
                <a:spcPts val="300"/>
              </a:spcAft>
              <a:defRPr sz="1100">
                <a:solidFill>
                  <a:srgbClr val="222222"/>
                </a:solidFill>
              </a:defRPr>
            </a:pPr>
            <a:r>
              <a:rPr sz="1100" b="0">
                <a:solidFill>
                  <a:srgbClr val="222222"/>
                </a:solidFill>
                <a:latin typeface="Arial"/>
              </a:rPr>
              <a:t>•  Generates auditable planning report</a:t>
            </a:r>
          </a:p>
          <a:p>
            <a:pPr>
              <a:spcBef>
                <a:spcPts val="0"/>
              </a:spcBef>
              <a:spcAft>
                <a:spcPts val="300"/>
              </a:spcAft>
              <a:defRPr sz="1100">
                <a:solidFill>
                  <a:srgbClr val="222222"/>
                </a:solidFill>
              </a:defRPr>
            </a:pPr>
            <a:r>
              <a:rPr sz="1100" b="0">
                <a:solidFill>
                  <a:srgbClr val="222222"/>
                </a:solidFill>
                <a:latin typeface="Arial"/>
              </a:rPr>
              <a:t>•  Zero unverified configurations reach controller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11</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Deterministic Physical Layer: GN-Model QoT Validation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Analytical Gaussian Noise (GN) Engine</a:t>
            </a:r>
          </a:p>
        </p:txBody>
      </p:sp>
      <p:sp>
        <p:nvSpPr>
          <p:cNvPr id="9" name="TextBox 8"/>
          <p:cNvSpPr txBox="1"/>
          <p:nvPr/>
        </p:nvSpPr>
        <p:spPr>
          <a:xfrm>
            <a:off x="868680" y="1874519"/>
            <a:ext cx="4846320" cy="3520440"/>
          </a:xfrm>
          <a:prstGeom prst="rect">
            <a:avLst/>
          </a:prstGeom>
          <a:noFill/>
        </p:spPr>
        <p:txBody>
          <a:bodyPr wrap="square">
            <a:spAutoFit/>
          </a:bodyPr>
          <a:lstStyle/>
          <a:p>
            <a:pPr>
              <a:spcBef>
                <a:spcPts val="0"/>
              </a:spcBef>
              <a:spcAft>
                <a:spcPts val="400"/>
              </a:spcAft>
              <a:defRPr sz="1200">
                <a:solidFill>
                  <a:srgbClr val="222222"/>
                </a:solidFill>
              </a:defRPr>
            </a:pPr>
            <a:r>
              <a:rPr sz="1200" b="0">
                <a:solidFill>
                  <a:srgbClr val="222222"/>
                </a:solidFill>
                <a:latin typeface="Arial"/>
              </a:rPr>
              <a:t>•  Pure Python implementation: zero LLM arithmetic</a:t>
            </a:r>
          </a:p>
          <a:p>
            <a:pPr>
              <a:spcBef>
                <a:spcPts val="400"/>
              </a:spcBef>
              <a:defRPr sz="1100" b="1">
                <a:solidFill>
                  <a:srgbClr val="0F2C53"/>
                </a:solidFill>
                <a:latin typeface="Titillium Web SemiBold"/>
              </a:defRPr>
            </a:pPr>
            <a:r>
              <a:t>Accumulated ASE Noise Power per Span:</a:t>
            </a:r>
          </a:p>
          <a:p>
            <a:pPr algn="ctr">
              <a:defRPr sz="1300">
                <a:solidFill>
                  <a:srgbClr val="0F2C53"/>
                </a:solidFill>
              </a:defRPr>
            </a:pPr>
            <a14:m xmlns:a14="http://schemas.microsoft.com/office/drawing/2010/main" xmlns:m="http://schemas.openxmlformats.org/officeDocument/2006/math">
              <m:oMathPara>
                <m:oMath>
                  <m:sSub>
                    <m:e>
                      <m:r>
                        <m:t>P</m:t>
                      </m:r>
                    </m:e>
                    <m:sub>
                      <m:r>
                        <m:t>ASE</m:t>
                      </m:r>
                    </m:sub>
                  </m:sSub>
                  <m:r>
                    <m:t> = (G - 1) · h · ν · F · </m:t>
                  </m:r>
                  <m:sSub>
                    <m:e>
                      <m:r>
                        <m:t>B</m:t>
                      </m:r>
                    </m:e>
                    <m:sub>
                      <m:r>
                        <m:t>ref</m:t>
                      </m:r>
                    </m:sub>
                  </m:sSub>
                </m:oMath>
              </m:oMathPara>
            </a14:m>
          </a:p>
          <a:p>
            <a:pPr>
              <a:spcBef>
                <a:spcPts val="400"/>
              </a:spcBef>
              <a:defRPr sz="1100" b="1">
                <a:solidFill>
                  <a:srgbClr val="0F2C53"/>
                </a:solidFill>
                <a:latin typeface="Titillium Web SemiBold"/>
              </a:defRPr>
            </a:pPr>
            <a:r>
              <a:t>Nonlinear Interference (NLI) Noise Power:</a:t>
            </a:r>
          </a:p>
          <a:p>
            <a:pPr algn="ctr">
              <a:defRPr sz="1300">
                <a:solidFill>
                  <a:srgbClr val="0F2C53"/>
                </a:solidFill>
              </a:defRPr>
            </a:pPr>
            <a14:m xmlns:a14="http://schemas.microsoft.com/office/drawing/2010/main" xmlns:m="http://schemas.openxmlformats.org/officeDocument/2006/math">
              <m:oMathPara>
                <m:oMath>
                  <m:sSub>
                    <m:e>
                      <m:r>
                        <m:t>P</m:t>
                      </m:r>
                    </m:e>
                    <m:sub>
                      <m:r>
                        <m:t>NLI</m:t>
                      </m:r>
                    </m:sub>
                  </m:sSub>
                  <m:r>
                    <m:t> ≈ η · </m:t>
                  </m:r>
                  <m:sSup>
                    <m:e>
                      <m:sSub>
                        <m:e>
                          <m:r>
                            <m:t>P</m:t>
                          </m:r>
                        </m:e>
                        <m:sub>
                          <m:r>
                            <m:t>ch</m:t>
                          </m:r>
                        </m:sub>
                      </m:sSub>
                    </m:e>
                    <m:sup>
                      <m:r>
                        <m:t>3</m:t>
                      </m:r>
                    </m:sup>
                  </m:sSup>
                </m:oMath>
              </m:oMathPara>
            </a14:m>
          </a:p>
          <a:p>
            <a:pPr>
              <a:spcBef>
                <a:spcPts val="600"/>
              </a:spcBef>
              <a:spcAft>
                <a:spcPts val="600"/>
              </a:spcAft>
              <a:defRPr sz="1100">
                <a:solidFill>
                  <a:srgbClr val="222222"/>
                </a:solidFill>
              </a:defRPr>
            </a:pPr>
            <a:r>
              <a:rPr sz="1100" b="0">
                <a:solidFill>
                  <a:srgbClr val="222222"/>
                </a:solidFill>
                <a:latin typeface="Arial"/>
              </a:rPr>
              <a:t>•  Accounts for fiber Kerr nonlinearity, dispersion, and EDFA noise</a:t>
            </a:r>
          </a:p>
        </p:txBody>
      </p:sp>
      <p:sp>
        <p:nvSpPr>
          <p:cNvPr id="10" name="Rounded Rectangle 9"/>
          <p:cNvSpPr/>
          <p:nvPr/>
        </p:nvSpPr>
        <p:spPr>
          <a:xfrm>
            <a:off x="6217920" y="1188720"/>
            <a:ext cx="5212080" cy="429768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Optical Feasibility &amp; GSNR Criteria</a:t>
            </a:r>
          </a:p>
        </p:txBody>
      </p:sp>
      <p:sp>
        <p:nvSpPr>
          <p:cNvPr id="12" name="TextBox 11"/>
          <p:cNvSpPr txBox="1"/>
          <p:nvPr/>
        </p:nvSpPr>
        <p:spPr>
          <a:xfrm>
            <a:off x="6400800" y="1874519"/>
            <a:ext cx="4846320" cy="3520440"/>
          </a:xfrm>
          <a:prstGeom prst="rect">
            <a:avLst/>
          </a:prstGeom>
          <a:noFill/>
        </p:spPr>
        <p:txBody>
          <a:bodyPr wrap="square">
            <a:spAutoFit/>
          </a:bodyPr>
          <a:lstStyle/>
          <a:p>
            <a:pPr>
              <a:defRPr sz="1100" b="1">
                <a:solidFill>
                  <a:srgbClr val="1A7F37"/>
                </a:solidFill>
                <a:latin typeface="Titillium Web SemiBold"/>
              </a:defRPr>
            </a:pPr>
            <a:r>
              <a:t>Generalized Signal-to-Noise Ratio (GSNR):</a:t>
            </a:r>
          </a:p>
          <a:p>
            <a:pPr algn="ctr">
              <a:defRPr sz="1300">
                <a:solidFill>
                  <a:srgbClr val="1A7F37"/>
                </a:solidFill>
              </a:defRPr>
            </a:pPr>
            <a14:m xmlns:a14="http://schemas.microsoft.com/office/drawing/2010/main" xmlns:m="http://schemas.openxmlformats.org/officeDocument/2006/math">
              <m:oMathPara>
                <m:oMath>
                  <m:r>
                    <m:t>GSNR = </m:t>
                  </m:r>
                  <m:f>
                    <m:num>
                      <m:sSub>
                        <m:e>
                          <m:r>
                            <m:t>P</m:t>
                          </m:r>
                        </m:e>
                        <m:sub>
                          <m:r>
                            <m:t>ch</m:t>
                          </m:r>
                        </m:sub>
                      </m:sSub>
                    </m:num>
                    <m:den>
                      <m:sSub>
                        <m:e>
                          <m:r>
                            <m:t>P</m:t>
                          </m:r>
                        </m:e>
                        <m:sub>
                          <m:r>
                            <m:t>ASE</m:t>
                          </m:r>
                        </m:sub>
                      </m:sSub>
                      <m:r>
                        <m:t> + </m:t>
                      </m:r>
                      <m:sSub>
                        <m:e>
                          <m:r>
                            <m:t>P</m:t>
                          </m:r>
                        </m:e>
                        <m:sub>
                          <m:r>
                            <m:t>NLI</m:t>
                          </m:r>
                        </m:sub>
                      </m:sSub>
                    </m:den>
                  </m:f>
                  <m:r>
                    <m:t> ≥ </m:t>
                  </m:r>
                  <m:sSub>
                    <m:e>
                      <m:r>
                        <m:t>GSNR</m:t>
                      </m:r>
                    </m:e>
                    <m:sub>
                      <m:r>
                        <m:t>th</m:t>
                      </m:r>
                    </m:sub>
                  </m:sSub>
                </m:oMath>
              </m:oMathPara>
            </a14:m>
          </a:p>
          <a:p>
            <a:pPr>
              <a:spcBef>
                <a:spcPts val="400"/>
              </a:spcBef>
              <a:defRPr sz="1100" b="1">
                <a:solidFill>
                  <a:srgbClr val="1A7F37"/>
                </a:solidFill>
                <a:latin typeface="Titillium Web SemiBold"/>
              </a:defRPr>
            </a:pPr>
            <a:r>
              <a:t>Receiver Power Sensitivity Budget:</a:t>
            </a:r>
          </a:p>
          <a:p>
            <a:pPr algn="ctr">
              <a:defRPr sz="1300">
                <a:solidFill>
                  <a:srgbClr val="1A7F37"/>
                </a:solidFill>
              </a:defRPr>
            </a:pPr>
            <a14:m xmlns:a14="http://schemas.microsoft.com/office/drawing/2010/main" xmlns:m="http://schemas.openxmlformats.org/officeDocument/2006/math">
              <m:oMathPara>
                <m:oMath>
                  <m:sSub>
                    <m:e>
                      <m:r>
                        <m:t>P</m:t>
                      </m:r>
                    </m:e>
                    <m:sub>
                      <m:r>
                        <m:t>rx</m:t>
                      </m:r>
                    </m:sub>
                  </m:sSub>
                  <m:r>
                    <m:t> = </m:t>
                  </m:r>
                  <m:sSub>
                    <m:e>
                      <m:r>
                        <m:t>P</m:t>
                      </m:r>
                    </m:e>
                    <m:sub>
                      <m:r>
                        <m:t>launch</m:t>
                      </m:r>
                    </m:sub>
                  </m:sSub>
                  <m:r>
                    <m:t> - </m:t>
                  </m:r>
                  <m:sSub>
                    <m:e>
                      <m:r>
                        <m:t>A</m:t>
                      </m:r>
                    </m:e>
                    <m:sub>
                      <m:r>
                        <m:t>total</m:t>
                      </m:r>
                    </m:sub>
                  </m:sSub>
                  <m:r>
                    <m:t> + </m:t>
                  </m:r>
                  <m:sSub>
                    <m:e>
                      <m:r>
                        <m:t>G</m:t>
                      </m:r>
                    </m:e>
                    <m:sub>
                      <m:r>
                        <m:t>total</m:t>
                      </m:r>
                    </m:sub>
                  </m:sSub>
                  <m:r>
                    <m:t> ≥ </m:t>
                  </m:r>
                  <m:sSub>
                    <m:e>
                      <m:r>
                        <m:t>P</m:t>
                      </m:r>
                    </m:e>
                    <m:sub>
                      <m:r>
                        <m:t>rx,min</m:t>
                      </m:r>
                    </m:sub>
                  </m:sSub>
                </m:oMath>
              </m:oMathPara>
            </a14:m>
          </a:p>
          <a:p>
            <a:pPr>
              <a:spcBef>
                <a:spcPts val="600"/>
              </a:spcBef>
              <a:spcAft>
                <a:spcPts val="600"/>
              </a:spcAft>
              <a:defRPr sz="1100">
                <a:solidFill>
                  <a:srgbClr val="222222"/>
                </a:solidFill>
              </a:defRPr>
            </a:pPr>
            <a:r>
              <a:rPr sz="1100" b="0">
                <a:solidFill>
                  <a:srgbClr val="222222"/>
                </a:solidFill>
                <a:latin typeface="Arial"/>
              </a:rPr>
              <a:t>•  Deterministic feasibility: </a:t>
            </a:r>
            <a14:m xmlns:a14="http://schemas.microsoft.com/office/drawing/2010/main" xmlns:m="http://schemas.openxmlformats.org/officeDocument/2006/math">
              <m:oMath>
                <m:r>
                  <m:t>GSNR ≥ </m:t>
                </m:r>
                <m:sSub>
                  <m:e>
                    <m:r>
                      <m:t>GSNR</m:t>
                    </m:r>
                  </m:e>
                  <m:sub>
                    <m:r>
                      <m:t>th</m:t>
                    </m:r>
                  </m:sub>
                </m:sSub>
                <m:r>
                  <m:t> ∧ </m:t>
                </m:r>
                <m:sSub>
                  <m:e>
                    <m:r>
                      <m:t>P</m:t>
                    </m:r>
                  </m:e>
                  <m:sub>
                    <m:r>
                      <m:t>rx</m:t>
                    </m:r>
                  </m:sub>
                </m:sSub>
                <m:r>
                  <m:t> ≥ </m:t>
                </m:r>
                <m:sSub>
                  <m:e>
                    <m:r>
                      <m:t>P</m:t>
                    </m:r>
                  </m:e>
                  <m:sub>
                    <m:r>
                      <m:t>rx,min</m:t>
                    </m:r>
                  </m:sub>
                </m:sSub>
              </m:oMath>
            </a14:m>
          </a:p>
        </p:txBody>
      </p:sp>
      <p:sp>
        <p:nvSpPr>
          <p:cNvPr id="13" name="Rounded Rectangle 12"/>
          <p:cNvSpPr/>
          <p:nvPr/>
        </p:nvSpPr>
        <p:spPr>
          <a:xfrm>
            <a:off x="685800" y="5669280"/>
            <a:ext cx="10744200" cy="5943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669280"/>
            <a:ext cx="10744200" cy="594360"/>
          </a:xfrm>
          <a:prstGeom prst="rect">
            <a:avLst/>
          </a:prstGeom>
          <a:noFill/>
        </p:spPr>
        <p:txBody>
          <a:bodyPr wrap="none">
            <a:spAutoFit/>
          </a:bodyPr>
          <a:lstStyle/>
          <a:p>
            <a:pPr algn="ctr">
              <a:defRPr sz="1300" b="1">
                <a:solidFill>
                  <a:srgbClr val="1A7F37"/>
                </a:solidFill>
              </a:defRPr>
            </a:pPr>
            <a:r>
              <a:rPr sz="1300" b="1">
                <a:solidFill>
                  <a:srgbClr val="1A7F37"/>
                </a:solidFill>
                <a:latin typeface="Titillium Web SemiBold"/>
              </a:rPr>
              <a:t>⚡ Execution Speed: </a:t>
            </a:r>
            <a14:m xmlns:a14="http://schemas.microsoft.com/office/drawing/2010/main" xmlns:m="http://schemas.openxmlformats.org/officeDocument/2006/math">
              <m:oMath>
                <m:sSub>
                  <m:e>
                    <m:r>
                      <m:t>T</m:t>
                    </m:r>
                  </m:e>
                  <m:sub>
                    <m:r>
                      <m:t>phys</m:t>
                    </m:r>
                  </m:sub>
                </m:sSub>
                <m:r>
                  <m:t> &lt; 5 ms</m:t>
                </m:r>
              </m:oMath>
            </a14:m>
            <a:r>
              <a:rPr sz="1300" b="1">
                <a:solidFill>
                  <a:srgbClr val="1A7F37"/>
                </a:solidFill>
                <a:latin typeface="Titillium Web SemiBold"/>
              </a:rPr>
              <a:t> per candidate route (100% deterministic reproducibility)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Experimental Setup &amp; Testbed Environment</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8599017"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43000"/>
            <a:ext cx="5120640" cy="64008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17-Node German Core Network Benchmark</a:t>
            </a:r>
          </a:p>
        </p:txBody>
      </p:sp>
      <p:sp>
        <p:nvSpPr>
          <p:cNvPr id="9" name="TextBox 8"/>
          <p:cNvSpPr txBox="1"/>
          <p:nvPr/>
        </p:nvSpPr>
        <p:spPr>
          <a:xfrm>
            <a:off x="1051560" y="2617927"/>
            <a:ext cx="5044744" cy="1769364"/>
          </a:xfrm>
          <a:prstGeom prst="rect">
            <a:avLst/>
          </a:prstGeom>
          <a:noFill/>
        </p:spPr>
        <p:txBody>
          <a:bodyPr wrap="square">
            <a:spAutoFit/>
          </a:bodyPr>
          <a:lstStyle/>
          <a:p>
            <a:pPr>
              <a:spcBef>
                <a:spcPts val="0"/>
              </a:spcBef>
              <a:spcAft>
                <a:spcPts val="300"/>
              </a:spcAft>
              <a:defRPr sz="1200">
                <a:solidFill>
                  <a:srgbClr val="222222"/>
                </a:solidFill>
              </a:defRPr>
            </a:pPr>
            <a:r>
              <a:rPr sz="1200" b="0">
                <a:solidFill>
                  <a:srgbClr val="222222"/>
                </a:solidFill>
                <a:latin typeface="Arial"/>
              </a:rPr>
              <a:t>•  Realistic telecom topology: </a:t>
            </a:r>
            <a14:m xmlns:a14="http://schemas.microsoft.com/office/drawing/2010/main" xmlns:m="http://schemas.openxmlformats.org/officeDocument/2006/math">
              <m:oMath>
                <m:r>
                  <m:t>|V| = 17, |E| = 26</m:t>
                </m:r>
              </m:oMath>
            </a14:m>
            <a:r>
              <a:rPr sz="1200" b="0">
                <a:solidFill>
                  <a:srgbClr val="222222"/>
                </a:solidFill>
                <a:latin typeface="Arial"/>
              </a:rPr>
              <a:t> bidirectional fiber links</a:t>
            </a:r>
          </a:p>
          <a:p>
            <a:pPr>
              <a:spcBef>
                <a:spcPts val="0"/>
              </a:spcBef>
              <a:spcAft>
                <a:spcPts val="300"/>
              </a:spcAft>
              <a:defRPr sz="1200">
                <a:solidFill>
                  <a:srgbClr val="222222"/>
                </a:solidFill>
              </a:defRPr>
            </a:pPr>
            <a:r>
              <a:rPr sz="1200" b="0">
                <a:solidFill>
                  <a:srgbClr val="222222"/>
                </a:solidFill>
                <a:latin typeface="Arial"/>
              </a:rPr>
              <a:t>•  Standard Single-Mode Fiber (SMF-28): </a:t>
            </a:r>
            <a14:m xmlns:a14="http://schemas.microsoft.com/office/drawing/2010/main" xmlns:m="http://schemas.openxmlformats.org/officeDocument/2006/math">
              <m:oMath>
                <m:r>
                  <m:t>α = 0.2 dB/km</m:t>
                </m:r>
              </m:oMath>
            </a14:m>
          </a:p>
          <a:p>
            <a:pPr>
              <a:spcBef>
                <a:spcPts val="0"/>
              </a:spcBef>
              <a:spcAft>
                <a:spcPts val="300"/>
              </a:spcAft>
              <a:defRPr sz="1200">
                <a:solidFill>
                  <a:srgbClr val="222222"/>
                </a:solidFill>
              </a:defRPr>
            </a:pPr>
            <a:r>
              <a:rPr sz="1200" b="0">
                <a:solidFill>
                  <a:srgbClr val="222222"/>
                </a:solidFill>
                <a:latin typeface="Arial"/>
              </a:rPr>
              <a:t>•  Dispersion parameter </a:t>
            </a:r>
            <a14:m xmlns:a14="http://schemas.microsoft.com/office/drawing/2010/main" xmlns:m="http://schemas.openxmlformats.org/officeDocument/2006/math">
              <m:oMath>
                <m:r>
                  <m:t>D = 16.7 ps/(nm·km)</m:t>
                </m:r>
              </m:oMath>
            </a14:m>
            <a:r>
              <a:rPr sz="1200" b="0">
                <a:solidFill>
                  <a:srgbClr val="222222"/>
                </a:solidFill>
                <a:latin typeface="Arial"/>
              </a:rPr>
              <a:t>, </a:t>
            </a:r>
            <a14:m xmlns:a14="http://schemas.microsoft.com/office/drawing/2010/main" xmlns:m="http://schemas.openxmlformats.org/officeDocument/2006/math">
              <m:oMath>
                <m:r>
                  <m:t>γ = 1.2 </m:t>
                </m:r>
                <m:sSup>
                  <m:e>
                    <m:r>
                      <m:t>W</m:t>
                    </m:r>
                  </m:e>
                  <m:sup>
                    <m:r>
                      <m:t>-1</m:t>
                    </m:r>
                  </m:sup>
                </m:sSup>
                <m:sSup>
                  <m:e>
                    <m:r>
                      <m:t>km</m:t>
                    </m:r>
                  </m:e>
                  <m:sup>
                    <m:r>
                      <m:t>-1</m:t>
                    </m:r>
                  </m:sup>
                </m:sSup>
              </m:oMath>
            </a14:m>
          </a:p>
          <a:p>
            <a:pPr>
              <a:spcBef>
                <a:spcPts val="0"/>
              </a:spcBef>
              <a:spcAft>
                <a:spcPts val="300"/>
              </a:spcAft>
              <a:defRPr sz="1200">
                <a:solidFill>
                  <a:srgbClr val="222222"/>
                </a:solidFill>
              </a:defRPr>
            </a:pPr>
            <a:r>
              <a:rPr sz="1200" b="0">
                <a:solidFill>
                  <a:srgbClr val="222222"/>
                </a:solidFill>
                <a:latin typeface="Arial"/>
              </a:rPr>
              <a:t>•  Amplified spans: dual-stage EDFAs with noise figure </a:t>
            </a:r>
            <a14:m xmlns:a14="http://schemas.microsoft.com/office/drawing/2010/main" xmlns:m="http://schemas.openxmlformats.org/officeDocument/2006/math">
              <m:oMath>
                <m:r>
                  <m:t>NF = 5.5 dB</m:t>
                </m:r>
              </m:oMath>
            </a14:m>
          </a:p>
          <a:p>
            <a:pPr>
              <a:spcBef>
                <a:spcPts val="0"/>
              </a:spcBef>
              <a:spcAft>
                <a:spcPts val="300"/>
              </a:spcAft>
              <a:defRPr sz="1200">
                <a:solidFill>
                  <a:srgbClr val="222222"/>
                </a:solidFill>
              </a:defRPr>
            </a:pPr>
            <a:r>
              <a:rPr sz="1200" b="0">
                <a:solidFill>
                  <a:srgbClr val="222222"/>
                </a:solidFill>
                <a:latin typeface="Arial"/>
              </a:rPr>
              <a:t>•  Dynamic span lengths ranging from </a:t>
            </a:r>
            <a14:m xmlns:a14="http://schemas.microsoft.com/office/drawing/2010/main" xmlns:m="http://schemas.openxmlformats.org/officeDocument/2006/math">
              <m:oMath>
                <m:r>
                  <m:t>L ∈ [45, 350] km</m:t>
                </m:r>
              </m:oMath>
            </a14:m>
          </a:p>
          <a:p>
            <a:pPr>
              <a:spcBef>
                <a:spcPts val="0"/>
              </a:spcBef>
              <a:spcAft>
                <a:spcPts val="300"/>
              </a:spcAft>
              <a:defRPr sz="1200">
                <a:solidFill>
                  <a:srgbClr val="222222"/>
                </a:solidFill>
              </a:defRPr>
            </a:pPr>
            <a:r>
              <a:rPr sz="1200" b="0">
                <a:solidFill>
                  <a:srgbClr val="222222"/>
                </a:solidFill>
                <a:latin typeface="Arial"/>
              </a:rPr>
              <a:t>•  Orchestrator: LangGraph StateGraph with memory persistence</a:t>
            </a:r>
          </a:p>
          <a:p>
            <a:pPr>
              <a:spcBef>
                <a:spcPts val="0"/>
              </a:spcBef>
              <a:spcAft>
                <a:spcPts val="300"/>
              </a:spcAft>
              <a:defRPr sz="1200">
                <a:solidFill>
                  <a:srgbClr val="222222"/>
                </a:solidFill>
              </a:defRPr>
            </a:pPr>
            <a:r>
              <a:rPr sz="1200" b="0">
                <a:solidFill>
                  <a:srgbClr val="222222"/>
                </a:solidFill>
                <a:latin typeface="Arial"/>
              </a:rPr>
              <a:t>•  Telemetry: RESTConf and Mock SDON testbed client adapters</a:t>
            </a:r>
          </a:p>
        </p:txBody>
      </p:sp>
      <p:pic>
        <p:nvPicPr>
          <p:cNvPr id="10" name="Picture 9"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sp>
        <p:nvSpPr>
          <p:cNvPr id="11" name="TextBox 10"/>
          <p:cNvSpPr txBox="1"/>
          <p:nvPr/>
        </p:nvSpPr>
        <p:spPr>
          <a:xfrm>
            <a:off x="6263640" y="5053888"/>
            <a:ext cx="5029200" cy="215798"/>
          </a:xfrm>
          <a:prstGeom prst="rect">
            <a:avLst/>
          </a:prstGeom>
          <a:noFill/>
        </p:spPr>
        <p:txBody>
          <a:bodyPr wrap="none">
            <a:spAutoFit/>
          </a:bodyPr>
          <a:lstStyle/>
          <a:p>
            <a:pPr>
              <a:defRPr sz="900">
                <a:solidFill>
                  <a:srgbClr val="5A6B82"/>
                </a:solidFill>
                <a:latin typeface="Arial"/>
              </a:defRPr>
            </a:pPr>
            <a:r>
              <a:t>From: https://topolib.readthedocs.io/en/latest/topology_repository.html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Evaluation Framework &amp; Benchmark Scenarios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43000"/>
            <a:ext cx="420624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5A6B82"/>
                </a:solidFill>
                <a:latin typeface="Arial"/>
              </a:defRPr>
            </a:pPr>
            <a:r>
              <a:t>vs.</a:t>
            </a:r>
          </a:p>
        </p:txBody>
      </p:sp>
      <p:sp>
        <p:nvSpPr>
          <p:cNvPr id="8" name="Rounded Rectangle 7"/>
          <p:cNvSpPr/>
          <p:nvPr/>
        </p:nvSpPr>
        <p:spPr>
          <a:xfrm>
            <a:off x="685800" y="1106424"/>
            <a:ext cx="4206240" cy="475488"/>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 Architectural Baselines</a:t>
            </a:r>
          </a:p>
        </p:txBody>
      </p:sp>
      <p:sp>
        <p:nvSpPr>
          <p:cNvPr id="9" name="Rounded Rectangle 8"/>
          <p:cNvSpPr/>
          <p:nvPr/>
        </p:nvSpPr>
        <p:spPr>
          <a:xfrm>
            <a:off x="685800" y="3703320"/>
            <a:ext cx="4206240" cy="260604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3703320"/>
            <a:ext cx="4206240" cy="438912"/>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 100 Test Demands (4 Risk Classes)</a:t>
            </a:r>
          </a:p>
        </p:txBody>
      </p:sp>
      <p:graphicFrame>
        <p:nvGraphicFramePr>
          <p:cNvPr id="11" name="Table 10"/>
          <p:cNvGraphicFramePr>
            <a:graphicFrameLocks noGrp="1"/>
          </p:cNvGraphicFramePr>
          <p:nvPr/>
        </p:nvGraphicFramePr>
        <p:xfrm>
          <a:off x="777240" y="4224528"/>
          <a:ext cx="4023360" cy="1993392"/>
        </p:xfrm>
        <a:graphic>
          <a:graphicData uri="http://schemas.openxmlformats.org/drawingml/2006/table">
            <a:tbl>
              <a:tblPr firstRow="1" bandRow="1">
                <a:tableStyleId>{5C22544A-7EE6-4342-B048-85BDC9FD1C3A}</a:tableStyleId>
              </a:tblPr>
              <a:tblGrid>
                <a:gridCol w="1325880"/>
                <a:gridCol w="1600200"/>
                <a:gridCol w="1097280"/>
              </a:tblGrid>
              <a:tr h="398678">
                <a:tc>
                  <a:txBody>
                    <a:bodyPr/>
                    <a:lstStyle/>
                    <a:p>
                      <a:pPr algn="ctr"/>
                      <a:r>
                        <a:rPr sz="950" b="1">
                          <a:solidFill>
                            <a:srgbClr val="FFFFFF"/>
                          </a:solidFill>
                          <a:latin typeface="Titillium Web SemiBold"/>
                        </a:rPr>
                        <a:t>Class &amp; Size</a:t>
                      </a:r>
                    </a:p>
                  </a:txBody>
                  <a:tcPr anchor="ctr" marL="45720" marR="45720" marT="18288" marB="18288">
                    <a:solidFill>
                      <a:srgbClr val="0F2C53"/>
                    </a:solidFill>
                  </a:tcPr>
                </a:tc>
                <a:tc>
                  <a:txBody>
                    <a:bodyPr/>
                    <a:lstStyle/>
                    <a:p>
                      <a:pPr algn="ctr"/>
                      <a:r>
                        <a:rPr sz="950" b="1">
                          <a:solidFill>
                            <a:srgbClr val="FFFFFF"/>
                          </a:solidFill>
                          <a:latin typeface="Titillium Web SemiBold"/>
                        </a:rPr>
                        <a:t>Intent Characteristics</a:t>
                      </a:r>
                    </a:p>
                  </a:txBody>
                  <a:tcPr anchor="ctr" marL="45720" marR="45720" marT="18288" marB="18288">
                    <a:solidFill>
                      <a:srgbClr val="0F2C53"/>
                    </a:solidFill>
                  </a:tcPr>
                </a:tc>
                <a:tc>
                  <a:txBody>
                    <a:bodyPr/>
                    <a:lstStyle/>
                    <a:p>
                      <a:pPr algn="ctr"/>
                      <a:r>
                        <a:rPr sz="950" b="1">
                          <a:solidFill>
                            <a:srgbClr val="FFFFFF"/>
                          </a:solidFill>
                          <a:latin typeface="Titillium Web SemiBold"/>
                        </a:rPr>
                        <a:t>RADG Action</a:t>
                      </a:r>
                    </a:p>
                  </a:txBody>
                  <a:tcPr anchor="ctr" marL="45720" marR="45720" marT="18288" marB="18288">
                    <a:solidFill>
                      <a:srgbClr val="0F2C53"/>
                    </a:solidFill>
                  </a:tcPr>
                </a:tc>
              </a:tr>
              <a:tr h="398678">
                <a:tc>
                  <a:txBody>
                    <a:bodyPr/>
                    <a:lstStyle/>
                    <a:p>
                      <a:pPr algn="l"/>
                      <a:r>
                        <a:rPr sz="900" b="1">
                          <a:solidFill>
                            <a:srgbClr val="222222"/>
                          </a:solidFill>
                          <a:latin typeface="Arial"/>
                        </a:rPr>
                        <a:t>Class I: Nominal [40]</a:t>
                      </a:r>
                    </a:p>
                  </a:txBody>
                  <a:tcPr anchor="ctr" marL="45720" marR="45720" marT="18288" marB="18288">
                    <a:solidFill>
                      <a:srgbClr val="FFFFFF"/>
                    </a:solidFill>
                  </a:tcPr>
                </a:tc>
                <a:tc>
                  <a:txBody>
                    <a:bodyPr/>
                    <a:lstStyle/>
                    <a:p>
                      <a:pPr algn="l"/>
                      <a:r>
                        <a:rPr sz="880">
                          <a:solidFill>
                            <a:srgbClr val="222222"/>
                          </a:solidFill>
                          <a:latin typeface="Arial"/>
                        </a:rPr>
                        <a:t>Feasible path, unambiguous</a:t>
                      </a:r>
                    </a:p>
                  </a:txBody>
                  <a:tcPr anchor="ctr" marL="45720" marR="45720" marT="18288" marB="18288">
                    <a:solidFill>
                      <a:srgbClr val="FFFFFF"/>
                    </a:solidFill>
                  </a:tcPr>
                </a:tc>
                <a:tc>
                  <a:txBody>
                    <a:bodyPr/>
                    <a:lstStyle/>
                    <a:p>
                      <a:pPr algn="ctr"/>
                      <a:r>
                        <a:rPr sz="900" b="1">
                          <a:solidFill>
                            <a:srgbClr val="1A7F37"/>
                          </a:solidFill>
                          <a:latin typeface="Arial"/>
                        </a:rPr>
                        <a:t>Auto-Approve</a:t>
                      </a:r>
                    </a:p>
                  </a:txBody>
                  <a:tcPr anchor="ctr" marL="45720" marR="45720" marT="18288" marB="18288">
                    <a:solidFill>
                      <a:srgbClr val="FFFFFF"/>
                    </a:solidFill>
                  </a:tcPr>
                </a:tc>
              </a:tr>
              <a:tr h="398678">
                <a:tc>
                  <a:txBody>
                    <a:bodyPr/>
                    <a:lstStyle/>
                    <a:p>
                      <a:pPr algn="l"/>
                      <a:r>
                        <a:rPr sz="900" b="1">
                          <a:solidFill>
                            <a:srgbClr val="222222"/>
                          </a:solidFill>
                          <a:latin typeface="Arial"/>
                        </a:rPr>
                        <a:t>Class II: Ambiguous [20]</a:t>
                      </a:r>
                    </a:p>
                  </a:txBody>
                  <a:tcPr anchor="ctr" marL="45720" marR="45720" marT="18288" marB="18288">
                    <a:solidFill>
                      <a:srgbClr val="F4F6F9"/>
                    </a:solidFill>
                  </a:tcPr>
                </a:tc>
                <a:tc>
                  <a:txBody>
                    <a:bodyPr/>
                    <a:lstStyle/>
                    <a:p>
                      <a:pPr algn="l"/>
                      <a:r>
                        <a:rPr sz="880">
                          <a:solidFill>
                            <a:srgbClr val="222222"/>
                          </a:solidFill>
                          <a:latin typeface="Arial"/>
                        </a:rPr>
                        <a:t>Under-specified (U_sem &gt; τ)</a:t>
                      </a:r>
                    </a:p>
                  </a:txBody>
                  <a:tcPr anchor="ctr" marL="45720" marR="45720" marT="18288" marB="18288">
                    <a:solidFill>
                      <a:srgbClr val="F4F6F9"/>
                    </a:solidFill>
                  </a:tcPr>
                </a:tc>
                <a:tc>
                  <a:txBody>
                    <a:bodyPr/>
                    <a:lstStyle/>
                    <a:p>
                      <a:pPr algn="ctr"/>
                      <a:r>
                        <a:rPr sz="900" b="1">
                          <a:solidFill>
                            <a:srgbClr val="B07D00"/>
                          </a:solidFill>
                          <a:latin typeface="Arial"/>
                        </a:rPr>
                        <a:t>Clarify Intent</a:t>
                      </a:r>
                    </a:p>
                  </a:txBody>
                  <a:tcPr anchor="ctr" marL="45720" marR="45720" marT="18288" marB="18288">
                    <a:solidFill>
                      <a:srgbClr val="F4F6F9"/>
                    </a:solidFill>
                  </a:tcPr>
                </a:tc>
              </a:tr>
              <a:tr h="398678">
                <a:tc>
                  <a:txBody>
                    <a:bodyPr/>
                    <a:lstStyle/>
                    <a:p>
                      <a:pPr algn="l"/>
                      <a:r>
                        <a:rPr sz="900" b="1">
                          <a:solidFill>
                            <a:srgbClr val="222222"/>
                          </a:solidFill>
                          <a:latin typeface="Arial"/>
                        </a:rPr>
                        <a:t>Class III: Infeasible [25]</a:t>
                      </a:r>
                    </a:p>
                  </a:txBody>
                  <a:tcPr anchor="ctr" marL="45720" marR="45720" marT="18288" marB="18288">
                    <a:solidFill>
                      <a:srgbClr val="FFFFFF"/>
                    </a:solidFill>
                  </a:tcPr>
                </a:tc>
                <a:tc>
                  <a:txBody>
                    <a:bodyPr/>
                    <a:lstStyle/>
                    <a:p>
                      <a:pPr algn="l"/>
                      <a:r>
                        <a:rPr sz="880">
                          <a:solidFill>
                            <a:srgbClr val="222222"/>
                          </a:solidFill>
                          <a:latin typeface="Arial"/>
                        </a:rPr>
                        <a:t>Violates GSNR threshold</a:t>
                      </a:r>
                    </a:p>
                  </a:txBody>
                  <a:tcPr anchor="ctr" marL="45720" marR="45720" marT="18288" marB="18288">
                    <a:solidFill>
                      <a:srgbClr val="FFFFFF"/>
                    </a:solidFill>
                  </a:tcPr>
                </a:tc>
                <a:tc>
                  <a:txBody>
                    <a:bodyPr/>
                    <a:lstStyle/>
                    <a:p>
                      <a:pPr algn="ctr"/>
                      <a:r>
                        <a:rPr sz="900" b="1">
                          <a:solidFill>
                            <a:srgbClr val="85200C"/>
                          </a:solidFill>
                          <a:latin typeface="Arial"/>
                        </a:rPr>
                        <a:t>Suggest Replan</a:t>
                      </a:r>
                    </a:p>
                  </a:txBody>
                  <a:tcPr anchor="ctr" marL="45720" marR="45720" marT="18288" marB="18288">
                    <a:solidFill>
                      <a:srgbClr val="FFFFFF"/>
                    </a:solidFill>
                  </a:tcPr>
                </a:tc>
              </a:tr>
              <a:tr h="398680">
                <a:tc>
                  <a:txBody>
                    <a:bodyPr/>
                    <a:lstStyle/>
                    <a:p>
                      <a:pPr algn="l"/>
                      <a:r>
                        <a:rPr sz="900" b="1">
                          <a:solidFill>
                            <a:srgbClr val="222222"/>
                          </a:solidFill>
                          <a:latin typeface="Arial"/>
                        </a:rPr>
                        <a:t>Class IV: Adversarial [15]</a:t>
                      </a:r>
                    </a:p>
                  </a:txBody>
                  <a:tcPr anchor="ctr" marL="45720" marR="45720" marT="18288" marB="18288">
                    <a:solidFill>
                      <a:srgbClr val="F4F6F9"/>
                    </a:solidFill>
                  </a:tcPr>
                </a:tc>
                <a:tc>
                  <a:txBody>
                    <a:bodyPr/>
                    <a:lstStyle/>
                    <a:p>
                      <a:pPr algn="l"/>
                      <a:r>
                        <a:rPr sz="880">
                          <a:solidFill>
                            <a:srgbClr val="222222"/>
                          </a:solidFill>
                          <a:latin typeface="Arial"/>
                        </a:rPr>
                        <a:t>Hallucinated nodes (v_struct=0)</a:t>
                      </a:r>
                    </a:p>
                  </a:txBody>
                  <a:tcPr anchor="ctr" marL="45720" marR="45720" marT="18288" marB="18288">
                    <a:solidFill>
                      <a:srgbClr val="F4F6F9"/>
                    </a:solidFill>
                  </a:tcPr>
                </a:tc>
                <a:tc>
                  <a:txBody>
                    <a:bodyPr/>
                    <a:lstStyle/>
                    <a:p>
                      <a:pPr algn="ctr"/>
                      <a:r>
                        <a:rPr sz="900" b="1">
                          <a:solidFill>
                            <a:srgbClr val="85200C"/>
                          </a:solidFill>
                          <a:latin typeface="Arial"/>
                        </a:rPr>
                        <a:t>Reject Intent</a:t>
                      </a:r>
                    </a:p>
                  </a:txBody>
                  <a:tcPr anchor="ctr" marL="45720" marR="45720" marT="18288" marB="18288">
                    <a:solidFill>
                      <a:srgbClr val="F4F6F9"/>
                    </a:solidFill>
                  </a:tcPr>
                </a:tc>
              </a:tr>
            </a:tbl>
          </a:graphicData>
        </a:graphic>
      </p:graphicFrame>
      <p:sp>
        <p:nvSpPr>
          <p:cNvPr id="12" name="Rounded Rectangle 11"/>
          <p:cNvSpPr/>
          <p:nvPr/>
        </p:nvSpPr>
        <p:spPr>
          <a:xfrm>
            <a:off x="5257800" y="1709928"/>
            <a:ext cx="6080760" cy="1051560"/>
          </a:xfrm>
          <a:prstGeom prst="roundRect">
            <a:avLst/>
          </a:prstGeom>
          <a:solidFill>
            <a:srgbClr val="FFFFFF"/>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67528" y="1746504"/>
            <a:ext cx="5861304" cy="978408"/>
          </a:xfrm>
          <a:prstGeom prst="rect">
            <a:avLst/>
          </a:prstGeom>
          <a:noFill/>
        </p:spPr>
        <p:txBody>
          <a:bodyPr wrap="square" tIns="18288" lIns="18288">
            <a:spAutoFit/>
          </a:bodyPr>
          <a:lstStyle/>
          <a:p>
            <a:pPr>
              <a:defRPr sz="1100" b="1">
                <a:solidFill>
                  <a:srgbClr val="B07D00"/>
                </a:solidFill>
                <a:latin typeface="Titillium Web SemiBold"/>
              </a:defRPr>
            </a:pPr>
            <a:r>
              <a:t>🧠 1. Semantic Translation Accuracy (Neural Domain)</a:t>
            </a:r>
          </a:p>
          <a:p>
            <a:pPr>
              <a:spcBef>
                <a:spcPts val="100"/>
              </a:spcBef>
              <a:defRPr sz="919">
                <a:solidFill>
                  <a:srgbClr val="222222"/>
                </a:solidFill>
              </a:defRPr>
            </a:pPr>
            <a:r>
              <a:rPr sz="919" b="0">
                <a:solidFill>
                  <a:srgbClr val="222222"/>
                </a:solidFill>
                <a:latin typeface="Arial"/>
              </a:rPr>
              <a:t>•  Test Focus: Validates NL ➔ PDDL translation without constraint loss or hallucinations</a:t>
            </a:r>
          </a:p>
          <a:p>
            <a:pPr>
              <a:spcBef>
                <a:spcPts val="100"/>
              </a:spcBef>
              <a:defRPr sz="919">
                <a:solidFill>
                  <a:srgbClr val="222222"/>
                </a:solidFill>
              </a:defRPr>
            </a:pPr>
            <a:r>
              <a:rPr sz="919" b="0">
                <a:solidFill>
                  <a:srgbClr val="222222"/>
                </a:solidFill>
                <a:latin typeface="Arial"/>
              </a:rPr>
              <a:t>•  Key Metrics: Constraint Retention Rate (CRR = 100%) • CFG AST Pass Rate (</a:t>
            </a:r>
            <a14:m xmlns:a14="http://schemas.microsoft.com/office/drawing/2010/main" xmlns:m="http://schemas.openxmlformats.org/officeDocument/2006/math">
              <m:oMath>
                <m:sSub>
                  <m:e>
                    <m:r>
                      <m:t>v</m:t>
                    </m:r>
                  </m:e>
                  <m:sub>
                    <m:r>
                      <m:t>struct</m:t>
                    </m:r>
                  </m:sub>
                </m:sSub>
                <m:r>
                  <m:t> = 1</m:t>
                </m:r>
              </m:oMath>
            </a14:m>
            <a:r>
              <a:rPr sz="919" b="0">
                <a:solidFill>
                  <a:srgbClr val="222222"/>
                </a:solidFill>
                <a:latin typeface="Arial"/>
              </a:rPr>
              <a:t>)</a:t>
            </a:r>
          </a:p>
        </p:txBody>
      </p:sp>
      <p:sp>
        <p:nvSpPr>
          <p:cNvPr id="14" name="Rounded Rectangle 13"/>
          <p:cNvSpPr/>
          <p:nvPr/>
        </p:nvSpPr>
        <p:spPr>
          <a:xfrm>
            <a:off x="5257800" y="2852928"/>
            <a:ext cx="6080760" cy="1051560"/>
          </a:xfrm>
          <a:prstGeom prst="roundRect">
            <a:avLst/>
          </a:prstGeom>
          <a:solidFill>
            <a:srgbClr val="FFFFFF"/>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67528" y="2889504"/>
            <a:ext cx="5861304" cy="978408"/>
          </a:xfrm>
          <a:prstGeom prst="rect">
            <a:avLst/>
          </a:prstGeom>
          <a:noFill/>
        </p:spPr>
        <p:txBody>
          <a:bodyPr wrap="square" tIns="18288" lIns="18288">
            <a:spAutoFit/>
          </a:bodyPr>
          <a:lstStyle/>
          <a:p>
            <a:pPr>
              <a:defRPr sz="1100" b="1">
                <a:solidFill>
                  <a:srgbClr val="1A7F37"/>
                </a:solidFill>
                <a:latin typeface="Titillium Web SemiBold"/>
              </a:defRPr>
            </a:pPr>
            <a:r>
              <a:t>📐 2. Physical Feasibility (Optical Layer Integrity)</a:t>
            </a:r>
          </a:p>
          <a:p>
            <a:pPr>
              <a:spcBef>
                <a:spcPts val="100"/>
              </a:spcBef>
              <a:defRPr sz="919">
                <a:solidFill>
                  <a:srgbClr val="222222"/>
                </a:solidFill>
              </a:defRPr>
            </a:pPr>
            <a:r>
              <a:rPr sz="919" b="0">
                <a:solidFill>
                  <a:srgbClr val="222222"/>
                </a:solidFill>
                <a:latin typeface="Arial"/>
              </a:rPr>
              <a:t>•  Test Focus: Validates optical reach and non-linear impairments before controller push</a:t>
            </a:r>
          </a:p>
          <a:p>
            <a:pPr>
              <a:spcBef>
                <a:spcPts val="100"/>
              </a:spcBef>
              <a:defRPr sz="919">
                <a:solidFill>
                  <a:srgbClr val="222222"/>
                </a:solidFill>
              </a:defRPr>
            </a:pPr>
            <a:r>
              <a:rPr sz="919" b="0">
                <a:solidFill>
                  <a:srgbClr val="222222"/>
                </a:solidFill>
                <a:latin typeface="Arial"/>
              </a:rPr>
              <a:t>•  Key Metrics: Unsafe Approval Rate (UAR = 0% hard invariant) • QoT Feasibility (100%)</a:t>
            </a:r>
          </a:p>
        </p:txBody>
      </p:sp>
      <p:sp>
        <p:nvSpPr>
          <p:cNvPr id="16" name="Rounded Rectangle 15"/>
          <p:cNvSpPr/>
          <p:nvPr/>
        </p:nvSpPr>
        <p:spPr>
          <a:xfrm>
            <a:off x="5257800" y="3995928"/>
            <a:ext cx="6080760" cy="1051560"/>
          </a:xfrm>
          <a:prstGeom prst="roundRect">
            <a:avLst/>
          </a:prstGeom>
          <a:solidFill>
            <a:srgbClr val="FFFFFF"/>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67528" y="4032504"/>
            <a:ext cx="5861304" cy="978408"/>
          </a:xfrm>
          <a:prstGeom prst="rect">
            <a:avLst/>
          </a:prstGeom>
          <a:noFill/>
        </p:spPr>
        <p:txBody>
          <a:bodyPr wrap="square" tIns="18288" lIns="18288">
            <a:spAutoFit/>
          </a:bodyPr>
          <a:lstStyle/>
          <a:p>
            <a:pPr>
              <a:defRPr sz="1100" b="1">
                <a:solidFill>
                  <a:srgbClr val="0F2C53"/>
                </a:solidFill>
                <a:latin typeface="Titillium Web SemiBold"/>
              </a:defRPr>
            </a:pPr>
            <a:r>
              <a:t>⚡ 3. Orchestration &amp; Resource Efficiency (System Limits)</a:t>
            </a:r>
          </a:p>
          <a:p>
            <a:pPr>
              <a:spcBef>
                <a:spcPts val="100"/>
              </a:spcBef>
              <a:defRPr sz="919">
                <a:solidFill>
                  <a:srgbClr val="222222"/>
                </a:solidFill>
              </a:defRPr>
            </a:pPr>
            <a:r>
              <a:rPr sz="919" b="0">
                <a:solidFill>
                  <a:srgbClr val="222222"/>
                </a:solidFill>
                <a:latin typeface="Arial"/>
              </a:rPr>
              <a:t>•  Test Focus: Quantifies prompt token savings from GraphRAG and operator fatigue reduction</a:t>
            </a:r>
          </a:p>
          <a:p>
            <a:pPr>
              <a:spcBef>
                <a:spcPts val="100"/>
              </a:spcBef>
              <a:defRPr sz="919">
                <a:solidFill>
                  <a:srgbClr val="222222"/>
                </a:solidFill>
              </a:defRPr>
            </a:pPr>
            <a:r>
              <a:rPr sz="919" b="0">
                <a:solidFill>
                  <a:srgbClr val="222222"/>
                </a:solidFill>
                <a:latin typeface="Arial"/>
              </a:rPr>
              <a:t>•  Key Metrics: &gt; 75% Token Reduction (</a:t>
            </a:r>
            <a14:m xmlns:a14="http://schemas.microsoft.com/office/drawing/2010/main" xmlns:m="http://schemas.openxmlformats.org/officeDocument/2006/math">
              <m:oMath>
                <m:sSub>
                  <m:e>
                    <m:r>
                      <m:t>G</m:t>
                    </m:r>
                  </m:e>
                  <m:sub>
                    <m:r>
                      <m:t>sub</m:t>
                    </m:r>
                  </m:sub>
                </m:sSub>
                <m:r>
                  <m:t> ⊆ G</m:t>
                </m:r>
              </m:oMath>
            </a14:m>
            <a:r>
              <a:rPr sz="919" b="0">
                <a:solidFill>
                  <a:srgbClr val="222222"/>
                </a:solidFill>
                <a:latin typeface="Arial"/>
              </a:rPr>
              <a:t>) • &gt; 70% HITL Cut • Sub-second compute</a:t>
            </a:r>
          </a:p>
        </p:txBody>
      </p:sp>
      <p:sp>
        <p:nvSpPr>
          <p:cNvPr id="18" name="Rounded Rectangle 17"/>
          <p:cNvSpPr/>
          <p:nvPr/>
        </p:nvSpPr>
        <p:spPr>
          <a:xfrm>
            <a:off x="5257800" y="5138928"/>
            <a:ext cx="6080760" cy="1051560"/>
          </a:xfrm>
          <a:prstGeom prst="roundRect">
            <a:avLst/>
          </a:prstGeom>
          <a:solidFill>
            <a:srgbClr val="FFFFFF"/>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7528" y="5175504"/>
            <a:ext cx="5861304" cy="978408"/>
          </a:xfrm>
          <a:prstGeom prst="rect">
            <a:avLst/>
          </a:prstGeom>
          <a:noFill/>
        </p:spPr>
        <p:txBody>
          <a:bodyPr wrap="square" tIns="18288" lIns="18288">
            <a:spAutoFit/>
          </a:bodyPr>
          <a:lstStyle/>
          <a:p>
            <a:pPr>
              <a:defRPr sz="1100" b="1">
                <a:solidFill>
                  <a:srgbClr val="85200C"/>
                </a:solidFill>
                <a:latin typeface="Titillium Web SemiBold"/>
              </a:defRPr>
            </a:pPr>
            <a:r>
              <a:t>🔒 4. RADG Decision Robustness (Gate Reliability)</a:t>
            </a:r>
          </a:p>
          <a:p>
            <a:pPr>
              <a:spcBef>
                <a:spcPts val="100"/>
              </a:spcBef>
              <a:defRPr sz="919">
                <a:solidFill>
                  <a:srgbClr val="222222"/>
                </a:solidFill>
              </a:defRPr>
            </a:pPr>
            <a:r>
              <a:rPr sz="919" b="0">
                <a:solidFill>
                  <a:srgbClr val="222222"/>
                </a:solidFill>
                <a:latin typeface="Arial"/>
              </a:rPr>
              <a:t>•  Test Focus: Stress-tests piecewise decision logic (</a:t>
            </a:r>
            <a14:m xmlns:a14="http://schemas.microsoft.com/office/drawing/2010/main" xmlns:m="http://schemas.openxmlformats.org/officeDocument/2006/math">
              <m:oMath>
                <m:sSub>
                  <m:e>
                    <m:r>
                      <m:t>U</m:t>
                    </m:r>
                  </m:e>
                  <m:sub>
                    <m:r>
                      <m:t>sem</m:t>
                    </m:r>
                  </m:sub>
                </m:sSub>
              </m:oMath>
            </a14:m>
            <a:r>
              <a:rPr sz="919" b="0">
                <a:solidFill>
                  <a:srgbClr val="222222"/>
                </a:solidFill>
                <a:latin typeface="Arial"/>
              </a:rPr>
              <a:t>, </a:t>
            </a:r>
            <a14:m xmlns:a14="http://schemas.microsoft.com/office/drawing/2010/main" xmlns:m="http://schemas.openxmlformats.org/officeDocument/2006/math">
              <m:oMath>
                <m:sSub>
                  <m:e>
                    <m:r>
                      <m:t>QoT</m:t>
                    </m:r>
                  </m:e>
                  <m:sub>
                    <m:r>
                      <m:t>valid</m:t>
                    </m:r>
                  </m:sub>
                </m:sSub>
              </m:oMath>
            </a14:m>
            <a:r>
              <a:rPr sz="919" b="0">
                <a:solidFill>
                  <a:srgbClr val="222222"/>
                </a:solidFill>
                <a:latin typeface="Arial"/>
              </a:rPr>
              <a:t>) across boundary conditions</a:t>
            </a:r>
          </a:p>
          <a:p>
            <a:pPr>
              <a:spcBef>
                <a:spcPts val="100"/>
              </a:spcBef>
              <a:defRPr sz="919">
                <a:solidFill>
                  <a:srgbClr val="222222"/>
                </a:solidFill>
              </a:defRPr>
            </a:pPr>
            <a:r>
              <a:rPr sz="919" b="0">
                <a:solidFill>
                  <a:srgbClr val="222222"/>
                </a:solidFill>
                <a:latin typeface="Arial"/>
              </a:rPr>
              <a:t>•  Key Metrics: Gate Decision Accuracy (&gt; 98%) • Zero False Positives (FPR = 0%)</a:t>
            </a:r>
          </a:p>
        </p:txBody>
      </p:sp>
      <p:sp>
        <p:nvSpPr>
          <p:cNvPr id="20" name="Rounded Rectangle 19"/>
          <p:cNvSpPr/>
          <p:nvPr/>
        </p:nvSpPr>
        <p:spPr>
          <a:xfrm>
            <a:off x="1005840" y="1819656"/>
            <a:ext cx="1463040" cy="571500"/>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F2C53"/>
                </a:solidFill>
                <a:latin typeface="Titillium Web SemiBold"/>
              </a:rPr>
              <a:t>Baseline A</a:t>
            </a:r>
          </a:p>
          <a:p>
            <a:pPr algn="ctr"/>
            <a:r>
              <a:rPr sz="1050">
                <a:solidFill>
                  <a:srgbClr val="222222"/>
                </a:solidFill>
                <a:latin typeface="Arial"/>
              </a:rPr>
              <a:t>LLM-Only</a:t>
            </a:r>
          </a:p>
        </p:txBody>
      </p:sp>
      <p:sp>
        <p:nvSpPr>
          <p:cNvPr id="21" name="Rounded Rectangle 20"/>
          <p:cNvSpPr/>
          <p:nvPr/>
        </p:nvSpPr>
        <p:spPr>
          <a:xfrm>
            <a:off x="3118104" y="1819656"/>
            <a:ext cx="1463040" cy="571500"/>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F2C53"/>
                </a:solidFill>
                <a:latin typeface="Titillium Web SemiBold"/>
              </a:rPr>
              <a:t>Baseline B</a:t>
            </a:r>
          </a:p>
          <a:p>
            <a:pPr algn="ctr"/>
            <a:r>
              <a:rPr sz="1050">
                <a:solidFill>
                  <a:srgbClr val="222222"/>
                </a:solidFill>
                <a:latin typeface="Arial"/>
              </a:rPr>
              <a:t>Always-HITL</a:t>
            </a:r>
          </a:p>
        </p:txBody>
      </p:sp>
      <p:sp>
        <p:nvSpPr>
          <p:cNvPr id="22" name="Rounded Rectangle 21"/>
          <p:cNvSpPr/>
          <p:nvPr/>
        </p:nvSpPr>
        <p:spPr>
          <a:xfrm>
            <a:off x="828446" y="2674620"/>
            <a:ext cx="3953865" cy="589788"/>
          </a:xfrm>
          <a:prstGeom prst="roundRect">
            <a:avLst/>
          </a:prstGeom>
          <a:solidFill>
            <a:srgbClr val="FFFFFF"/>
          </a:solidFill>
          <a:ln w="127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A7F37"/>
                </a:solidFill>
                <a:latin typeface="Titillium Web SemiBold"/>
              </a:rPr>
              <a:t>Proposed Neurosymbolic RADG</a:t>
            </a:r>
          </a:p>
          <a:p>
            <a:pPr algn="ctr"/>
            <a:r>
              <a:rPr sz="1050">
                <a:solidFill>
                  <a:srgbClr val="222222"/>
                </a:solidFill>
                <a:latin typeface="Arial"/>
              </a:rPr>
              <a:t>Decoupled translation + sequential pre-deployment risk gates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Key Findings &amp; Pre-Deployment Guarantees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4846320" cy="15087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261872"/>
            <a:ext cx="4572000" cy="1362456"/>
          </a:xfrm>
          <a:prstGeom prst="rect">
            <a:avLst/>
          </a:prstGeom>
          <a:noFill/>
        </p:spPr>
        <p:txBody>
          <a:bodyPr wrap="square" lIns="45720">
            <a:spAutoFit/>
          </a:bodyPr>
          <a:lstStyle/>
          <a:p>
            <a:pPr>
              <a:defRPr sz="3200" b="1">
                <a:solidFill>
                  <a:srgbClr val="1A7F37"/>
                </a:solidFill>
                <a:latin typeface="Titillium Web SemiBold"/>
              </a:defRPr>
            </a:pPr>
            <a:r>
              <a:t>100%</a:t>
            </a:r>
          </a:p>
          <a:p>
            <a:pPr>
              <a:defRPr sz="1300" b="1">
                <a:solidFill>
                  <a:srgbClr val="0F2C53"/>
                </a:solidFill>
                <a:latin typeface="Titillium Web SemiBold"/>
              </a:defRPr>
            </a:pPr>
            <a:r>
              <a:t>Pre-Deployment Safety Guarantee</a:t>
            </a:r>
          </a:p>
          <a:p>
            <a:pPr>
              <a:defRPr sz="1000">
                <a:solidFill>
                  <a:srgbClr val="222222"/>
                </a:solidFill>
              </a:defRPr>
            </a:pPr>
            <a14:m xmlns:a14="http://schemas.microsoft.com/office/drawing/2010/main" xmlns:m="http://schemas.openxmlformats.org/officeDocument/2006/math">
              <m:oMath>
                <m:r>
                  <m:t>UAR = 100%</m:t>
                </m:r>
              </m:oMath>
            </a14:m>
            <a:r>
              <a:rPr sz="1000" b="0">
                <a:solidFill>
                  <a:srgbClr val="222222"/>
                </a:solidFill>
                <a:latin typeface="Arial"/>
              </a:rPr>
              <a:t>: Zero unfeasible lightpaths reach controller (vs 34% in baseline)</a:t>
            </a:r>
          </a:p>
        </p:txBody>
      </p:sp>
      <p:sp>
        <p:nvSpPr>
          <p:cNvPr id="9" name="Rounded Rectangle 8"/>
          <p:cNvSpPr/>
          <p:nvPr/>
        </p:nvSpPr>
        <p:spPr>
          <a:xfrm>
            <a:off x="685800" y="288036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953512"/>
            <a:ext cx="4572000" cy="1362456"/>
          </a:xfrm>
          <a:prstGeom prst="rect">
            <a:avLst/>
          </a:prstGeom>
          <a:noFill/>
        </p:spPr>
        <p:txBody>
          <a:bodyPr wrap="square" lIns="45720">
            <a:spAutoFit/>
          </a:bodyPr>
          <a:lstStyle/>
          <a:p>
            <a:pPr>
              <a:defRPr sz="3200" b="1">
                <a:solidFill>
                  <a:srgbClr val="0F2C53"/>
                </a:solidFill>
                <a:latin typeface="Titillium Web SemiBold"/>
              </a:defRPr>
            </a:pPr>
            <a:r>
              <a:t>&gt; 70%</a:t>
            </a:r>
          </a:p>
          <a:p>
            <a:pPr>
              <a:defRPr sz="1300" b="1">
                <a:solidFill>
                  <a:srgbClr val="0F2C53"/>
                </a:solidFill>
                <a:latin typeface="Titillium Web SemiBold"/>
              </a:defRPr>
            </a:pPr>
            <a:r>
              <a:t>Reduction in Operator Fatigue</a:t>
            </a:r>
          </a:p>
          <a:p>
            <a:pPr>
              <a:defRPr sz="1000">
                <a:solidFill>
                  <a:srgbClr val="222222"/>
                </a:solidFill>
              </a:defRPr>
            </a:pPr>
            <a:r>
              <a:rPr sz="1000" b="0">
                <a:solidFill>
                  <a:srgbClr val="222222"/>
                </a:solidFill>
                <a:latin typeface="Arial"/>
              </a:rPr>
              <a:t>Autonomous approval when </a:t>
            </a:r>
            <a14:m xmlns:a14="http://schemas.microsoft.com/office/drawing/2010/main" xmlns:m="http://schemas.openxmlformats.org/officeDocument/2006/math">
              <m:oMath>
                <m:sSub>
                  <m:e>
                    <m:r>
                      <m:t>U</m:t>
                    </m:r>
                  </m:e>
                  <m:sub>
                    <m:r>
                      <m:t>sem</m:t>
                    </m:r>
                  </m:sub>
                </m:sSub>
                <m:r>
                  <m:t> ≤ </m:t>
                </m:r>
                <m:sSub>
                  <m:e>
                    <m:r>
                      <m:t>τ</m:t>
                    </m:r>
                  </m:e>
                  <m:sub>
                    <m:r>
                      <m:t>sem</m:t>
                    </m:r>
                  </m:sub>
                </m:sSub>
              </m:oMath>
            </a14:m>
            <a:r>
              <a:rPr sz="1000" b="0">
                <a:solidFill>
                  <a:srgbClr val="222222"/>
                </a:solidFill>
                <a:latin typeface="Arial"/>
              </a:rPr>
              <a:t> (operator engaged only on high risk)</a:t>
            </a:r>
          </a:p>
        </p:txBody>
      </p:sp>
      <p:sp>
        <p:nvSpPr>
          <p:cNvPr id="11" name="Rounded Rectangle 10"/>
          <p:cNvSpPr/>
          <p:nvPr/>
        </p:nvSpPr>
        <p:spPr>
          <a:xfrm>
            <a:off x="685800" y="457200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45152"/>
            <a:ext cx="4572000" cy="1362456"/>
          </a:xfrm>
          <a:prstGeom prst="rect">
            <a:avLst/>
          </a:prstGeom>
          <a:noFill/>
        </p:spPr>
        <p:txBody>
          <a:bodyPr wrap="square" lIns="45720">
            <a:spAutoFit/>
          </a:bodyPr>
          <a:lstStyle/>
          <a:p>
            <a:pPr>
              <a:defRPr sz="3200" b="1">
                <a:solidFill>
                  <a:srgbClr val="0F2C53"/>
                </a:solidFill>
                <a:latin typeface="Titillium Web SemiBold"/>
              </a:defRPr>
            </a:pPr>
            <a:r>
              <a:t>&lt; 5 ms</a:t>
            </a:r>
          </a:p>
          <a:p>
            <a:pPr>
              <a:defRPr sz="1300" b="1">
                <a:solidFill>
                  <a:srgbClr val="0F2C53"/>
                </a:solidFill>
                <a:latin typeface="Titillium Web SemiBold"/>
              </a:defRPr>
            </a:pPr>
            <a:r>
              <a:t>Deterministic Physics Latency</a:t>
            </a:r>
          </a:p>
          <a:p>
            <a:pPr>
              <a:defRPr sz="1000">
                <a:solidFill>
                  <a:srgbClr val="222222"/>
                </a:solidFill>
              </a:defRPr>
            </a:pPr>
            <a:r>
              <a:rPr sz="1000" b="0">
                <a:solidFill>
                  <a:srgbClr val="222222"/>
                </a:solidFill>
                <a:latin typeface="Arial"/>
              </a:rPr>
              <a:t>GN model executes in </a:t>
            </a:r>
            <a14:m xmlns:a14="http://schemas.microsoft.com/office/drawing/2010/main" xmlns:m="http://schemas.openxmlformats.org/officeDocument/2006/math">
              <m:oMath>
                <m:sSub>
                  <m:e>
                    <m:r>
                      <m:t>T</m:t>
                    </m:r>
                  </m:e>
                  <m:sub>
                    <m:r>
                      <m:t>phys</m:t>
                    </m:r>
                  </m:sub>
                </m:sSub>
                <m:r>
                  <m:t> &lt; 5 ms</m:t>
                </m:r>
              </m:oMath>
            </a14:m>
            <a:r>
              <a:rPr sz="1000" b="0">
                <a:solidFill>
                  <a:srgbClr val="222222"/>
                </a:solidFill>
                <a:latin typeface="Arial"/>
              </a:rPr>
              <a:t> (</a:t>
            </a:r>
            <a14:m xmlns:a14="http://schemas.microsoft.com/office/drawing/2010/main" xmlns:m="http://schemas.openxmlformats.org/officeDocument/2006/math">
              <m:oMath>
                <m:sSub>
                  <m:e>
                    <m:r>
                      <m:t>T</m:t>
                    </m:r>
                  </m:e>
                  <m:sub>
                    <m:r>
                      <m:t>solver</m:t>
                    </m:r>
                  </m:sub>
                </m:sSub>
                <m:r>
                  <m:t> &lt; 10 ms</m:t>
                </m:r>
              </m:oMath>
            </a14:m>
            <a:r>
              <a:rPr sz="1000" b="0">
                <a:solidFill>
                  <a:srgbClr val="222222"/>
                </a:solidFill>
                <a:latin typeface="Arial"/>
              </a:rPr>
              <a:t>, sub-second total)</a:t>
            </a:r>
          </a:p>
        </p:txBody>
      </p:sp>
      <p:sp>
        <p:nvSpPr>
          <p:cNvPr id="13" name="Rounded Rectangle 12"/>
          <p:cNvSpPr/>
          <p:nvPr/>
        </p:nvSpPr>
        <p:spPr>
          <a:xfrm>
            <a:off x="5760720" y="1188720"/>
            <a:ext cx="5715000" cy="4892040"/>
          </a:xfrm>
          <a:prstGeom prst="roundRect">
            <a:avLst/>
          </a:prstGeom>
          <a:solidFill>
            <a:srgbClr val="F4F6F9"/>
          </a:solidFill>
          <a:ln w="19050">
            <a:solidFill>
              <a:srgbClr val="5A6B8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3200">
                <a:latin typeface="Segoe UI Emoji"/>
              </a:defRPr>
            </a:pPr>
            <a:r>
              <a:t>📊</a:t>
            </a:r>
          </a:p>
          <a:p>
            <a:pPr algn="ctr">
              <a:defRPr sz="1500" b="1">
                <a:solidFill>
                  <a:srgbClr val="0F2C53"/>
                </a:solidFill>
                <a:latin typeface="Titillium Web SemiBold"/>
              </a:defRPr>
            </a:pPr>
            <a:r>
              <a:t>Empirical Benchmark: GSNR Distribution &amp; Blocking Rate vs Baselines</a:t>
            </a:r>
          </a:p>
          <a:p>
            <a:pPr algn="ctr">
              <a:defRPr sz="1100">
                <a:solidFill>
                  <a:srgbClr val="5A6B82"/>
                </a:solidFill>
                <a:latin typeface="Arial"/>
              </a:defRPr>
            </a:pPr>
            <a:r>
              <a:t>(Target: 16:9 Matplotlib / Chapter 4 Benchmark Plot — Replace in PowerPoint)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Conclusions &amp; Main Takeaways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23444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Neurosymbolic Decoupling is Essential</a:t>
            </a:r>
          </a:p>
        </p:txBody>
      </p:sp>
      <p:sp>
        <p:nvSpPr>
          <p:cNvPr id="9" name="TextBox 8"/>
          <p:cNvSpPr txBox="1"/>
          <p:nvPr/>
        </p:nvSpPr>
        <p:spPr>
          <a:xfrm>
            <a:off x="82296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Probabilistic LLMs must never calculate physical impairments or route lightpaths</a:t>
            </a:r>
          </a:p>
          <a:p>
            <a:pPr>
              <a:spcBef>
                <a:spcPts val="0"/>
              </a:spcBef>
              <a:spcAft>
                <a:spcPts val="300"/>
              </a:spcAft>
              <a:defRPr sz="1100">
                <a:solidFill>
                  <a:srgbClr val="222222"/>
                </a:solidFill>
              </a:defRPr>
            </a:pPr>
            <a:r>
              <a:rPr sz="1100" b="0">
                <a:solidFill>
                  <a:srgbClr val="222222"/>
                </a:solidFill>
                <a:latin typeface="Arial"/>
              </a:rPr>
              <a:t>•  Natural language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100" b="0">
                <a:solidFill>
                  <a:srgbClr val="222222"/>
                </a:solidFill>
                <a:latin typeface="Arial"/>
              </a:rPr>
              <a:t> bridges to formal planning</a:t>
            </a:r>
          </a:p>
          <a:p>
            <a:pPr>
              <a:spcBef>
                <a:spcPts val="0"/>
              </a:spcBef>
              <a:spcAft>
                <a:spcPts val="300"/>
              </a:spcAft>
              <a:defRPr sz="1100">
                <a:solidFill>
                  <a:srgbClr val="222222"/>
                </a:solidFill>
              </a:defRPr>
            </a:pPr>
            <a:r>
              <a:rPr sz="1100" b="0">
                <a:solidFill>
                  <a:srgbClr val="222222"/>
                </a:solidFill>
                <a:latin typeface="Arial"/>
              </a:rPr>
              <a:t>•  Guarantees formal soundness without constraining operator expressiveness</a:t>
            </a:r>
          </a:p>
        </p:txBody>
      </p:sp>
      <p:sp>
        <p:nvSpPr>
          <p:cNvPr id="10" name="Rounded Rectangle 9"/>
          <p:cNvSpPr/>
          <p:nvPr/>
        </p:nvSpPr>
        <p:spPr>
          <a:xfrm>
            <a:off x="6217920" y="1234440"/>
            <a:ext cx="5212080" cy="233172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34440"/>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Sequential Risk Gates Prevent Failure</a:t>
            </a:r>
          </a:p>
        </p:txBody>
      </p:sp>
      <p:sp>
        <p:nvSpPr>
          <p:cNvPr id="12" name="TextBox 11"/>
          <p:cNvSpPr txBox="1"/>
          <p:nvPr/>
        </p:nvSpPr>
        <p:spPr>
          <a:xfrm>
            <a:off x="635508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Early semantic evaluation (</a:t>
            </a:r>
            <a14:m xmlns:a14="http://schemas.microsoft.com/office/drawing/2010/main" xmlns:m="http://schemas.openxmlformats.org/officeDocument/2006/math">
              <m:oMath>
                <m:sSub>
                  <m:e>
                    <m:r>
                      <m:t>U</m:t>
                    </m:r>
                  </m:e>
                  <m:sub>
                    <m:r>
                      <m:t>sem</m:t>
                    </m:r>
                  </m:sub>
                </m:sSub>
                <m:r>
                  <m:t> ≤ </m:t>
                </m:r>
                <m:sSub>
                  <m:e>
                    <m:r>
                      <m:t>τ</m:t>
                    </m:r>
                  </m:e>
                  <m:sub>
                    <m:r>
                      <m:t>sem</m:t>
                    </m:r>
                  </m:sub>
                </m:sSub>
              </m:oMath>
            </a14:m>
            <a:r>
              <a:rPr sz="1100" b="0">
                <a:solidFill>
                  <a:srgbClr val="222222"/>
                </a:solidFill>
                <a:latin typeface="Arial"/>
              </a:rPr>
              <a:t>) eliminates drift before physics computation</a:t>
            </a:r>
          </a:p>
          <a:p>
            <a:pPr>
              <a:spcBef>
                <a:spcPts val="0"/>
              </a:spcBef>
              <a:spcAft>
                <a:spcPts val="300"/>
              </a:spcAft>
              <a:defRPr sz="1100">
                <a:solidFill>
                  <a:srgbClr val="222222"/>
                </a:solidFill>
              </a:defRPr>
            </a:pPr>
            <a:r>
              <a:rPr sz="1100" b="0">
                <a:solidFill>
                  <a:srgbClr val="222222"/>
                </a:solidFill>
                <a:latin typeface="Arial"/>
              </a:rPr>
              <a:t>•  Deterministic GN-model verification (</a:t>
            </a:r>
            <a14:m xmlns:a14="http://schemas.microsoft.com/office/drawing/2010/main" xmlns:m="http://schemas.openxmlformats.org/officeDocument/2006/math">
              <m:oMath>
                <m:sSub>
                  <m:e>
                    <m:r>
                      <m:t>QoT</m:t>
                    </m:r>
                  </m:e>
                  <m:sub>
                    <m:r>
                      <m:t>valid</m:t>
                    </m:r>
                  </m:sub>
                </m:sSub>
                <m:r>
                  <m:t> = 1</m:t>
                </m:r>
              </m:oMath>
            </a14:m>
            <a:r>
              <a:rPr sz="1100" b="0">
                <a:solidFill>
                  <a:srgbClr val="222222"/>
                </a:solidFill>
                <a:latin typeface="Arial"/>
              </a:rPr>
              <a:t>) ensures 100% physical feasibility</a:t>
            </a:r>
          </a:p>
          <a:p>
            <a:pPr>
              <a:spcBef>
                <a:spcPts val="0"/>
              </a:spcBef>
              <a:spcAft>
                <a:spcPts val="300"/>
              </a:spcAft>
              <a:defRPr sz="1100">
                <a:solidFill>
                  <a:srgbClr val="222222"/>
                </a:solidFill>
              </a:defRPr>
            </a:pPr>
            <a:r>
              <a:rPr sz="1100" b="0">
                <a:solidFill>
                  <a:srgbClr val="222222"/>
                </a:solidFill>
                <a:latin typeface="Arial"/>
              </a:rPr>
              <a:t>•  Zero unverified configurations ever reach the optical controller</a:t>
            </a:r>
          </a:p>
        </p:txBody>
      </p:sp>
      <p:sp>
        <p:nvSpPr>
          <p:cNvPr id="13" name="Rounded Rectangle 12"/>
          <p:cNvSpPr/>
          <p:nvPr/>
        </p:nvSpPr>
        <p:spPr>
          <a:xfrm>
            <a:off x="68580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Selective HITL Optimizes Efficiency</a:t>
            </a:r>
          </a:p>
        </p:txBody>
      </p:sp>
      <p:sp>
        <p:nvSpPr>
          <p:cNvPr id="15" name="TextBox 14"/>
          <p:cNvSpPr txBox="1"/>
          <p:nvPr/>
        </p:nvSpPr>
        <p:spPr>
          <a:xfrm>
            <a:off x="82296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Engaging operators proportionally to risk eliminates fatigue while maintaining safety</a:t>
            </a:r>
          </a:p>
          <a:p>
            <a:pPr>
              <a:spcBef>
                <a:spcPts val="0"/>
              </a:spcBef>
              <a:spcAft>
                <a:spcPts val="300"/>
              </a:spcAft>
              <a:defRPr sz="1100">
                <a:solidFill>
                  <a:srgbClr val="222222"/>
                </a:solidFill>
              </a:defRPr>
            </a:pPr>
            <a:r>
              <a:rPr sz="1100" b="0">
                <a:solidFill>
                  <a:srgbClr val="222222"/>
                </a:solidFill>
                <a:latin typeface="Arial"/>
              </a:rPr>
              <a:t>•  Over 70% reduction in human intervention compared to always-on review</a:t>
            </a:r>
          </a:p>
          <a:p>
            <a:pPr>
              <a:spcBef>
                <a:spcPts val="0"/>
              </a:spcBef>
              <a:spcAft>
                <a:spcPts val="300"/>
              </a:spcAft>
              <a:defRPr sz="1100">
                <a:solidFill>
                  <a:srgbClr val="222222"/>
                </a:solidFill>
              </a:defRPr>
            </a:pPr>
            <a:r>
              <a:rPr sz="1100" b="0">
                <a:solidFill>
                  <a:srgbClr val="222222"/>
                </a:solidFill>
                <a:latin typeface="Arial"/>
              </a:rPr>
              <a:t>•  Sub-second planning latency enables rapid dynamic lightpath turn-up</a:t>
            </a:r>
          </a:p>
        </p:txBody>
      </p:sp>
      <p:sp>
        <p:nvSpPr>
          <p:cNvPr id="16" name="Rounded Rectangle 15"/>
          <p:cNvSpPr/>
          <p:nvPr/>
        </p:nvSpPr>
        <p:spPr>
          <a:xfrm>
            <a:off x="621792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Production-Ready Engineering</a:t>
            </a:r>
          </a:p>
        </p:txBody>
      </p:sp>
      <p:sp>
        <p:nvSpPr>
          <p:cNvPr id="18" name="TextBox 17"/>
          <p:cNvSpPr txBox="1"/>
          <p:nvPr/>
        </p:nvSpPr>
        <p:spPr>
          <a:xfrm>
            <a:off x="635508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Fully implemented LangGraph state machine with memory checkpoints</a:t>
            </a:r>
          </a:p>
          <a:p>
            <a:pPr>
              <a:spcBef>
                <a:spcPts val="0"/>
              </a:spcBef>
              <a:spcAft>
                <a:spcPts val="300"/>
              </a:spcAft>
              <a:defRPr sz="1100">
                <a:solidFill>
                  <a:srgbClr val="222222"/>
                </a:solidFill>
              </a:defRPr>
            </a:pPr>
            <a:r>
              <a:rPr sz="1100" b="0">
                <a:solidFill>
                  <a:srgbClr val="222222"/>
                </a:solidFill>
                <a:latin typeface="Arial"/>
              </a:rPr>
              <a:t>•  Benchmarked on realistic </a:t>
            </a:r>
            <a14:m xmlns:a14="http://schemas.microsoft.com/office/drawing/2010/main" xmlns:m="http://schemas.openxmlformats.org/officeDocument/2006/math">
              <m:oMath>
                <m:r>
                  <m:t>|V| = 17, |E| = 26</m:t>
                </m:r>
              </m:oMath>
            </a14:m>
            <a:r>
              <a:rPr sz="1100" b="0">
                <a:solidFill>
                  <a:srgbClr val="222222"/>
                </a:solidFill>
                <a:latin typeface="Arial"/>
              </a:rPr>
              <a:t> German topology and RESTConf testbed</a:t>
            </a:r>
          </a:p>
          <a:p>
            <a:pPr>
              <a:spcBef>
                <a:spcPts val="0"/>
              </a:spcBef>
              <a:spcAft>
                <a:spcPts val="300"/>
              </a:spcAft>
              <a:defRPr sz="1100">
                <a:solidFill>
                  <a:srgbClr val="222222"/>
                </a:solidFill>
              </a:defRPr>
            </a:pPr>
            <a:r>
              <a:rPr sz="1100" b="0">
                <a:solidFill>
                  <a:srgbClr val="222222"/>
                </a:solidFill>
                <a:latin typeface="Arial"/>
              </a:rPr>
              <a:t>•  Establishes a reproducible foundation for autonomous optical networking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16</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Future Outlook &amp; Acknowledgments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Joint Compute and Optical Scheduling</a:t>
            </a:r>
          </a:p>
          <a:p>
            <a:pPr>
              <a:spcBef>
                <a:spcPts val="400"/>
              </a:spcBef>
              <a:defRPr sz="1100">
                <a:solidFill>
                  <a:srgbClr val="222222"/>
                </a:solidFill>
                <a:latin typeface="Arial"/>
              </a:defRPr>
            </a:pPr>
            <a:r>
              <a:t>Extending PDDL domain to co-schedule distributed GPU cluster workloads alongside optical lightpaths</a:t>
            </a:r>
          </a:p>
        </p:txBody>
      </p:sp>
      <p:sp>
        <p:nvSpPr>
          <p:cNvPr id="8" name="Rounded Rectangle 7"/>
          <p:cNvSpPr/>
          <p:nvPr/>
        </p:nvSpPr>
        <p:spPr>
          <a:xfrm>
            <a:off x="685800" y="288036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Multi-Band &amp; Dynamic Optical Channels</a:t>
            </a:r>
          </a:p>
          <a:p>
            <a:pPr>
              <a:spcBef>
                <a:spcPts val="400"/>
              </a:spcBef>
              <a:defRPr sz="1100">
                <a:solidFill>
                  <a:srgbClr val="222222"/>
                </a:solidFill>
                <a:latin typeface="Arial"/>
              </a:defRPr>
            </a:pPr>
            <a:r>
              <a:t>Expanding analytical GN-models to incorporate C+L multi-band SRS inter-channel Raman crosstalk</a:t>
            </a:r>
          </a:p>
        </p:txBody>
      </p:sp>
      <p:sp>
        <p:nvSpPr>
          <p:cNvPr id="9" name="Rounded Rectangle 8"/>
          <p:cNvSpPr/>
          <p:nvPr/>
        </p:nvSpPr>
        <p:spPr>
          <a:xfrm>
            <a:off x="685800" y="452628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Autonomous Online Self-Healing</a:t>
            </a:r>
          </a:p>
          <a:p>
            <a:pPr>
              <a:spcBef>
                <a:spcPts val="400"/>
              </a:spcBef>
              <a:defRPr sz="1100">
                <a:solidFill>
                  <a:srgbClr val="222222"/>
                </a:solidFill>
                <a:latin typeface="Arial"/>
              </a:defRPr>
            </a:pPr>
            <a:r>
              <a:t>Ingesting real-time testbed telemetry for closed-loop intent re-planning upon physical fiber degradation</a:t>
            </a:r>
          </a:p>
        </p:txBody>
      </p:sp>
      <p:sp>
        <p:nvSpPr>
          <p:cNvPr id="10" name="Rounded Rectangle 9"/>
          <p:cNvSpPr/>
          <p:nvPr/>
        </p:nvSpPr>
        <p:spPr>
          <a:xfrm>
            <a:off x="7132320" y="1234440"/>
            <a:ext cx="4343400" cy="47548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365760" lIns="228600" rIns="228600"/>
          <a:lstStyle/>
          <a:p>
            <a:pPr algn="ctr">
              <a:defRPr sz="1600" b="1">
                <a:solidFill>
                  <a:srgbClr val="85200C"/>
                </a:solidFill>
                <a:latin typeface="Titillium Web SemiBold"/>
              </a:defRPr>
            </a:pPr>
            <a:r>
              <a:t>ACKNOWLEDGMENTS</a:t>
            </a:r>
          </a:p>
          <a:p>
            <a:pPr algn="ctr">
              <a:spcBef>
                <a:spcPts val="1200"/>
              </a:spcBef>
              <a:defRPr sz="1200">
                <a:solidFill>
                  <a:srgbClr val="222222"/>
                </a:solidFill>
                <a:latin typeface="Arial"/>
              </a:defRPr>
            </a:pPr>
            <a:r>
              <a:t>Sincere gratitude to Academic Advisor Prof. Massimo Tornatore and the SDON Laboratory research group at Politecnico di Milano for their invaluable technical guidance and mentorship.</a:t>
            </a:r>
          </a:p>
          <a:p>
            <a:pPr algn="ctr">
              <a:spcBef>
                <a:spcPts val="1600"/>
              </a:spcBef>
              <a:defRPr sz="1200">
                <a:solidFill>
                  <a:srgbClr val="5A6B82"/>
                </a:solidFill>
                <a:latin typeface="Arial"/>
              </a:defRPr>
            </a:pPr>
            <a:r>
              <a:t>──────────────────────</a:t>
            </a:r>
          </a:p>
          <a:p>
            <a:pPr algn="ctr">
              <a:spcBef>
                <a:spcPts val="1600"/>
              </a:spcBef>
              <a:defRPr sz="1800" b="1">
                <a:solidFill>
                  <a:srgbClr val="0F2C53"/>
                </a:solidFill>
                <a:latin typeface="Titillium Web SemiBold"/>
              </a:defRPr>
            </a:pPr>
            <a:r>
              <a:t>Thank You for Your Attention!</a:t>
            </a:r>
          </a:p>
          <a:p>
            <a:pPr algn="ctr">
              <a:spcBef>
                <a:spcPts val="400"/>
              </a:spcBef>
              <a:defRPr sz="1400">
                <a:solidFill>
                  <a:srgbClr val="5A6B82"/>
                </a:solidFill>
                <a:latin typeface="Arial"/>
              </a:defRPr>
            </a:pPr>
            <a:r>
              <a:t>Questions &amp; Discussion</a:t>
            </a:r>
          </a:p>
        </p:txBody>
      </p:sp>
    </p:spTree>
  </p:cSld>
  <p:clrMapOvr>
    <a:masterClrMapping/>
  </p:clrMapOvr>
</p:sld>
</file>

<file path=ppt/theme/theme1.xml><?xml version="1.0" encoding="utf-8"?>
<a:theme xmlns:a="http://schemas.openxmlformats.org/drawingml/2006/main" name="Office Theme">
  <a:themeElements>
    <a:clrScheme name="Custom 2">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 Master">
  <a:themeElements>
    <a:clrScheme name="Nokia 2023.1">
      <a:dk1>
        <a:srgbClr val="CCCCCC"/>
      </a:dk1>
      <a:lt1>
        <a:srgbClr val="FFFFFF"/>
      </a:lt1>
      <a:dk2>
        <a:srgbClr val="001135"/>
      </a:dk2>
      <a:lt2>
        <a:srgbClr val="666666"/>
      </a:lt2>
      <a:accent1>
        <a:srgbClr val="005AFF"/>
      </a:accent1>
      <a:accent2>
        <a:srgbClr val="23ABB6"/>
      </a:accent2>
      <a:accent3>
        <a:srgbClr val="37CC73"/>
      </a:accent3>
      <a:accent4>
        <a:srgbClr val="F47F31"/>
      </a:accent4>
      <a:accent5>
        <a:srgbClr val="E03DCD"/>
      </a:accent5>
      <a:accent6>
        <a:srgbClr val="7D33F2"/>
      </a:accent6>
      <a:hlink>
        <a:srgbClr val="001135"/>
      </a:hlink>
      <a:folHlink>
        <a:srgbClr val="005AFF"/>
      </a:folHlink>
    </a:clrScheme>
    <a:fontScheme name="Nokia 2023">
      <a:majorFont>
        <a:latin typeface="Nokia Pure Headline Light"/>
        <a:ea typeface=""/>
        <a:cs typeface=""/>
      </a:majorFont>
      <a:minorFont>
        <a:latin typeface="Nokia Pure Text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a:noFill/>
        </a:ln>
      </a:spPr>
      <a:bodyPr rot="0" spcFirstLastPara="0" vertOverflow="overflow" horzOverflow="overflow" vert="horz" wrap="square" lIns="72000" tIns="72000" rIns="72000" bIns="72000" numCol="1" spcCol="0" rtlCol="0" fromWordArt="0" anchor="t" anchorCtr="0" forceAA="0" compatLnSpc="1">
        <a:prstTxWarp prst="textNoShape">
          <a:avLst/>
        </a:prstTxWarp>
        <a:noAutofit/>
      </a:bodyPr>
      <a:lstStyle>
        <a:defPPr algn="l">
          <a:spcAft>
            <a:spcPts val="300"/>
          </a:spcAft>
          <a:buSzPct val="100000"/>
          <a:defRPr sz="1200" dirty="0" smtClean="0">
            <a:solidFill>
              <a:schemeClr val="tx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noAutofit/>
      </a:bodyPr>
      <a:lstStyle>
        <a:defPPr marL="0" marR="0" indent="0" algn="l" defTabSz="180000" rtl="0" eaLnBrk="1" fontAlgn="auto" latinLnBrk="0" hangingPunct="1">
          <a:lnSpc>
            <a:spcPct val="100000"/>
          </a:lnSpc>
          <a:spcBef>
            <a:spcPts val="0"/>
          </a:spcBef>
          <a:spcAft>
            <a:spcPts val="300"/>
          </a:spcAft>
          <a:buClrTx/>
          <a:buSzTx/>
          <a:buFont typeface="+mj-lt"/>
          <a:buNone/>
          <a:tabLst>
            <a:tab pos="180000" algn="l"/>
          </a:tabLst>
          <a:defRPr kumimoji="0" sz="1200" b="0" i="0" u="none" strike="noStrike" kern="1200" cap="none" spc="0" normalizeH="0" baseline="0" noProof="0" dirty="0" smtClean="0">
            <a:ln>
              <a:noFill/>
            </a:ln>
            <a:solidFill>
              <a:schemeClr val="tx2"/>
            </a:solidFill>
            <a:effectLst/>
            <a:uLnTx/>
            <a:uFillTx/>
            <a:latin typeface="Nokia Pure Text Light"/>
            <a:ea typeface="+mn-ea"/>
            <a:cs typeface="+mn-cs"/>
          </a:defRPr>
        </a:defPPr>
      </a:lstStyle>
    </a:txDef>
  </a:objectDefaults>
  <a:extraClrSchemeLst/>
  <a:extLst>
    <a:ext uri="{05A4C25C-085E-4340-85A3-A5531E510DB2}">
      <thm15:themeFamily xmlns:thm15="http://schemas.microsoft.com/office/thememl/2012/main" name="Nokia Bell Labs 2023 - PowerPoint template v1.3.1" id="{A6C85B2C-3FA8-476D-B671-61EC5E2D0C15}" vid="{3F2B3F35-C8D5-429C-9FA6-C3C83EBB2B6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5103</TotalTime>
  <Words>2147</Words>
  <Application>Microsoft Macintosh PowerPoint</Application>
  <PresentationFormat>宽屏</PresentationFormat>
  <Paragraphs>527</Paragraphs>
  <Slides>25</Slides>
  <Notes>22</Notes>
  <HiddenSlides>0</HiddenSlides>
  <MMClips>0</MMClips>
  <ScaleCrop>false</ScaleCrop>
  <HeadingPairs>
    <vt:vector size="6" baseType="variant">
      <vt:variant>
        <vt:lpstr>已用的字体</vt:lpstr>
      </vt:variant>
      <vt:variant>
        <vt:i4>16</vt:i4>
      </vt:variant>
      <vt:variant>
        <vt:lpstr>主题</vt:lpstr>
      </vt:variant>
      <vt:variant>
        <vt:i4>2</vt:i4>
      </vt:variant>
      <vt:variant>
        <vt:lpstr>幻灯片标题</vt:lpstr>
      </vt:variant>
      <vt:variant>
        <vt:i4>25</vt:i4>
      </vt:variant>
    </vt:vector>
  </HeadingPairs>
  <TitlesOfParts>
    <vt:vector size="43" baseType="lpstr">
      <vt:lpstr>宋体</vt:lpstr>
      <vt:lpstr>Nokia Pure Headline Light</vt:lpstr>
      <vt:lpstr>Nokia Pure Headline Ultra Light</vt:lpstr>
      <vt:lpstr>Nokia Pure Text</vt:lpstr>
      <vt:lpstr>Nokia Pure Text Light</vt:lpstr>
      <vt:lpstr>Times New Roman Regular</vt:lpstr>
      <vt:lpstr>Abel</vt:lpstr>
      <vt:lpstr>Aptos</vt:lpstr>
      <vt:lpstr>Aptos Display</vt:lpstr>
      <vt:lpstr>Arial</vt:lpstr>
      <vt:lpstr>Cambria Math</vt:lpstr>
      <vt:lpstr>Courier New</vt:lpstr>
      <vt:lpstr>Helvetica</vt:lpstr>
      <vt:lpstr>Inter</vt:lpstr>
      <vt:lpstr>Titillium Web SemiBold</vt:lpstr>
      <vt:lpstr>Wingdings</vt:lpstr>
      <vt:lpstr>Office Theme</vt:lpstr>
      <vt:lpstr>1. Master</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Nisanur Camuzcu</dc:creator>
  <cp:lastModifiedBy>Qiaolun Zhang</cp:lastModifiedBy>
  <cp:revision>110</cp:revision>
  <dcterms:created xsi:type="dcterms:W3CDTF">2024-07-05T10:40:24Z</dcterms:created>
  <dcterms:modified xsi:type="dcterms:W3CDTF">2026-08-22T14:15:01Z</dcterms:modified>
</cp:coreProperties>
</file>