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The promise of autonomous IBN is compelling, but optical networks impose strict physical constraints.</a:t>
            </a:r>
          </a:p>
          <a:p>
            <a:r>
              <a:t>[Spoken Script]: Optical networks form the backbone of modern telecommunications, carrying terabits of traffic across core routes. Traditionally, provisioning lightpaths requires expert network operators to manually write vendor-specific RESTConf payloads or CLI scripts. Intent-Based Networking promises to revolutionize this by allowing operators to express high-level operational goals in natural language. While this vision is promising, direct deployment of Large Language Models to optical control planes exposes critical vulnerabilities.</a:t>
            </a:r>
          </a:p>
          <a:p>
            <a:r>
              <a:t>[Bridge to Next Slide]: Let us look at a concrete illustrative failure example to see why.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Standard LLMs cannot calculate optical physics and choke on massive topology payloads.</a:t>
            </a:r>
          </a:p>
          <a:p>
            <a:r>
              <a:t>[Spoken Script]: Consider what happens if an operator asks a standard LLM to provision a 400G demand. First, we face Token Budget Saturation: dumping full topology states with hundreds of ROADMs and EDFA amplifier parameters degrades the LLM's attention, causing it to drop explicit constraints like link exclusions. Second, and more dangerously, LLMs suffer from Hallucinated Physics. Because they predict text probabilities rather than calculating nonlinear optical impairments, they will confidently propose routes that drop light below the required GSNR threshold, leading to service disruption.</a:t>
            </a:r>
          </a:p>
          <a:p>
            <a:r>
              <a:t>[Bridge to Next Slide]: This fundamental gap defines our formal problem statement.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state the problem across three distinct pillars: inputs, constraints, and objectives.</a:t>
            </a:r>
          </a:p>
          <a:p>
            <a:r>
              <a:t>[Spoken Script]: To tackle this challenge rigorously, we formalize the problem into three concrete pillars. Our system receives an unstructured operator intent, the physical topology graph G(V, E), and optical layer parameters. It must satisfy two orthogonal constraint classes: semantic consistency to prevent intent drift, and deterministic optical physics, specifically GSNR and receiver power thresholds. Our core objective is simple yet strict: ensure zero physically unfeasible configurations ever reach the network controller, while engaging the operator only when genuine ambiguity exists.</a:t>
            </a:r>
          </a:p>
          <a:p>
            <a:r>
              <a:t>[Bridge to Next Slide]: To achieve this, we introduce our core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hundreds of network nodes and links, our deterministic graph engine extracts only the k-hop neighborhood bounding the source and destination. This reduces the prompt token footprint by over 75 percent, completely eliminating lost-in-the-middle phenomena while keeping the graph search computationally light.</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600" b="1">
                <a:solidFill>
                  <a:srgbClr val="85200C"/>
                </a:solidFill>
                <a:latin typeface="Titillium Web SemiBold"/>
              </a:defRPr>
            </a:pPr>
            <a:r>
              <a:t>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latin typeface="Titillium Web SemiBold"/>
              </a:defRPr>
            </a:pPr>
            <a:r>
              <a:t>The Optical Intent Planning Bottleneck</a:t>
            </a:r>
          </a:p>
          <a:p>
            <a:pPr>
              <a:defRPr sz="1200">
                <a:solidFill>
                  <a:srgbClr val="222222"/>
                </a:solidFill>
                <a:latin typeface="Arial"/>
              </a:defRPr>
            </a:pPr>
            <a: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latin typeface="Titillium Web SemiBold"/>
              </a:defRPr>
            </a:pPr>
            <a:r>
              <a:t>Neurosymbolic Intent Planning Pipeline</a:t>
            </a:r>
          </a:p>
          <a:p>
            <a:pPr>
              <a:defRPr sz="1200">
                <a:solidFill>
                  <a:srgbClr val="222222"/>
                </a:solidFill>
                <a:latin typeface="Arial"/>
              </a:defRPr>
            </a:pPr>
            <a:r>
              <a:t>Decoupling probabilistic reasoning (NL to PDDL)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latin typeface="Titillium Web SemiBold"/>
              </a:defRPr>
            </a:pPr>
            <a:r>
              <a:t>Pre-Deployment Risk Gates: Semantic &amp; Physical Validation</a:t>
            </a:r>
          </a:p>
          <a:p>
            <a:pPr>
              <a:defRPr sz="1200">
                <a:solidFill>
                  <a:srgbClr val="222222"/>
                </a:solidFill>
                <a:latin typeface="Arial"/>
              </a:defRPr>
            </a:pPr>
            <a:r>
              <a:t>Sequential fail-fast decision via Layer 1/2 semantic gate (U_sem) and GN-model QoT gate</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latin typeface="Titillium Web SemiBold"/>
              </a:defRPr>
            </a:pPr>
            <a:r>
              <a:t>Experimental Testbed Validation on 17-Node Optical Topology</a:t>
            </a:r>
          </a:p>
          <a:p>
            <a:pPr>
              <a:defRPr sz="1200">
                <a:solidFill>
                  <a:srgbClr val="222222"/>
                </a:solidFill>
                <a:latin typeface="Arial"/>
              </a:defRPr>
            </a:pPr>
            <a:r>
              <a:t>Benchmarking safety,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latin typeface="Titillium Web SemiBold"/>
              </a:defRPr>
            </a:pPr>
            <a:r>
              <a:t>Key Takeaways, System Guarantees &amp; Future Directions</a:t>
            </a:r>
          </a:p>
          <a:p>
            <a:pPr>
              <a:defRPr sz="1200">
                <a:solidFill>
                  <a:srgbClr val="222222"/>
                </a:solidFill>
                <a:latin typeface="Arial"/>
              </a:defRPr>
            </a:pPr>
            <a: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Vision of Intent-Based Optical Networks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Shift: Manual Bottleneck</a:t>
            </a:r>
          </a:p>
        </p:txBody>
      </p:sp>
      <p:sp>
        <p:nvSpPr>
          <p:cNvPr id="9" name="TextBox 8"/>
          <p:cNvSpPr txBox="1"/>
          <p:nvPr/>
        </p:nvSpPr>
        <p:spPr>
          <a:xfrm>
            <a:off x="86868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Optical backbones carry terabits of core traffic across ROADM networks</a:t>
            </a:r>
          </a:p>
          <a:p>
            <a:pPr>
              <a:spcAft>
                <a:spcPts val="800"/>
              </a:spcAft>
              <a:defRPr sz="1300">
                <a:solidFill>
                  <a:srgbClr val="222222"/>
                </a:solidFill>
                <a:latin typeface="Arial"/>
              </a:defRPr>
            </a:pPr>
            <a:r>
              <a:t>•  Traditional workflow: manual CLI scripts and complex RESTConf payloads</a:t>
            </a:r>
          </a:p>
          <a:p>
            <a:pPr>
              <a:spcAft>
                <a:spcPts val="800"/>
              </a:spcAft>
              <a:defRPr sz="1300">
                <a:solidFill>
                  <a:srgbClr val="222222"/>
                </a:solidFill>
                <a:latin typeface="Arial"/>
              </a:defRPr>
            </a:pPr>
            <a:r>
              <a:t>•  Human configuration delays lightpath provisioning by hours or days</a:t>
            </a:r>
          </a:p>
          <a:p>
            <a:pPr>
              <a:spcAft>
                <a:spcPts val="800"/>
              </a:spcAft>
              <a:defRPr sz="1300">
                <a:solidFill>
                  <a:srgbClr val="222222"/>
                </a:solidFill>
                <a:latin typeface="Arial"/>
              </a:defRPr>
            </a:pPr>
            <a:r>
              <a:t>•  Prone to fatal human operator errors across multi-vendor optical links</a:t>
            </a:r>
          </a:p>
          <a:p>
            <a:pPr>
              <a:spcAft>
                <a:spcPts val="800"/>
              </a:spcAft>
              <a:defRPr sz="1300">
                <a:solidFill>
                  <a:srgbClr val="222222"/>
                </a:solidFill>
                <a:latin typeface="Arial"/>
              </a:defRPr>
            </a:pPr>
            <a:r>
              <a:t>•  Goal: Transition to autonomous Intent-Based Networking (IBN)</a:t>
            </a:r>
          </a:p>
        </p:txBody>
      </p:sp>
      <p:sp>
        <p:nvSpPr>
          <p:cNvPr id="10" name="Rounded Rectangle 9"/>
          <p:cNvSpPr/>
          <p:nvPr/>
        </p:nvSpPr>
        <p:spPr>
          <a:xfrm>
            <a:off x="621792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Promise: Autonomous Vision</a:t>
            </a:r>
          </a:p>
        </p:txBody>
      </p:sp>
      <p:sp>
        <p:nvSpPr>
          <p:cNvPr id="12" name="TextBox 11"/>
          <p:cNvSpPr txBox="1"/>
          <p:nvPr/>
        </p:nvSpPr>
        <p:spPr>
          <a:xfrm>
            <a:off x="640080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High-level abstraction: specify WHAT is needed, not HOW to configure it</a:t>
            </a:r>
          </a:p>
          <a:p>
            <a:pPr>
              <a:spcAft>
                <a:spcPts val="800"/>
              </a:spcAft>
              <a:defRPr sz="1300">
                <a:solidFill>
                  <a:srgbClr val="222222"/>
                </a:solidFill>
                <a:latin typeface="Arial"/>
              </a:defRPr>
            </a:pPr>
            <a:r>
              <a:t>•  Example: 'Establish a 400G lightpath between Milan and Rome avoiding L2'</a:t>
            </a:r>
          </a:p>
          <a:p>
            <a:pPr>
              <a:spcAft>
                <a:spcPts val="800"/>
              </a:spcAft>
              <a:defRPr sz="1300">
                <a:solidFill>
                  <a:srgbClr val="222222"/>
                </a:solidFill>
                <a:latin typeface="Arial"/>
              </a:defRPr>
            </a:pPr>
            <a:r>
              <a:t>•  Autonomous translation into validated physical lightpaths in seconds</a:t>
            </a:r>
          </a:p>
          <a:p>
            <a:pPr>
              <a:spcAft>
                <a:spcPts val="800"/>
              </a:spcAft>
              <a:defRPr sz="1300">
                <a:solidFill>
                  <a:srgbClr val="222222"/>
                </a:solidFill>
                <a:latin typeface="Arial"/>
              </a:defRPr>
            </a:pPr>
            <a:r>
              <a:t>•  Reduces human configuration error across multi-vendor optical links</a:t>
            </a:r>
          </a:p>
          <a:p>
            <a:pPr>
              <a:spcAft>
                <a:spcPts val="800"/>
              </a:spcAft>
              <a:defRPr sz="1300">
                <a:solidFill>
                  <a:srgbClr val="222222"/>
                </a:solidFill>
                <a:latin typeface="Arial"/>
              </a:defRPr>
            </a:pPr>
            <a:r>
              <a:t>•  Critical challenge: Optical networks do not tolerate probabilistic errors</a:t>
            </a:r>
          </a:p>
        </p:txBody>
      </p:sp>
      <p:sp>
        <p:nvSpPr>
          <p:cNvPr id="13" name="Rounded Rectangle 12"/>
          <p:cNvSpPr/>
          <p:nvPr/>
        </p:nvSpPr>
        <p:spPr>
          <a:xfrm>
            <a:off x="685800" y="5669280"/>
            <a:ext cx="10744200" cy="5943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F2C53"/>
                </a:solidFill>
                <a:latin typeface="Titillium Web SemiBold"/>
              </a:defRPr>
            </a:pPr>
            <a:r>
              <a:t>Operational Flow:  [Operator NL Intent]  ➔  [AI Intent Orchestrator]  ➔  [Zero-Error Physical Lightpath]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Challenge 1: Token Budget Saturation</a:t>
            </a:r>
          </a:p>
        </p:txBody>
      </p:sp>
      <p:sp>
        <p:nvSpPr>
          <p:cNvPr id="9" name="TextBox 8"/>
          <p:cNvSpPr txBox="1"/>
          <p:nvPr/>
        </p:nvSpPr>
        <p:spPr>
          <a:xfrm>
            <a:off x="86868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Full optical topology payloads (RESTConf JSON) exceed LLM context budgets</a:t>
            </a:r>
          </a:p>
          <a:p>
            <a:pPr>
              <a:spcAft>
                <a:spcPts val="800"/>
              </a:spcAft>
              <a:defRPr sz="1300">
                <a:solidFill>
                  <a:srgbClr val="222222"/>
                </a:solidFill>
                <a:latin typeface="Arial"/>
              </a:defRPr>
            </a:pPr>
            <a:r>
              <a:t>•  In a 100-node core network, telemetry dumps consume tens of thousands of tokens</a:t>
            </a:r>
          </a:p>
          <a:p>
            <a:pPr>
              <a:spcAft>
                <a:spcPts val="800"/>
              </a:spcAft>
              <a:defRPr sz="1300">
                <a:solidFill>
                  <a:srgbClr val="222222"/>
                </a:solidFill>
                <a:latin typeface="Arial"/>
              </a:defRPr>
            </a:pPr>
            <a:r>
              <a:t>•  Induces severe 'lost-in-the-middle' attention degradation</a:t>
            </a:r>
          </a:p>
          <a:p>
            <a:pPr>
              <a:spcAft>
                <a:spcPts val="800"/>
              </a:spcAft>
              <a:defRPr sz="1300">
                <a:solidFill>
                  <a:srgbClr val="222222"/>
                </a:solidFill>
                <a:latin typeface="Arial"/>
              </a:defRPr>
            </a:pPr>
            <a:r>
              <a:t>•  Result: The LLM drops explicit user constraints such as link exclusion rules</a:t>
            </a:r>
          </a:p>
          <a:p>
            <a:pPr>
              <a:spcAft>
                <a:spcPts val="800"/>
              </a:spcAft>
              <a:defRPr sz="1300">
                <a:solidFill>
                  <a:srgbClr val="222222"/>
                </a:solidFill>
                <a:latin typeface="Arial"/>
              </a:defRPr>
            </a:pPr>
            <a:r>
              <a:t>•  High API token cost and unpredictable prompt execution times</a:t>
            </a:r>
          </a:p>
        </p:txBody>
      </p:sp>
      <p:sp>
        <p:nvSpPr>
          <p:cNvPr id="10" name="Rounded Rectangle 9"/>
          <p:cNvSpPr/>
          <p:nvPr/>
        </p:nvSpPr>
        <p:spPr>
          <a:xfrm>
            <a:off x="6217920" y="1188720"/>
            <a:ext cx="5212080" cy="4297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Challenge 2: Hallucinated Physics</a:t>
            </a:r>
          </a:p>
        </p:txBody>
      </p:sp>
      <p:sp>
        <p:nvSpPr>
          <p:cNvPr id="12" name="TextBox 11"/>
          <p:cNvSpPr txBox="1"/>
          <p:nvPr/>
        </p:nvSpPr>
        <p:spPr>
          <a:xfrm>
            <a:off x="640080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LLMs are probabilistic text predictors, not optical physics calculators</a:t>
            </a:r>
          </a:p>
          <a:p>
            <a:pPr>
              <a:spcAft>
                <a:spcPts val="800"/>
              </a:spcAft>
              <a:defRPr sz="1300">
                <a:solidFill>
                  <a:srgbClr val="222222"/>
                </a:solidFill>
                <a:latin typeface="Arial"/>
              </a:defRPr>
            </a:pPr>
            <a:r>
              <a:t>•  Incapable of computing Generalized Signal-to-Noise Ratio (GSNR)</a:t>
            </a:r>
          </a:p>
          <a:p>
            <a:pPr>
              <a:spcAft>
                <a:spcPts val="800"/>
              </a:spcAft>
              <a:defRPr sz="1300">
                <a:solidFill>
                  <a:srgbClr val="222222"/>
                </a:solidFill>
                <a:latin typeface="Arial"/>
              </a:defRPr>
            </a:pPr>
            <a:r>
              <a:t>•  Ignore nonlinear fiber Kerr effects and EDFA noise accumulation</a:t>
            </a:r>
          </a:p>
          <a:p>
            <a:pPr>
              <a:spcAft>
                <a:spcPts val="800"/>
              </a:spcAft>
              <a:defRPr sz="1300">
                <a:solidFill>
                  <a:srgbClr val="222222"/>
                </a:solidFill>
                <a:latin typeface="Arial"/>
              </a:defRPr>
            </a:pPr>
            <a:r>
              <a:t>•  Result: Proposes lightpaths with unfeasible optical Quality of Transmission</a:t>
            </a:r>
          </a:p>
          <a:p>
            <a:pPr>
              <a:spcAft>
                <a:spcPts val="800"/>
              </a:spcAft>
              <a:defRPr sz="1300">
                <a:solidFill>
                  <a:srgbClr val="222222"/>
                </a:solidFill>
                <a:latin typeface="Arial"/>
              </a:defRPr>
            </a:pPr>
            <a:r>
              <a:t>•  Causes severe traffic drop or optical controller rejection upon deployment</a:t>
            </a:r>
          </a:p>
        </p:txBody>
      </p:sp>
      <p:sp>
        <p:nvSpPr>
          <p:cNvPr id="13" name="Rounded Rectangle 12"/>
          <p:cNvSpPr/>
          <p:nvPr/>
        </p:nvSpPr>
        <p:spPr>
          <a:xfrm>
            <a:off x="685800" y="5669280"/>
            <a:ext cx="10744200" cy="5943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F2C53"/>
                </a:solidFill>
                <a:latin typeface="Titillium Web SemiBold"/>
              </a:defRPr>
            </a:pPr>
            <a:r>
              <a:t>Empirical Risk: Unconstrained LLMs allow up to 34% physically unfeasible routes to reach the optical controller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Inputs, Constraints &amp; Objectives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 Given Inputs</a:t>
            </a:r>
          </a:p>
        </p:txBody>
      </p:sp>
      <p:sp>
        <p:nvSpPr>
          <p:cNvPr id="9" name="TextBox 8"/>
          <p:cNvSpPr txBox="1"/>
          <p:nvPr/>
        </p:nvSpPr>
        <p:spPr>
          <a:xfrm>
            <a:off x="82296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Unstructured Natural Language intent from operator</a:t>
            </a:r>
          </a:p>
          <a:p>
            <a:pPr>
              <a:spcAft>
                <a:spcPts val="600"/>
              </a:spcAft>
              <a:defRPr sz="1200">
                <a:solidFill>
                  <a:srgbClr val="222222"/>
                </a:solidFill>
                <a:latin typeface="Arial"/>
              </a:defRPr>
            </a:pPr>
            <a:r>
              <a:t>•  Physical topology graph G(V, E) via RESTConf</a:t>
            </a:r>
          </a:p>
          <a:p>
            <a:pPr>
              <a:spcAft>
                <a:spcPts val="600"/>
              </a:spcAft>
              <a:defRPr sz="1200">
                <a:solidFill>
                  <a:srgbClr val="222222"/>
                </a:solidFill>
                <a:latin typeface="Arial"/>
              </a:defRPr>
            </a:pPr>
            <a:r>
              <a:t>•  Link parameters: span lengths, attenuation, dispersion</a:t>
            </a:r>
          </a:p>
          <a:p>
            <a:pPr>
              <a:spcAft>
                <a:spcPts val="600"/>
              </a:spcAft>
              <a:defRPr sz="1200">
                <a:solidFill>
                  <a:srgbClr val="222222"/>
                </a:solidFill>
                <a:latin typeface="Arial"/>
              </a:defRPr>
            </a:pPr>
            <a:r>
              <a:t>•  EDFA amplifier gains and noise figures</a:t>
            </a:r>
          </a:p>
          <a:p>
            <a:pPr>
              <a:spcAft>
                <a:spcPts val="600"/>
              </a:spcAft>
              <a:defRPr sz="1200">
                <a:solidFill>
                  <a:srgbClr val="222222"/>
                </a:solidFill>
                <a:latin typeface="Arial"/>
              </a:defRPr>
            </a:pPr>
            <a:r>
              <a:t>•  Transponder specs: baud rates, modulation formats</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2. Constraints</a:t>
            </a:r>
          </a:p>
        </p:txBody>
      </p:sp>
      <p:sp>
        <p:nvSpPr>
          <p:cNvPr id="12" name="TextBox 11"/>
          <p:cNvSpPr txBox="1"/>
          <p:nvPr/>
        </p:nvSpPr>
        <p:spPr>
          <a:xfrm>
            <a:off x="449580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Semantic alignment: formal model matches intent</a:t>
            </a:r>
          </a:p>
          <a:p>
            <a:pPr>
              <a:spcAft>
                <a:spcPts val="600"/>
              </a:spcAft>
              <a:defRPr sz="1200">
                <a:solidFill>
                  <a:srgbClr val="222222"/>
                </a:solidFill>
                <a:latin typeface="Arial"/>
              </a:defRPr>
            </a:pPr>
            <a:r>
              <a:t>•  Optical GSNR exceeds transponder threshold</a:t>
            </a:r>
          </a:p>
          <a:p>
            <a:pPr>
              <a:spcAft>
                <a:spcPts val="600"/>
              </a:spcAft>
              <a:defRPr sz="1200">
                <a:solidFill>
                  <a:srgbClr val="222222"/>
                </a:solidFill>
                <a:latin typeface="Arial"/>
              </a:defRPr>
            </a:pPr>
            <a:r>
              <a:t>•  Receiver power satisfies sensitivity bounds</a:t>
            </a:r>
          </a:p>
          <a:p>
            <a:pPr>
              <a:spcAft>
                <a:spcPts val="600"/>
              </a:spcAft>
              <a:defRPr sz="1200">
                <a:solidFill>
                  <a:srgbClr val="222222"/>
                </a:solidFill>
                <a:latin typeface="Arial"/>
              </a:defRPr>
            </a:pPr>
            <a:r>
              <a:t>•  Zero spectral overlap and wavelength collision</a:t>
            </a:r>
          </a:p>
          <a:p>
            <a:pPr>
              <a:defRPr sz="1100" b="1">
                <a:solidFill>
                  <a:srgbClr val="85200C"/>
                </a:solidFill>
                <a:latin typeface="Titillium Web SemiBold"/>
              </a:defRPr>
            </a:pPr>
            <a:r>
              <a:t>Formulation:</a:t>
            </a:r>
          </a:p>
          <a:p>
            <a14:m xmlns:a14="http://schemas.microsoft.com/office/drawing/2010/main" xmlns:m="http://schemas.openxmlformats.org/officeDocument/2006/math">
              <m:oMathPara>
                <m:oMath>
                  <m:sSub>
                    <m:e>
                      <m:r>
                        <m:t>U</m:t>
                      </m:r>
                    </m:e>
                    <m:sub>
                      <m:r>
                        <m:t>sem</m:t>
                      </m:r>
                    </m:sub>
                  </m:sSub>
                  <m:r>
                    <m:t> ≤ </m:t>
                  </m:r>
                  <m:sSub>
                    <m:e>
                      <m:r>
                        <m:t>τ</m:t>
                      </m:r>
                    </m:e>
                    <m:sub>
                      <m:r>
                        <m:t>sem</m:t>
                      </m:r>
                    </m:sub>
                  </m:sSub>
                </m:oMath>
              </m:oMathPara>
            </a14:m>
          </a:p>
          <a:p>
            <a14:m xmlns:a14="http://schemas.microsoft.com/office/drawing/2010/main" xmlns:m="http://schemas.openxmlformats.org/officeDocument/2006/math">
              <m:oMathPara>
                <m:oMath>
                  <m:r>
                    <m:t>GSNR ≥ </m:t>
                  </m:r>
                  <m:sSub>
                    <m:e>
                      <m:r>
                        <m:t>GSNR</m:t>
                      </m:r>
                    </m:e>
                    <m:sub>
                      <m:r>
                        <m:t>th</m:t>
                      </m:r>
                    </m:sub>
                  </m:sSub>
                </m:oMath>
              </m:oMathPara>
            </a14:m>
          </a:p>
          <a:p>
            <a14:m xmlns:a14="http://schemas.microsoft.com/office/drawing/2010/main" xmlns:m="http://schemas.openxmlformats.org/officeDocument/2006/math">
              <m:oMathPara>
                <m:oMath>
                  <m:sSub>
                    <m:e>
                      <m:r>
                        <m:t>P</m:t>
                      </m:r>
                    </m:e>
                    <m:sub>
                      <m:r>
                        <m:t>rx</m:t>
                      </m:r>
                    </m:sub>
                  </m:sSub>
                  <m:r>
                    <m:t> ≥ </m:t>
                  </m:r>
                  <m:sSub>
                    <m:e>
                      <m:r>
                        <m:t>P</m:t>
                      </m:r>
                    </m:e>
                    <m:sub>
                      <m:r>
                        <m:t>rx,min</m:t>
                      </m:r>
                    </m:sub>
                  </m:sSub>
                </m:oMath>
              </m:oMathPara>
            </a14:m>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3. Objectives</a:t>
            </a:r>
          </a:p>
        </p:txBody>
      </p:sp>
      <p:sp>
        <p:nvSpPr>
          <p:cNvPr id="15" name="TextBox 14"/>
          <p:cNvSpPr txBox="1"/>
          <p:nvPr/>
        </p:nvSpPr>
        <p:spPr>
          <a:xfrm>
            <a:off x="816864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Zero unfeasible routes reaching network controller</a:t>
            </a:r>
          </a:p>
          <a:p>
            <a:pPr>
              <a:spcAft>
                <a:spcPts val="600"/>
              </a:spcAft>
              <a:defRPr sz="1200">
                <a:solidFill>
                  <a:srgbClr val="222222"/>
                </a:solidFill>
                <a:latin typeface="Arial"/>
              </a:defRPr>
            </a:pPr>
            <a:r>
              <a:t>•  Fail-fast pre-deployment validation pipeline</a:t>
            </a:r>
          </a:p>
          <a:p>
            <a:pPr>
              <a:spcAft>
                <a:spcPts val="600"/>
              </a:spcAft>
              <a:defRPr sz="1200">
                <a:solidFill>
                  <a:srgbClr val="222222"/>
                </a:solidFill>
                <a:latin typeface="Arial"/>
              </a:defRPr>
            </a:pPr>
            <a:r>
              <a:t>•  Selective, risk-proportional HITL engagement</a:t>
            </a:r>
          </a:p>
          <a:p>
            <a:pPr>
              <a:spcAft>
                <a:spcPts val="600"/>
              </a:spcAft>
              <a:defRPr sz="1200">
                <a:solidFill>
                  <a:srgbClr val="222222"/>
                </a:solidFill>
                <a:latin typeface="Arial"/>
              </a:defRPr>
            </a:pPr>
            <a:r>
              <a:t>•  Sub-second deterministic computation time</a:t>
            </a:r>
          </a:p>
          <a:p>
            <a:pPr>
              <a:spcAft>
                <a:spcPts val="600"/>
              </a:spcAft>
              <a:defRPr sz="1200">
                <a:solidFill>
                  <a:srgbClr val="222222"/>
                </a:solidFill>
                <a:latin typeface="Arial"/>
              </a:defRPr>
            </a:pPr>
            <a:r>
              <a:t>•  Auditable planning report for network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Proposed Solution: Neurosymbolic Decoupling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Probabilistic Reasoning Layer</a:t>
            </a:r>
          </a:p>
        </p:txBody>
      </p:sp>
      <p:sp>
        <p:nvSpPr>
          <p:cNvPr id="9" name="TextBox 8"/>
          <p:cNvSpPr txBox="1"/>
          <p:nvPr/>
        </p:nvSpPr>
        <p:spPr>
          <a:xfrm>
            <a:off x="86868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LLMs Reason, Deterministic Tools Calculate</a:t>
            </a:r>
          </a:p>
          <a:p>
            <a:pPr>
              <a:spcAft>
                <a:spcPts val="800"/>
              </a:spcAft>
              <a:defRPr sz="1300">
                <a:solidFill>
                  <a:srgbClr val="222222"/>
                </a:solidFill>
                <a:latin typeface="Arial"/>
              </a:defRPr>
            </a:pPr>
            <a:r>
              <a:t>•  Prohibit LLMs from performing graph routing or arithmetic</a:t>
            </a:r>
          </a:p>
          <a:p>
            <a:pPr>
              <a:spcAft>
                <a:spcPts val="800"/>
              </a:spcAft>
              <a:defRPr sz="1300">
                <a:solidFill>
                  <a:srgbClr val="222222"/>
                </a:solidFill>
                <a:latin typeface="Arial"/>
              </a:defRPr>
            </a:pPr>
            <a:r>
              <a:t>•  Constrain the LLM strictly to formal linguistic translation</a:t>
            </a:r>
          </a:p>
          <a:p>
            <a:pPr>
              <a:spcAft>
                <a:spcPts val="800"/>
              </a:spcAft>
              <a:defRPr sz="1300">
                <a:solidFill>
                  <a:srgbClr val="222222"/>
                </a:solidFill>
                <a:latin typeface="Arial"/>
              </a:defRPr>
            </a:pPr>
            <a:r>
              <a:t>•  Natural Language is parsed into formal PDDL constraints</a:t>
            </a:r>
          </a:p>
          <a:p>
            <a:pPr>
              <a:spcAft>
                <a:spcPts val="800"/>
              </a:spcAft>
              <a:defRPr sz="1300">
                <a:solidFill>
                  <a:srgbClr val="222222"/>
                </a:solidFill>
                <a:latin typeface="Arial"/>
              </a:defRPr>
            </a:pPr>
            <a:r>
              <a:t>•  Zero hallucination of routing decisions or optical physics</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Deterministic Execution Layer</a:t>
            </a:r>
          </a:p>
        </p:txBody>
      </p:sp>
      <p:sp>
        <p:nvSpPr>
          <p:cNvPr id="12" name="TextBox 11"/>
          <p:cNvSpPr txBox="1"/>
          <p:nvPr/>
        </p:nvSpPr>
        <p:spPr>
          <a:xfrm>
            <a:off x="6400800" y="1920240"/>
            <a:ext cx="4846320" cy="3429000"/>
          </a:xfrm>
          <a:prstGeom prst="rect">
            <a:avLst/>
          </a:prstGeom>
          <a:noFill/>
        </p:spPr>
        <p:txBody>
          <a:bodyPr wrap="square">
            <a:spAutoFit/>
          </a:bodyPr>
          <a:lstStyle/>
          <a:p>
            <a:pPr>
              <a:spcAft>
                <a:spcPts val="800"/>
              </a:spcAft>
              <a:defRPr sz="1300">
                <a:solidFill>
                  <a:srgbClr val="222222"/>
                </a:solidFill>
                <a:latin typeface="Arial"/>
              </a:defRPr>
            </a:pPr>
            <a:r>
              <a:t>•  Path computation delegated to Yen's KSP graph algorithms</a:t>
            </a:r>
          </a:p>
          <a:p>
            <a:pPr>
              <a:spcAft>
                <a:spcPts val="800"/>
              </a:spcAft>
              <a:defRPr sz="1300">
                <a:solidFill>
                  <a:srgbClr val="222222"/>
                </a:solidFill>
                <a:latin typeface="Arial"/>
              </a:defRPr>
            </a:pPr>
            <a:r>
              <a:t>•  Physical validation delegated to analytical GN-model engine</a:t>
            </a:r>
          </a:p>
          <a:p>
            <a:pPr>
              <a:spcAft>
                <a:spcPts val="800"/>
              </a:spcAft>
              <a:defRPr sz="1300">
                <a:solidFill>
                  <a:srgbClr val="222222"/>
                </a:solidFill>
                <a:latin typeface="Arial"/>
              </a:defRPr>
            </a:pPr>
            <a:r>
              <a:t>•  Subtopology extraction via scoped Mock GraphRAG</a:t>
            </a:r>
          </a:p>
          <a:p>
            <a:pPr>
              <a:spcAft>
                <a:spcPts val="800"/>
              </a:spcAft>
              <a:defRPr sz="1300">
                <a:solidFill>
                  <a:srgbClr val="222222"/>
                </a:solidFill>
                <a:latin typeface="Arial"/>
              </a:defRPr>
            </a:pPr>
            <a:r>
              <a:t>•  Pre-deployment safety gate (RADG) verifies feasibility</a:t>
            </a:r>
          </a:p>
          <a:p>
            <a:pPr>
              <a:spcAft>
                <a:spcPts val="800"/>
              </a:spcAft>
              <a:defRPr sz="1300">
                <a:solidFill>
                  <a:srgbClr val="222222"/>
                </a:solidFill>
                <a:latin typeface="Arial"/>
              </a:defRPr>
            </a:pPr>
            <a:r>
              <a:t>•  Guarantees provable physical safety before configuration push</a:t>
            </a:r>
          </a:p>
        </p:txBody>
      </p:sp>
      <p:sp>
        <p:nvSpPr>
          <p:cNvPr id="13" name="Rounded Rectangle 12"/>
          <p:cNvSpPr/>
          <p:nvPr/>
        </p:nvSpPr>
        <p:spPr>
          <a:xfrm>
            <a:off x="685800" y="5669280"/>
            <a:ext cx="10744200" cy="5943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F2C53"/>
                </a:solidFill>
                <a:latin typeface="Titillium Web SemiBold"/>
              </a:defRPr>
            </a:pPr>
            <a:r>
              <a:t>Core Contributions: [1] Neurosymbolic Pipeline  |  [2] Scoped GraphRAG  |  [3] Risk-Adaptive Gates  |  [4] LangGraph Orchestrator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0F2C53"/>
                </a:solidFill>
                <a:latin typeface="Titillium Web SemiBold"/>
              </a:defRPr>
            </a:pPr>
            <a:r>
              <a:t>Optical RAG</a:t>
            </a:r>
          </a:p>
          <a:p>
            <a:pPr algn="l">
              <a:spcBef>
                <a:spcPts val="400"/>
              </a:spcBef>
              <a:defRPr sz="1000">
                <a:solidFill>
                  <a:srgbClr val="222222"/>
                </a:solidFill>
                <a:latin typeface="Arial"/>
              </a:defRPr>
            </a:pPr>
            <a:r>
              <a:t>Enrich intent with ITU-T grid &amp; transponders</a:t>
            </a: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Right Arrow 8"/>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0F2C53"/>
                </a:solidFill>
                <a:latin typeface="Titillium Web SemiBold"/>
              </a:defRPr>
            </a:pPr>
            <a:r>
              <a:t>PDDL Parser</a:t>
            </a:r>
          </a:p>
          <a:p>
            <a:pPr algn="l">
              <a:spcBef>
                <a:spcPts val="400"/>
              </a:spcBef>
              <a:defRPr sz="1000">
                <a:solidFill>
                  <a:srgbClr val="222222"/>
                </a:solidFill>
                <a:latin typeface="Arial"/>
              </a:defRPr>
            </a:pPr>
            <a:r>
              <a:t>Translate intent into formal PDDL AST</a:t>
            </a:r>
          </a:p>
        </p:txBody>
      </p:sp>
      <p:sp>
        <p:nvSpPr>
          <p:cNvPr id="11" name="Rounded Rectangle 10"/>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2" name="Right Arrow 11"/>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1000">
                <a:solidFill>
                  <a:srgbClr val="222222"/>
                </a:solidFill>
                <a:latin typeface="Arial"/>
              </a:defRPr>
            </a:pPr>
            <a:r>
              <a:t>Evaluate CFG &amp; Reverse Prompting</a:t>
            </a:r>
          </a:p>
        </p:txBody>
      </p:sp>
      <p:sp>
        <p:nvSpPr>
          <p:cNvPr id="14" name="Rounded Rectangle 13"/>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5" name="Right Arrow 14"/>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0F2C53"/>
                </a:solidFill>
                <a:latin typeface="Titillium Web SemiBold"/>
              </a:defRPr>
            </a:pPr>
            <a:r>
              <a:t>Symbolic Solver</a:t>
            </a:r>
          </a:p>
          <a:p>
            <a:pPr algn="l">
              <a:spcBef>
                <a:spcPts val="400"/>
              </a:spcBef>
              <a:defRPr sz="1000">
                <a:solidFill>
                  <a:srgbClr val="222222"/>
                </a:solidFill>
                <a:latin typeface="Arial"/>
              </a:defRPr>
            </a:pPr>
            <a:r>
              <a:t>Scoped GraphRAG &amp; Yen's KSP routing</a:t>
            </a:r>
          </a:p>
        </p:txBody>
      </p:sp>
      <p:sp>
        <p:nvSpPr>
          <p:cNvPr id="17" name="Rounded Rectangle 16"/>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18" name="Right Arrow 17"/>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0F2C53"/>
                </a:solidFill>
                <a:latin typeface="Titillium Web SemiBold"/>
              </a:defRPr>
            </a:pPr>
            <a:r>
              <a:t>QoT Physics</a:t>
            </a:r>
          </a:p>
          <a:p>
            <a:pPr algn="l">
              <a:spcBef>
                <a:spcPts val="400"/>
              </a:spcBef>
              <a:defRPr sz="1000">
                <a:solidFill>
                  <a:srgbClr val="222222"/>
                </a:solidFill>
                <a:latin typeface="Arial"/>
              </a:defRPr>
            </a:pPr>
            <a:r>
              <a:t>Deterministic GN-model GSNR calculation</a:t>
            </a:r>
          </a:p>
        </p:txBody>
      </p:sp>
      <p:sp>
        <p:nvSpPr>
          <p:cNvPr id="20" name="Rounded Rectangle 19"/>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1" name="Right Arrow 20"/>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85200C"/>
                </a:solidFill>
                <a:latin typeface="Titillium Web SemiBold"/>
              </a:defRPr>
            </a:pPr>
            <a:r>
              <a:t>Risk Gate (RADG)</a:t>
            </a:r>
          </a:p>
          <a:p>
            <a:pPr algn="ctr">
              <a:defRPr sz="900" b="1">
                <a:solidFill>
                  <a:srgbClr val="85200C"/>
                </a:solidFill>
                <a:latin typeface="Titillium Web SemiBold"/>
              </a:defRPr>
            </a:pPr>
            <a:r>
              <a:t>[RISK GATE]</a:t>
            </a:r>
          </a:p>
          <a:p>
            <a:pPr algn="l">
              <a:spcBef>
                <a:spcPts val="400"/>
              </a:spcBef>
              <a:defRPr sz="1000">
                <a:solidFill>
                  <a:srgbClr val="222222"/>
                </a:solidFill>
                <a:latin typeface="Arial"/>
              </a:defRPr>
            </a:pPr>
            <a:r>
              <a:t>Piecewise decision: Approve / Replan</a:t>
            </a:r>
          </a:p>
        </p:txBody>
      </p:sp>
      <p:sp>
        <p:nvSpPr>
          <p:cNvPr id="23" name="Rounded Rectangle 22"/>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4" name="Right Arrow 23"/>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94360" lIns="73152" rIns="73152"/>
          <a:lstStyle/>
          <a:p>
            <a:pPr algn="ctr">
              <a:defRPr sz="1100" b="1">
                <a:solidFill>
                  <a:srgbClr val="0F2C53"/>
                </a:solidFill>
                <a:latin typeface="Titillium Web SemiBold"/>
              </a:defRPr>
            </a:pPr>
            <a:r>
              <a:t>Plan Synthesizer</a:t>
            </a:r>
          </a:p>
          <a:p>
            <a:pPr algn="l">
              <a:spcBef>
                <a:spcPts val="400"/>
              </a:spcBef>
              <a:defRPr sz="1000">
                <a:solidFill>
                  <a:srgbClr val="222222"/>
                </a:solidFill>
                <a:latin typeface="Arial"/>
              </a:defRPr>
            </a:pPr>
            <a:r>
              <a:t>Auditable report &amp; deployment commands</a:t>
            </a:r>
          </a:p>
        </p:txBody>
      </p:sp>
      <p:sp>
        <p:nvSpPr>
          <p:cNvPr id="26" name="Rounded Rectangle 25"/>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27" name="Rounded Rectangle 26"/>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B07D00"/>
                </a:solidFill>
                <a:latin typeface="Titillium Web SemiBold"/>
              </a:defRPr>
            </a:pPr>
            <a:r>
              <a:t>⏸️ Phase 3b: Clarify Loop (LangGraph interrupt())</a:t>
            </a:r>
          </a:p>
          <a:p>
            <a:pPr>
              <a:defRPr sz="1000">
                <a:solidFill>
                  <a:srgbClr val="222222"/>
                </a:solidFill>
                <a:latin typeface="Arial"/>
              </a:defRPr>
            </a:pPr>
            <a:r>
              <a:t>If U_sem &gt; tau_sem: Pauses execution and prompts operator for intent disambiguation</a:t>
            </a:r>
          </a:p>
        </p:txBody>
      </p:sp>
      <p:sp>
        <p:nvSpPr>
          <p:cNvPr id="28" name="Rounded Rectangle 27"/>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85200C"/>
                </a:solidFill>
                <a:latin typeface="Titillium Web SemiBold"/>
              </a:defRPr>
            </a:pPr>
            <a:r>
              <a:t>↺ Phase 6: Suggest Replan Loop (Physics Unfeasible)</a:t>
            </a:r>
          </a:p>
          <a:p>
            <a:pPr>
              <a:defRPr sz="1000">
                <a:solidFill>
                  <a:srgbClr val="222222"/>
                </a:solidFill>
                <a:latin typeface="Arial"/>
              </a:defRPr>
            </a:pPr>
            <a:r>
              <a:t>If QoT_valid = 0: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k-hop Subtopology Scoping</a:t>
            </a:r>
          </a:p>
        </p:txBody>
      </p:sp>
      <p:sp>
        <p:nvSpPr>
          <p:cNvPr id="9" name="TextBox 8"/>
          <p:cNvSpPr txBox="1"/>
          <p:nvPr/>
        </p:nvSpPr>
        <p:spPr>
          <a:xfrm>
            <a:off x="868680" y="1874520"/>
            <a:ext cx="4754880" cy="4114800"/>
          </a:xfrm>
          <a:prstGeom prst="rect">
            <a:avLst/>
          </a:prstGeom>
          <a:noFill/>
        </p:spPr>
        <p:txBody>
          <a:bodyPr wrap="square">
            <a:spAutoFit/>
          </a:bodyPr>
          <a:lstStyle/>
          <a:p>
            <a:pPr>
              <a:spcAft>
                <a:spcPts val="800"/>
              </a:spcAft>
              <a:defRPr sz="1200">
                <a:solidFill>
                  <a:srgbClr val="222222"/>
                </a:solidFill>
                <a:latin typeface="Arial"/>
              </a:defRPr>
            </a:pPr>
            <a:r>
              <a:t>•  Full topology dumps overwhelm LLM context windows</a:t>
            </a:r>
          </a:p>
          <a:p>
            <a:pPr>
              <a:spcAft>
                <a:spcPts val="800"/>
              </a:spcAft>
              <a:defRPr sz="1200">
                <a:solidFill>
                  <a:srgbClr val="222222"/>
                </a:solidFill>
                <a:latin typeface="Arial"/>
              </a:defRPr>
            </a:pPr>
            <a:r>
              <a:t>•  Raw JSON contains excessive telemetry: ROADM ports, EDFAs, fibers</a:t>
            </a:r>
          </a:p>
          <a:p>
            <a:pPr>
              <a:spcAft>
                <a:spcPts val="800"/>
              </a:spcAft>
              <a:defRPr sz="1200">
                <a:solidFill>
                  <a:srgbClr val="222222"/>
                </a:solidFill>
                <a:latin typeface="Arial"/>
              </a:defRPr>
            </a:pPr>
            <a:r>
              <a:t>•  Mock GraphRAG extracts only the k-hop neighborhood between endpoints</a:t>
            </a:r>
          </a:p>
          <a:p>
            <a:pPr>
              <a:spcAft>
                <a:spcPts val="800"/>
              </a:spcAft>
              <a:defRPr sz="1200">
                <a:solidFill>
                  <a:srgbClr val="222222"/>
                </a:solidFill>
                <a:latin typeface="Arial"/>
              </a:defRPr>
            </a:pPr>
            <a:r>
              <a:t>•  Filters out irrelevant core subnets, links, and unused transponders</a:t>
            </a:r>
          </a:p>
          <a:p>
            <a:pPr>
              <a:spcAft>
                <a:spcPts val="800"/>
              </a:spcAft>
              <a:defRPr sz="1200">
                <a:solidFill>
                  <a:srgbClr val="222222"/>
                </a:solidFill>
                <a:latin typeface="Arial"/>
              </a:defRPr>
            </a:pPr>
            <a:r>
              <a:t>•  Quantitative Impact: Over 75% reduction in prompt token payload</a:t>
            </a:r>
          </a:p>
          <a:p>
            <a:pPr>
              <a:spcAft>
                <a:spcPts val="800"/>
              </a:spcAft>
              <a:defRPr sz="1200">
                <a:solidFill>
                  <a:srgbClr val="222222"/>
                </a:solidFill>
                <a:latin typeface="Arial"/>
              </a:defRPr>
            </a:pPr>
            <a:r>
              <a:t>•  Sub-millisecond graph extraction: O(V + E) executed in pure Python</a:t>
            </a:r>
          </a:p>
          <a:p>
            <a:pPr>
              <a:spcAft>
                <a:spcPts val="800"/>
              </a:spcAft>
              <a:defRPr sz="1200">
                <a:solidFill>
                  <a:srgbClr val="222222"/>
                </a:solidFill>
                <a:latin typeface="Arial"/>
              </a:defRPr>
            </a:pPr>
            <a:r>
              <a:t>•  Guarantees sharp LLM attention focus on active optical constraints</a:t>
            </a:r>
          </a:p>
        </p:txBody>
      </p:sp>
      <p:sp>
        <p:nvSpPr>
          <p:cNvPr id="10" name="Rounded Rectangle 9"/>
          <p:cNvSpPr/>
          <p:nvPr/>
        </p:nvSpPr>
        <p:spPr>
          <a:xfrm>
            <a:off x="6080760" y="1188720"/>
            <a:ext cx="539496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Visual Diagram: Full 17-Node Backbone vs Scoped 2-Hop Subtopology</a:t>
            </a:r>
          </a:p>
          <a:p>
            <a:pPr algn="ctr">
              <a:defRPr sz="1100">
                <a:solidFill>
                  <a:srgbClr val="5A6B82"/>
                </a:solidFill>
                <a:latin typeface="Arial"/>
              </a:defRPr>
            </a:pPr>
            <a:r>
              <a:t>(Target: 4:3 Network Topology &amp; Subtopology Diagram — Replace in PowerPoint)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Two-Layer Semantic Uncertainty (U_sem)</a:t>
            </a:r>
          </a:p>
        </p:txBody>
      </p:sp>
      <p:sp>
        <p:nvSpPr>
          <p:cNvPr id="9" name="TextBox 8"/>
          <p:cNvSpPr txBox="1"/>
          <p:nvPr/>
        </p:nvSpPr>
        <p:spPr>
          <a:xfrm>
            <a:off x="868680" y="1874519"/>
            <a:ext cx="4846320" cy="3520440"/>
          </a:xfrm>
          <a:prstGeom prst="rect">
            <a:avLst/>
          </a:prstGeom>
          <a:noFill/>
        </p:spPr>
        <p:txBody>
          <a:bodyPr wrap="square">
            <a:spAutoFit/>
          </a:bodyPr>
          <a:lstStyle/>
          <a:p>
            <a:pPr>
              <a:spcAft>
                <a:spcPts val="600"/>
              </a:spcAft>
              <a:defRPr sz="1200">
                <a:solidFill>
                  <a:srgbClr val="222222"/>
                </a:solidFill>
                <a:latin typeface="Arial"/>
              </a:defRPr>
            </a:pPr>
            <a:r>
              <a:t>•  Layer 1 (Structural): CFG regex AST check instantly catches syntax errors</a:t>
            </a:r>
          </a:p>
          <a:p>
            <a:pPr>
              <a:spcAft>
                <a:spcPts val="600"/>
              </a:spcAft>
              <a:defRPr sz="1200">
                <a:solidFill>
                  <a:srgbClr val="222222"/>
                </a:solidFill>
                <a:latin typeface="Arial"/>
              </a:defRPr>
            </a:pPr>
            <a:r>
              <a:t>•  Layer 2 (Semantic): Reverse Prompting reconstructs NL directly from PDDL</a:t>
            </a:r>
          </a:p>
          <a:p>
            <a:pPr>
              <a:spcAft>
                <a:spcPts val="600"/>
              </a:spcAft>
              <a:defRPr sz="1200">
                <a:solidFill>
                  <a:srgbClr val="222222"/>
                </a:solidFill>
                <a:latin typeface="Arial"/>
              </a:defRPr>
            </a:pPr>
            <a:r>
              <a:t>•  Independent LLM judge measures semantic discrepancy d_sem in [0, 1]</a:t>
            </a:r>
          </a:p>
          <a:p>
            <a:pPr>
              <a:spcBef>
                <a:spcPts val="400"/>
              </a:spcBef>
              <a:defRPr sz="1200" b="1">
                <a:solidFill>
                  <a:srgbClr val="0F2C53"/>
                </a:solidFill>
                <a:latin typeface="Titillium Web SemiBold"/>
              </a:defRPr>
            </a:pPr>
            <a:r>
              <a:t>Uncertainty Formulation:</a:t>
            </a:r>
          </a:p>
          <a:p>
            <a:pPr algn="ct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217920" y="1188720"/>
            <a:ext cx="5212080" cy="4297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Fail-Fast HITL Clarification Loop</a:t>
            </a:r>
          </a:p>
        </p:txBody>
      </p:sp>
      <p:sp>
        <p:nvSpPr>
          <p:cNvPr id="12" name="TextBox 11"/>
          <p:cNvSpPr txBox="1"/>
          <p:nvPr/>
        </p:nvSpPr>
        <p:spPr>
          <a:xfrm>
            <a:off x="6400800" y="1874519"/>
            <a:ext cx="4846320" cy="3520440"/>
          </a:xfrm>
          <a:prstGeom prst="rect">
            <a:avLst/>
          </a:prstGeom>
          <a:noFill/>
        </p:spPr>
        <p:txBody>
          <a:bodyPr wrap="square">
            <a:spAutoFit/>
          </a:bodyPr>
          <a:lstStyle/>
          <a:p>
            <a:pPr>
              <a:spcAft>
                <a:spcPts val="600"/>
              </a:spcAft>
              <a:defRPr sz="1200">
                <a:solidFill>
                  <a:srgbClr val="222222"/>
                </a:solidFill>
                <a:latin typeface="Arial"/>
              </a:defRPr>
            </a:pPr>
            <a:r>
              <a:t>•  Evaluated BEFORE invoking graph solvers or physical tools</a:t>
            </a:r>
          </a:p>
          <a:p>
            <a:pPr>
              <a:spcAft>
                <a:spcPts val="600"/>
              </a:spcAft>
              <a:defRPr sz="1200">
                <a:solidFill>
                  <a:srgbClr val="222222"/>
                </a:solidFill>
                <a:latin typeface="Arial"/>
              </a:defRPr>
            </a:pPr>
            <a:r>
              <a:t>•  If U_sem &gt; tau_sem: Pipeline pauses via LangGraph interrupt()</a:t>
            </a:r>
          </a:p>
          <a:p>
            <a:pPr>
              <a:spcAft>
                <a:spcPts val="600"/>
              </a:spcAft>
              <a:defRPr sz="1200">
                <a:solidFill>
                  <a:srgbClr val="222222"/>
                </a:solidFill>
                <a:latin typeface="Arial"/>
              </a:defRPr>
            </a:pPr>
            <a:r>
              <a:t>•  Prompts operator to clarify ambiguous parameters or missing nodes</a:t>
            </a:r>
          </a:p>
          <a:p>
            <a:pPr>
              <a:spcAft>
                <a:spcPts val="600"/>
              </a:spcAft>
              <a:defRPr sz="1200">
                <a:solidFill>
                  <a:srgbClr val="222222"/>
                </a:solidFill>
                <a:latin typeface="Arial"/>
              </a:defRPr>
            </a:pPr>
            <a:r>
              <a:t>•  Eliminates infinite trial-and-error conversational loops</a:t>
            </a:r>
          </a:p>
          <a:p>
            <a:pPr>
              <a:spcAft>
                <a:spcPts val="600"/>
              </a:spcAft>
              <a:defRPr sz="1200">
                <a:solidFill>
                  <a:srgbClr val="222222"/>
                </a:solidFill>
                <a:latin typeface="Arial"/>
              </a:defRPr>
            </a:pPr>
            <a:r>
              <a:t>•  Guarantees that downstream tools receive mathematically verified intent</a:t>
            </a:r>
          </a:p>
          <a:p>
            <a:pPr>
              <a:spcAft>
                <a:spcPts val="600"/>
              </a:spcAft>
              <a:defRPr sz="1200">
                <a:solidFill>
                  <a:srgbClr val="222222"/>
                </a:solidFill>
                <a:latin typeface="Arial"/>
              </a:defRPr>
            </a:pPr>
            <a:r>
              <a:t>•  If operator approves valid syntax: Bypasses parsing straight to solver</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Fail-Fast Guarantee: Zero computational waste on physics simulation when intent is ambiguous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828800"/>
          </a:xfrm>
          <a:prstGeom prst="rect">
            <a:avLst/>
          </a:prstGeom>
          <a:noFill/>
        </p:spPr>
        <p:txBody>
          <a:bodyPr wrap="square">
            <a:spAutoFit/>
          </a:bodyPr>
          <a:lstStyle/>
          <a:p>
            <a:pPr>
              <a:defRPr sz="1400" b="1">
                <a:solidFill>
                  <a:srgbClr val="0F2C53"/>
                </a:solidFill>
                <a:latin typeface="Titillium Web SemiBold"/>
              </a:defRPr>
            </a:pPr>
            <a:r>
              <a:t>Piecewise Decision Formulation D(U_sem, QoT_valid):</a:t>
            </a:r>
          </a:p>
          <a:p>
            <a:pPr algn="ct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429000"/>
            <a:ext cx="344424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p:txBody>
      </p:sp>
      <p:sp>
        <p:nvSpPr>
          <p:cNvPr id="11" name="TextBox 10"/>
          <p:cNvSpPr txBox="1"/>
          <p:nvPr/>
        </p:nvSpPr>
        <p:spPr>
          <a:xfrm>
            <a:off x="822960" y="4114800"/>
            <a:ext cx="3169920" cy="2057400"/>
          </a:xfrm>
          <a:prstGeom prst="rect">
            <a:avLst/>
          </a:prstGeom>
          <a:noFill/>
        </p:spPr>
        <p:txBody>
          <a:bodyPr wrap="square">
            <a:spAutoFit/>
          </a:bodyPr>
          <a:lstStyle/>
          <a:p>
            <a:pPr>
              <a:spcAft>
                <a:spcPts val="600"/>
              </a:spcAft>
              <a:defRPr sz="1200" b="1">
                <a:solidFill>
                  <a:srgbClr val="B07D00"/>
                </a:solidFill>
                <a:latin typeface="Titillium Web SemiBold"/>
              </a:defRPr>
            </a:pPr>
            <a:r>
              <a:t>Condition: U_sem &gt; tau_sem</a:t>
            </a:r>
          </a:p>
          <a:p>
            <a:pPr>
              <a:spcAft>
                <a:spcPts val="400"/>
              </a:spcAft>
              <a:defRPr sz="1100">
                <a:solidFill>
                  <a:srgbClr val="222222"/>
                </a:solidFill>
                <a:latin typeface="Arial"/>
              </a:defRPr>
            </a:pPr>
            <a:r>
              <a:t>•  Trigger: Semantic uncertainty exceeds threshold</a:t>
            </a:r>
          </a:p>
          <a:p>
            <a:pPr>
              <a:spcAft>
                <a:spcPts val="400"/>
              </a:spcAft>
              <a:defRPr sz="1100">
                <a:solidFill>
                  <a:srgbClr val="222222"/>
                </a:solidFill>
                <a:latin typeface="Arial"/>
              </a:defRPr>
            </a:pPr>
            <a:r>
              <a:t>•  Action: Pause pipeline via interrupt()</a:t>
            </a:r>
          </a:p>
          <a:p>
            <a:pPr>
              <a:spcAft>
                <a:spcPts val="400"/>
              </a:spcAft>
              <a:defRPr sz="1100">
                <a:solidFill>
                  <a:srgbClr val="222222"/>
                </a:solidFill>
                <a:latin typeface="Arial"/>
              </a:defRPr>
            </a:pPr>
            <a:r>
              <a:t>•  Prompts operator to provide missing data</a:t>
            </a:r>
          </a:p>
          <a:p>
            <a:pPr>
              <a:spcAft>
                <a:spcPts val="400"/>
              </a:spcAft>
              <a:defRPr sz="1100">
                <a:solidFill>
                  <a:srgbClr val="222222"/>
                </a:solidFill>
                <a:latin typeface="Arial"/>
              </a:defRPr>
            </a:pPr>
            <a: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42900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p:txBody>
      </p:sp>
      <p:sp>
        <p:nvSpPr>
          <p:cNvPr id="14" name="TextBox 13"/>
          <p:cNvSpPr txBox="1"/>
          <p:nvPr/>
        </p:nvSpPr>
        <p:spPr>
          <a:xfrm>
            <a:off x="4495800" y="4114800"/>
            <a:ext cx="3169920" cy="2057400"/>
          </a:xfrm>
          <a:prstGeom prst="rect">
            <a:avLst/>
          </a:prstGeom>
          <a:noFill/>
        </p:spPr>
        <p:txBody>
          <a:bodyPr wrap="square">
            <a:spAutoFit/>
          </a:bodyPr>
          <a:lstStyle/>
          <a:p>
            <a:pPr>
              <a:spcAft>
                <a:spcPts val="600"/>
              </a:spcAft>
              <a:defRPr sz="1200" b="1">
                <a:solidFill>
                  <a:srgbClr val="85200C"/>
                </a:solidFill>
                <a:latin typeface="Titillium Web SemiBold"/>
              </a:defRPr>
            </a:pPr>
            <a:r>
              <a:t>Condition: U_sem &lt;= tau_sem &amp; QoT = 0</a:t>
            </a:r>
          </a:p>
          <a:p>
            <a:pPr>
              <a:spcAft>
                <a:spcPts val="400"/>
              </a:spcAft>
              <a:defRPr sz="1100">
                <a:solidFill>
                  <a:srgbClr val="222222"/>
                </a:solidFill>
                <a:latin typeface="Arial"/>
              </a:defRPr>
            </a:pPr>
            <a:r>
              <a:t>•  Trigger: Valid semantics, but physics infeasible</a:t>
            </a:r>
          </a:p>
          <a:p>
            <a:pPr>
              <a:spcAft>
                <a:spcPts val="400"/>
              </a:spcAft>
              <a:defRPr sz="1100">
                <a:solidFill>
                  <a:srgbClr val="222222"/>
                </a:solidFill>
                <a:latin typeface="Arial"/>
              </a:defRPr>
            </a:pPr>
            <a:r>
              <a:t>•  Action: Physics failed; notifies operator</a:t>
            </a:r>
          </a:p>
          <a:p>
            <a:pPr>
              <a:spcAft>
                <a:spcPts val="400"/>
              </a:spcAft>
              <a:defRPr sz="1100">
                <a:solidFill>
                  <a:srgbClr val="222222"/>
                </a:solidFill>
                <a:latin typeface="Arial"/>
              </a:defRPr>
            </a:pPr>
            <a:r>
              <a:t>•  Suggests relaxing constraints (e.g. lower baud rate)</a:t>
            </a:r>
          </a:p>
          <a:p>
            <a:pPr>
              <a:spcAft>
                <a:spcPts val="400"/>
              </a:spcAft>
              <a:defRPr sz="1100">
                <a:solidFill>
                  <a:srgbClr val="222222"/>
                </a:solidFill>
                <a:latin typeface="Arial"/>
              </a:defRPr>
            </a:pPr>
            <a: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42900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p:txBody>
      </p:sp>
      <p:sp>
        <p:nvSpPr>
          <p:cNvPr id="17" name="TextBox 16"/>
          <p:cNvSpPr txBox="1"/>
          <p:nvPr/>
        </p:nvSpPr>
        <p:spPr>
          <a:xfrm>
            <a:off x="8168640" y="4114800"/>
            <a:ext cx="3169920" cy="2057400"/>
          </a:xfrm>
          <a:prstGeom prst="rect">
            <a:avLst/>
          </a:prstGeom>
          <a:noFill/>
        </p:spPr>
        <p:txBody>
          <a:bodyPr wrap="square">
            <a:spAutoFit/>
          </a:bodyPr>
          <a:lstStyle/>
          <a:p>
            <a:pPr>
              <a:spcAft>
                <a:spcPts val="600"/>
              </a:spcAft>
              <a:defRPr sz="1200" b="1">
                <a:solidFill>
                  <a:srgbClr val="1A7F37"/>
                </a:solidFill>
                <a:latin typeface="Titillium Web SemiBold"/>
              </a:defRPr>
            </a:pPr>
            <a:r>
              <a:t>Condition: U_sem &lt;= tau_sem &amp; QoT = 1</a:t>
            </a:r>
          </a:p>
          <a:p>
            <a:pPr>
              <a:spcAft>
                <a:spcPts val="400"/>
              </a:spcAft>
              <a:defRPr sz="1100">
                <a:solidFill>
                  <a:srgbClr val="222222"/>
                </a:solidFill>
                <a:latin typeface="Arial"/>
              </a:defRPr>
            </a:pPr>
            <a:r>
              <a:t>•  Trigger: Clear semantics and feasible GSNR</a:t>
            </a:r>
          </a:p>
          <a:p>
            <a:pPr>
              <a:spcAft>
                <a:spcPts val="400"/>
              </a:spcAft>
              <a:defRPr sz="1100">
                <a:solidFill>
                  <a:srgbClr val="222222"/>
                </a:solidFill>
                <a:latin typeface="Arial"/>
              </a:defRPr>
            </a:pPr>
            <a:r>
              <a:t>•  Action: Autonomous zero-touch provisioning</a:t>
            </a:r>
          </a:p>
          <a:p>
            <a:pPr>
              <a:spcAft>
                <a:spcPts val="400"/>
              </a:spcAft>
              <a:defRPr sz="1100">
                <a:solidFill>
                  <a:srgbClr val="222222"/>
                </a:solidFill>
                <a:latin typeface="Arial"/>
              </a:defRPr>
            </a:pPr>
            <a:r>
              <a:t>•  Generates auditable planning report</a:t>
            </a:r>
          </a:p>
          <a:p>
            <a:pPr>
              <a:spcAft>
                <a:spcPts val="400"/>
              </a:spcAft>
              <a:defRPr sz="1100">
                <a:solidFill>
                  <a:srgbClr val="222222"/>
                </a:solidFill>
                <a:latin typeface="Arial"/>
              </a:defRPr>
            </a:pPr>
            <a: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defRPr sz="1200">
                <a:solidFill>
                  <a:srgbClr val="222222"/>
                </a:solidFill>
                <a:latin typeface="Arial"/>
              </a:defRPr>
            </a:pPr>
            <a:r>
              <a:t>•  Pure Python implementation: zero LLM arithmetic</a:t>
            </a:r>
          </a:p>
          <a:p>
            <a:pPr>
              <a:spcBef>
                <a:spcPts val="400"/>
              </a:spcBef>
              <a:defRPr sz="1100" b="1">
                <a:solidFill>
                  <a:srgbClr val="0F2C53"/>
                </a:solidFill>
                <a:latin typeface="Titillium Web SemiBold"/>
              </a:defRPr>
            </a:pPr>
            <a:r>
              <a:t>Accumulated ASE Noise Power per Span:</a:t>
            </a:r>
          </a:p>
          <a:p>
            <a:pPr algn="ct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defRPr sz="1100">
                <a:solidFill>
                  <a:srgbClr val="222222"/>
                </a:solidFill>
                <a:latin typeface="Arial"/>
              </a:defRPr>
            </a:pPr>
            <a: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defRPr sz="1100">
                <a:solidFill>
                  <a:srgbClr val="222222"/>
                </a:solidFill>
                <a:latin typeface="Arial"/>
              </a:defRPr>
            </a:pPr>
            <a:r>
              <a:t>•  Deterministic feasibility: GSNR &gt;= threshold AND Power &gt;= sensitivity</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 Execution Speed: Under 5 milliseconds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868680" y="1874520"/>
            <a:ext cx="4754880" cy="4114800"/>
          </a:xfrm>
          <a:prstGeom prst="rect">
            <a:avLst/>
          </a:prstGeom>
          <a:noFill/>
        </p:spPr>
        <p:txBody>
          <a:bodyPr wrap="square">
            <a:spAutoFit/>
          </a:bodyPr>
          <a:lstStyle/>
          <a:p>
            <a:pPr>
              <a:spcAft>
                <a:spcPts val="800"/>
              </a:spcAft>
              <a:defRPr sz="1200">
                <a:solidFill>
                  <a:srgbClr val="222222"/>
                </a:solidFill>
                <a:latin typeface="Arial"/>
              </a:defRPr>
            </a:pPr>
            <a:r>
              <a:t>•  Realistic telecom benchmark: 17 ROADMs and 26 fiber links</a:t>
            </a:r>
          </a:p>
          <a:p>
            <a:pPr>
              <a:spcAft>
                <a:spcPts val="800"/>
              </a:spcAft>
              <a:defRPr sz="1200">
                <a:solidFill>
                  <a:srgbClr val="222222"/>
                </a:solidFill>
                <a:latin typeface="Arial"/>
              </a:defRPr>
            </a:pPr>
            <a:r>
              <a:t>•  Standard Single-Mode Fiber (SMF-28): alpha = 0.2 dB/km</a:t>
            </a:r>
          </a:p>
          <a:p>
            <a:pPr>
              <a:spcAft>
                <a:spcPts val="800"/>
              </a:spcAft>
              <a:defRPr sz="1200">
                <a:solidFill>
                  <a:srgbClr val="222222"/>
                </a:solidFill>
                <a:latin typeface="Arial"/>
              </a:defRPr>
            </a:pPr>
            <a:r>
              <a:t>•  Dispersion parameter D = 16.7 ps/(nm*km), gamma = 1.2 / (W*km)</a:t>
            </a:r>
          </a:p>
          <a:p>
            <a:pPr>
              <a:spcAft>
                <a:spcPts val="800"/>
              </a:spcAft>
              <a:defRPr sz="1200">
                <a:solidFill>
                  <a:srgbClr val="222222"/>
                </a:solidFill>
                <a:latin typeface="Arial"/>
              </a:defRPr>
            </a:pPr>
            <a:r>
              <a:t>•  Amplified spans: dual-stage EDFAs with noise figure F = 5.5 dB</a:t>
            </a:r>
          </a:p>
          <a:p>
            <a:pPr>
              <a:spcAft>
                <a:spcPts val="800"/>
              </a:spcAft>
              <a:defRPr sz="1200">
                <a:solidFill>
                  <a:srgbClr val="222222"/>
                </a:solidFill>
                <a:latin typeface="Arial"/>
              </a:defRPr>
            </a:pPr>
            <a:r>
              <a:t>•  Dynamic link lengths ranging from 45 km to 350 km per span</a:t>
            </a:r>
          </a:p>
          <a:p>
            <a:pPr>
              <a:spcAft>
                <a:spcPts val="800"/>
              </a:spcAft>
              <a:defRPr sz="1200">
                <a:solidFill>
                  <a:srgbClr val="222222"/>
                </a:solidFill>
                <a:latin typeface="Arial"/>
              </a:defRPr>
            </a:pPr>
            <a:r>
              <a:t>•  Orchestrator: LangGraph StateGraph with memory persistence</a:t>
            </a:r>
          </a:p>
          <a:p>
            <a:pPr>
              <a:spcAft>
                <a:spcPts val="800"/>
              </a:spcAft>
              <a:defRPr sz="1200">
                <a:solidFill>
                  <a:srgbClr val="222222"/>
                </a:solidFill>
                <a:latin typeface="Arial"/>
              </a:defRPr>
            </a:pPr>
            <a:r>
              <a:t>•  Telemetry: RESTConf and Mock SDON testbed client adapters</a:t>
            </a:r>
          </a:p>
        </p:txBody>
      </p:sp>
      <p:sp>
        <p:nvSpPr>
          <p:cNvPr id="10" name="Rounded Rectangle 9"/>
          <p:cNvSpPr/>
          <p:nvPr/>
        </p:nvSpPr>
        <p:spPr>
          <a:xfrm>
            <a:off x="6080760" y="1188720"/>
            <a:ext cx="539496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Network Topology: Nobel-Germany 17-Node 26-Link Core Backbone</a:t>
            </a:r>
          </a:p>
          <a:p>
            <a:pPr algn="ctr">
              <a:defRPr sz="1100">
                <a:solidFill>
                  <a:srgbClr val="5A6B82"/>
                </a:solidFill>
                <a:latin typeface="Arial"/>
              </a:defRPr>
            </a:pPr>
            <a:r>
              <a:t>(Target: 16:9 Topology Map with ROADM Nodes &amp; Amplified Spans — Replace in PowerPoint)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Baseline A (LLM-Only): Direct prompt-to-configuration generation with heuristic retry</a:t>
            </a:r>
          </a:p>
          <a:p>
            <a:pPr>
              <a:spcAft>
                <a:spcPts val="600"/>
              </a:spcAft>
              <a:defRPr sz="1200">
                <a:solidFill>
                  <a:srgbClr val="222222"/>
                </a:solidFill>
                <a:latin typeface="Arial"/>
              </a:defRPr>
            </a:pPr>
            <a:r>
              <a:t>•  Baseline B (Static Rule-Based): Strict regex parser with always-on human review</a:t>
            </a:r>
          </a:p>
          <a:p>
            <a:pPr>
              <a:spcAft>
                <a:spcPts val="600"/>
              </a:spcAft>
              <a:defRPr sz="1200">
                <a:solidFill>
                  <a:srgbClr val="222222"/>
                </a:solidFill>
                <a:latin typeface="Arial"/>
              </a:defRPr>
            </a:pPr>
            <a:r>
              <a:t>•  Proposed (Neurosymbolic RADG): Decoupled translation + sequential risk gates</a:t>
            </a:r>
          </a:p>
          <a:p>
            <a:pPr>
              <a:spcAft>
                <a:spcPts val="600"/>
              </a:spcAft>
              <a:defRPr sz="1200">
                <a:solidFill>
                  <a:srgbClr val="222222"/>
                </a:solidFill>
                <a:latin typeface="Arial"/>
              </a:defRPr>
            </a:pPr>
            <a: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Nominal Intents [40]: Unambiguous valid routing requests with feasible physics</a:t>
            </a:r>
          </a:p>
          <a:p>
            <a:pPr>
              <a:spcAft>
                <a:spcPts val="600"/>
              </a:spcAft>
              <a:defRPr sz="1200">
                <a:solidFill>
                  <a:srgbClr val="222222"/>
                </a:solidFill>
                <a:latin typeface="Arial"/>
              </a:defRPr>
            </a:pPr>
            <a:r>
              <a:t>•  Ambiguous Intents [20]: Under-specified constraints triggering semantic gate (U_sem)</a:t>
            </a:r>
          </a:p>
          <a:p>
            <a:pPr>
              <a:spcAft>
                <a:spcPts val="600"/>
              </a:spcAft>
              <a:defRPr sz="1200">
                <a:solidFill>
                  <a:srgbClr val="222222"/>
                </a:solidFill>
                <a:latin typeface="Arial"/>
              </a:defRPr>
            </a:pPr>
            <a:r>
              <a:t>•  Infeasible Intents [25]: High modulation over long unamplified reaches (QoT fails)</a:t>
            </a:r>
          </a:p>
          <a:p>
            <a:pPr>
              <a:spcAft>
                <a:spcPts val="600"/>
              </a:spcAft>
              <a:defRPr sz="1200">
                <a:solidFill>
                  <a:srgbClr val="222222"/>
                </a:solidFill>
                <a:latin typeface="Arial"/>
              </a:defRPr>
            </a:pPr>
            <a:r>
              <a:t>•  Adversarial Prompts [15]: Hallucinated nodes &amp; grammar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Aft>
                <a:spcPts val="600"/>
              </a:spcAft>
              <a:defRPr sz="1200">
                <a:solidFill>
                  <a:srgbClr val="222222"/>
                </a:solidFill>
                <a:latin typeface="Arial"/>
              </a:defRPr>
            </a:pPr>
            <a:r>
              <a:t>•  Pre-Deployment Blocking Accuracy: % of invalid routes blocked before deployment</a:t>
            </a:r>
          </a:p>
          <a:p>
            <a:pPr>
              <a:spcAft>
                <a:spcPts val="600"/>
              </a:spcAft>
              <a:defRPr sz="1200">
                <a:solidFill>
                  <a:srgbClr val="222222"/>
                </a:solidFill>
                <a:latin typeface="Arial"/>
              </a:defRPr>
            </a:pPr>
            <a:r>
              <a:t>•  Human Intervention Rate: % of demands requiring human operator clarification</a:t>
            </a:r>
          </a:p>
          <a:p>
            <a:pPr>
              <a:spcAft>
                <a:spcPts val="600"/>
              </a:spcAft>
              <a:defRPr sz="1200">
                <a:solidFill>
                  <a:srgbClr val="222222"/>
                </a:solidFill>
                <a:latin typeface="Arial"/>
              </a:defRPr>
            </a:pPr>
            <a:r>
              <a:t>•  End-to-End Latency: Pipeline execution time from NL intent to planning report</a:t>
            </a:r>
          </a:p>
          <a:p>
            <a:pPr>
              <a:spcAft>
                <a:spcPts val="600"/>
              </a:spcAft>
              <a:defRPr sz="1200">
                <a:solidFill>
                  <a:srgbClr val="222222"/>
                </a:solidFill>
                <a:latin typeface="Arial"/>
              </a:defRPr>
            </a:pPr>
            <a:r>
              <a:t>•  Token Consumption: Prompt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latin typeface="Arial"/>
              </a:defRPr>
            </a:pPr>
            <a:r>
              <a:t>Zero unfeasible lightpaths reach controller (vs 34% violation in LLM baseline)</a:t>
            </a:r>
          </a:p>
        </p:txBody>
      </p:sp>
      <p:sp>
        <p:nvSpPr>
          <p:cNvPr id="8" name="Rounded Rectangle 7"/>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latin typeface="Arial"/>
              </a:defRPr>
            </a:pPr>
            <a:r>
              <a:t>Autonomous approval when U_sem &lt;= tau_sem (operator engaged only on high risk)</a:t>
            </a:r>
          </a:p>
        </p:txBody>
      </p:sp>
      <p:sp>
        <p:nvSpPr>
          <p:cNvPr id="9" name="Rounded Rectangle 8"/>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3200" b="1">
                <a:solidFill>
                  <a:srgbClr val="0F2C53"/>
                </a:solidFill>
                <a:latin typeface="Titillium Web SemiBold"/>
              </a:defRPr>
            </a:pPr>
            <a:r>
              <a:t>&lt; 15 ms</a:t>
            </a:r>
          </a:p>
          <a:p>
            <a:pPr>
              <a:defRPr sz="1300" b="1">
                <a:solidFill>
                  <a:srgbClr val="0F2C53"/>
                </a:solidFill>
                <a:latin typeface="Titillium Web SemiBold"/>
              </a:defRPr>
            </a:pPr>
            <a:r>
              <a:t>Deterministic Physics &amp; Solver Latency</a:t>
            </a:r>
          </a:p>
          <a:p>
            <a:pPr>
              <a:defRPr sz="1000">
                <a:solidFill>
                  <a:srgbClr val="222222"/>
                </a:solidFill>
                <a:latin typeface="Arial"/>
              </a:defRPr>
            </a:pPr>
            <a:r>
              <a:t>Sub-second orchestration; solver &amp; GN model execute in sub-milliseconds</a:t>
            </a:r>
          </a:p>
        </p:txBody>
      </p:sp>
      <p:sp>
        <p:nvSpPr>
          <p:cNvPr id="10" name="Rounded Rectangle 9"/>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594360" lIns="137160" rIns="137160"/>
          <a:lstStyle/>
          <a:p>
            <a:pPr algn="ctr">
              <a:spcAft>
                <a:spcPts val="300"/>
              </a:spcAft>
              <a:defRPr sz="1100">
                <a:solidFill>
                  <a:srgbClr val="222222"/>
                </a:solidFill>
                <a:latin typeface="Arial"/>
              </a:defRPr>
            </a:pPr>
            <a:r>
              <a:t>•  Probabilistic LLMs must never calculate physical impairments or route lightpaths</a:t>
            </a:r>
          </a:p>
          <a:p>
            <a:pPr>
              <a:spcAft>
                <a:spcPts val="300"/>
              </a:spcAft>
              <a:defRPr sz="1100">
                <a:solidFill>
                  <a:srgbClr val="222222"/>
                </a:solidFill>
                <a:latin typeface="Arial"/>
              </a:defRPr>
            </a:pPr>
            <a:r>
              <a:t>•  Natural language reasoning cleanly bridges to formal PDDL planning</a:t>
            </a:r>
          </a:p>
          <a:p>
            <a:pPr>
              <a:spcAft>
                <a:spcPts val="300"/>
              </a:spcAft>
              <a:defRPr sz="1100">
                <a:solidFill>
                  <a:srgbClr val="222222"/>
                </a:solidFill>
                <a:latin typeface="Arial"/>
              </a:defRPr>
            </a:pPr>
            <a:r>
              <a:t>•  Guarantees formal soundness without constraining operator expressiveness</a:t>
            </a: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Rounded Rectangle 8"/>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594360" lIns="137160" rIns="137160"/>
          <a:lstStyle/>
          <a:p>
            <a:pPr algn="ctr">
              <a:spcAft>
                <a:spcPts val="300"/>
              </a:spcAft>
              <a:defRPr sz="1100">
                <a:solidFill>
                  <a:srgbClr val="222222"/>
                </a:solidFill>
                <a:latin typeface="Arial"/>
              </a:defRPr>
            </a:pPr>
            <a:r>
              <a:t>•  Early semantic evaluation (U_sem) eliminates drift before physics computation</a:t>
            </a:r>
          </a:p>
          <a:p>
            <a:pPr>
              <a:spcAft>
                <a:spcPts val="300"/>
              </a:spcAft>
              <a:defRPr sz="1100">
                <a:solidFill>
                  <a:srgbClr val="222222"/>
                </a:solidFill>
                <a:latin typeface="Arial"/>
              </a:defRPr>
            </a:pPr>
            <a:r>
              <a:t>•  Deterministic GN-model verification (QoT_valid) ensures 100% physical feasibility</a:t>
            </a:r>
          </a:p>
          <a:p>
            <a:pPr>
              <a:spcAft>
                <a:spcPts val="300"/>
              </a:spcAft>
              <a:defRPr sz="1100">
                <a:solidFill>
                  <a:srgbClr val="222222"/>
                </a:solidFill>
                <a:latin typeface="Arial"/>
              </a:defRPr>
            </a:pPr>
            <a:r>
              <a:t>•  Zero unverified configurations ever reach the optical controller</a:t>
            </a:r>
          </a:p>
        </p:txBody>
      </p:sp>
      <p:sp>
        <p:nvSpPr>
          <p:cNvPr id="10" name="Rounded Rectangle 9"/>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1" name="Rounded Rectangle 10"/>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594360" lIns="137160" rIns="137160"/>
          <a:lstStyle/>
          <a:p>
            <a:pPr algn="ctr">
              <a:spcAft>
                <a:spcPts val="300"/>
              </a:spcAft>
              <a:defRPr sz="1100">
                <a:solidFill>
                  <a:srgbClr val="222222"/>
                </a:solidFill>
                <a:latin typeface="Arial"/>
              </a:defRPr>
            </a:pPr>
            <a:r>
              <a:t>•  Engaging operators proportionally to risk eliminates fatigue while maintaining safety</a:t>
            </a:r>
          </a:p>
          <a:p>
            <a:pPr>
              <a:spcAft>
                <a:spcPts val="300"/>
              </a:spcAft>
              <a:defRPr sz="1100">
                <a:solidFill>
                  <a:srgbClr val="222222"/>
                </a:solidFill>
                <a:latin typeface="Arial"/>
              </a:defRPr>
            </a:pPr>
            <a:r>
              <a:t>•  Over 70% reduction in human intervention compared to always-on review</a:t>
            </a:r>
          </a:p>
          <a:p>
            <a:pPr>
              <a:spcAft>
                <a:spcPts val="300"/>
              </a:spcAft>
              <a:defRPr sz="1100">
                <a:solidFill>
                  <a:srgbClr val="222222"/>
                </a:solidFill>
                <a:latin typeface="Arial"/>
              </a:defRPr>
            </a:pPr>
            <a:r>
              <a:t>•  Sub-second planning latency enables rapid dynamic lightpath turn-up</a:t>
            </a:r>
          </a:p>
        </p:txBody>
      </p:sp>
      <p:sp>
        <p:nvSpPr>
          <p:cNvPr id="12" name="Rounded Rectangle 11"/>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3" name="Rounded Rectangle 12"/>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594360" lIns="137160" rIns="137160"/>
          <a:lstStyle/>
          <a:p>
            <a:pPr algn="ctr">
              <a:spcAft>
                <a:spcPts val="300"/>
              </a:spcAft>
              <a:defRPr sz="1100">
                <a:solidFill>
                  <a:srgbClr val="222222"/>
                </a:solidFill>
                <a:latin typeface="Arial"/>
              </a:defRPr>
            </a:pPr>
            <a:r>
              <a:t>•  Fully implemented LangGraph state machine with memory checkpoints</a:t>
            </a:r>
          </a:p>
          <a:p>
            <a:pPr>
              <a:spcAft>
                <a:spcPts val="300"/>
              </a:spcAft>
              <a:defRPr sz="1100">
                <a:solidFill>
                  <a:srgbClr val="222222"/>
                </a:solidFill>
                <a:latin typeface="Arial"/>
              </a:defRPr>
            </a:pPr>
            <a:r>
              <a:t>•  Benchmarked on realistic 17-node German optical topology and RESTConf testbed</a:t>
            </a:r>
          </a:p>
          <a:p>
            <a:pPr>
              <a:spcAft>
                <a:spcPts val="300"/>
              </a:spcAft>
              <a:defRPr sz="1100">
                <a:solidFill>
                  <a:srgbClr val="222222"/>
                </a:solidFill>
                <a:latin typeface="Arial"/>
              </a:defRPr>
            </a:pPr>
            <a:r>
              <a:t>•  Establishes a reproducible foundation for autonomous optical networking</a:t>
            </a:r>
          </a:p>
        </p:txBody>
      </p:sp>
      <p:sp>
        <p:nvSpPr>
          <p:cNvPr id="14" name="Rounded Rectangle 13"/>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