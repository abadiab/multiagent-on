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 across 4 validation pillars.</a:t>
            </a:r>
          </a:p>
          <a:p>
            <a:r>
              <a:t>[Spoken Script]: In Slide 13, we present our comprehensive evaluation framework. On the left, we establish the experimental baseline: we test against an unconstrained LLM-only baseline with trial-and-error retry, and a rigid rule-based system with always-on human review, deployed on the 17-node German optical backbone. We evaluate a benchmark corpus of 100 intent demands spanning four risk classes: nominal, ambiguous, physically infeasible, and adversarial prompts. On the right, rather than just measuring latency, we evaluate our system across four rigorous validation pillars: first, Semantic Translation Accuracy to guarantee zero constraint loss; second, Physical Feasibility to enforce our non-negotiable zero percent Unsafe Approval Rate; third, Orchestration Efficiency, measuring over 75 percent token savings from GraphRAG and 70 percent reduction in operator fatigue; and fourth, RADG Decision Robustness, ensuring over 98 percent gate accuracy and zero false positives across all boundary conditions.</a:t>
            </a:r>
          </a:p>
          <a:p>
            <a:r>
              <a:t>[Bridge to Next Slide]: Let us analyze the key findings and empirical guarantees obtained from these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523036"/>
          </a:xfrm>
          <a:prstGeom prst="rect">
            <a:avLst/>
          </a:prstGeom>
          <a:noFill/>
        </p:spPr>
        <p:txBody>
          <a:bodyPr wrap="square">
            <a:spAutoFit/>
          </a:bodyPr>
          <a:lstStyle/>
          <a:p>
            <a:pPr>
              <a:defRPr sz="2800" b="1">
                <a:solidFill>
                  <a:srgbClr val="0F2C53"/>
                </a:solidFill>
                <a:latin typeface="Titillium Web SemiBold"/>
              </a:defRPr>
            </a:pPr>
            <a:r>
              <a:t>Proposed Solution: RADG with Neurosymbolic Planning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Neural Subsystem (Semantic Domain)</a:t>
            </a:r>
          </a:p>
        </p:txBody>
      </p:sp>
      <p:sp>
        <p:nvSpPr>
          <p:cNvPr id="9" name="Rounded Rectangle 8"/>
          <p:cNvSpPr/>
          <p:nvPr/>
        </p:nvSpPr>
        <p:spPr>
          <a:xfrm>
            <a:off x="1456639" y="188823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Translation of the intent</a:t>
            </a:r>
          </a:p>
        </p:txBody>
      </p:sp>
      <p:sp>
        <p:nvSpPr>
          <p:cNvPr id="10" name="Rounded Rectangle 9"/>
          <p:cNvSpPr/>
          <p:nvPr/>
        </p:nvSpPr>
        <p:spPr>
          <a:xfrm>
            <a:off x="1456639" y="2388412"/>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Validation of the semantic similarity</a:t>
            </a:r>
          </a:p>
        </p:txBody>
      </p:sp>
      <p:sp>
        <p:nvSpPr>
          <p:cNvPr id="11" name="Rounded Rectangle 10"/>
          <p:cNvSpPr/>
          <p:nvPr/>
        </p:nvSpPr>
        <p:spPr>
          <a:xfrm>
            <a:off x="1456639" y="2935224"/>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Orchestration</a:t>
            </a:r>
          </a:p>
        </p:txBody>
      </p:sp>
      <p:sp>
        <p:nvSpPr>
          <p:cNvPr id="12" name="Rounded Rectangle 11"/>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Symbolic Subsystem (Optical Domain)</a:t>
            </a:r>
          </a:p>
        </p:txBody>
      </p:sp>
      <p:sp>
        <p:nvSpPr>
          <p:cNvPr id="14" name="Rounded Rectangle 13"/>
          <p:cNvSpPr/>
          <p:nvPr/>
        </p:nvSpPr>
        <p:spPr>
          <a:xfrm>
            <a:off x="1456639" y="4550968"/>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Topology extraction</a:t>
            </a:r>
          </a:p>
        </p:txBody>
      </p:sp>
      <p:sp>
        <p:nvSpPr>
          <p:cNvPr id="15" name="Rounded Rectangle 14"/>
          <p:cNvSpPr/>
          <p:nvPr/>
        </p:nvSpPr>
        <p:spPr>
          <a:xfrm>
            <a:off x="1456639" y="5051145"/>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Compute candidate lightpaths</a:t>
            </a:r>
          </a:p>
        </p:txBody>
      </p:sp>
      <p:sp>
        <p:nvSpPr>
          <p:cNvPr id="16" name="Rounded Rectangle 15"/>
          <p:cNvSpPr/>
          <p:nvPr/>
        </p:nvSpPr>
        <p:spPr>
          <a:xfrm>
            <a:off x="1456639" y="559795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Physical feasibility validation</a:t>
            </a:r>
          </a:p>
        </p:txBody>
      </p:sp>
      <p:sp>
        <p:nvSpPr>
          <p:cNvPr id="17" name="Rounded Rectangle 16"/>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Core Thesis Contributions</a:t>
            </a:r>
          </a:p>
        </p:txBody>
      </p:sp>
      <p:sp>
        <p:nvSpPr>
          <p:cNvPr id="18" name="Rounded Rectangle 17"/>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Scoped GraphRAG for IBON in a Neurosymbolic system</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eliminating attention loss</a:t>
            </a:r>
          </a:p>
        </p:txBody>
      </p:sp>
      <p:sp>
        <p:nvSpPr>
          <p:cNvPr id="20" name="Rounded Rectangle 19"/>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Quantification of Semantic Uncertainty for IBON in a Neurosymbolic system</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p:txBody>
      </p:sp>
      <p:sp>
        <p:nvSpPr>
          <p:cNvPr id="22" name="Rounded Rectangle 21"/>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for HITL optimization</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physical safety (</a:t>
            </a:r>
            <a14:m xmlns:a14="http://schemas.microsoft.com/office/drawing/2010/main" xmlns:m="http://schemas.openxmlformats.org/officeDocument/2006/math">
              <m:oMath>
                <m:r>
                  <m:t>UAR = 0</m:t>
                </m:r>
              </m:oMath>
            </a14:m>
            <a:r>
              <a:rPr sz="1000" b="0">
                <a:solidFill>
                  <a:srgbClr val="222222"/>
                </a:solidFill>
                <a:latin typeface="Arial"/>
              </a:rPr>
              <a:t>)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  Evaluate CFG </a:t>
            </a:r>
            <a14:m xmlns:a14="http://schemas.microsoft.com/office/drawing/2010/main" xmlns:m="http://schemas.openxmlformats.org/officeDocument/2006/math">
              <m:oMath>
                <m:sSub>
                  <m:e>
                    <m:r>
                      <m:t>v</m:t>
                    </m:r>
                  </m:e>
                  <m:sub>
                    <m:r>
                      <m:t>struct</m:t>
                    </m:r>
                  </m:sub>
                </m:sSub>
              </m:oMath>
            </a14:m>
          </a:p>
          <a:p>
            <a:pPr algn="l">
              <a:spcBef>
                <a:spcPts val="200"/>
              </a:spcBef>
              <a:defRPr sz="950">
                <a:solidFill>
                  <a:srgbClr val="222222"/>
                </a:solidFill>
              </a:defRPr>
            </a:pPr>
            <a:r>
              <a:rPr sz="950" b="0">
                <a:solidFill>
                  <a:srgbClr val="222222"/>
                </a:solidFill>
                <a:latin typeface="Arial"/>
              </a:rPr>
              <a:t>•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Feasibility Gate</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1695" y="1188720"/>
            <a:ext cx="850392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37513"/>
            <a:ext cx="5120640" cy="645566"/>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Deterministic Subtopology Scoping</a:t>
            </a:r>
          </a:p>
        </p:txBody>
      </p:sp>
      <p:sp>
        <p:nvSpPr>
          <p:cNvPr id="9" name="Down Arrow 8"/>
          <p:cNvSpPr/>
          <p:nvPr/>
        </p:nvSpPr>
        <p:spPr>
          <a:xfrm>
            <a:off x="3027578" y="1897380"/>
            <a:ext cx="701344" cy="2064715"/>
          </a:xfrm>
          <a:prstGeom prst="downArrow">
            <a:avLst/>
          </a:prstGeom>
          <a:solidFill>
            <a:srgbClr val="85200C"/>
          </a:solidFill>
          <a:ln>
            <a:solidFill>
              <a:srgbClr val="F4F6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2983" y="2031796"/>
            <a:ext cx="2910535"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222222"/>
                </a:solidFill>
                <a:latin typeface="Titillium Web SemiBold"/>
              </a:defRPr>
            </a:pPr>
            <a:r>
              <a:t>Raw JSON contains excessive telemetry:</a:t>
            </a:r>
          </a:p>
          <a:p>
            <a:pPr algn="ctr">
              <a:defRPr sz="1200" b="1">
                <a:solidFill>
                  <a:srgbClr val="222222"/>
                </a:solidFill>
                <a:latin typeface="Titillium Web SemiBold"/>
              </a:defRPr>
            </a:pPr>
            <a:r>
              <a:t>ROADM ports, EDFAs, fibers</a:t>
            </a:r>
          </a:p>
        </p:txBody>
      </p:sp>
      <p:sp>
        <p:nvSpPr>
          <p:cNvPr id="11" name="Rounded Rectangle 10"/>
          <p:cNvSpPr/>
          <p:nvPr/>
        </p:nvSpPr>
        <p:spPr>
          <a:xfrm>
            <a:off x="1891893" y="2839212"/>
            <a:ext cx="2941624"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91440" bIns="36576"/>
          <a:lstStyle/>
          <a:p>
            <a:pPr algn="ctr">
              <a:defRPr sz="1200" b="1">
                <a:solidFill>
                  <a:srgbClr val="222222"/>
                </a:solidFill>
                <a:latin typeface="Titillium Web SemiBold"/>
              </a:defRPr>
            </a:pPr>
            <a:r>
              <a:t>Full topology dumps overwhelm LLM context windows</a:t>
            </a:r>
          </a:p>
        </p:txBody>
      </p:sp>
      <p:sp>
        <p:nvSpPr>
          <p:cNvPr id="12" name="Rounded Rectangle 11"/>
          <p:cNvSpPr/>
          <p:nvPr/>
        </p:nvSpPr>
        <p:spPr>
          <a:xfrm>
            <a:off x="1626717" y="3962095"/>
            <a:ext cx="3627424" cy="541324"/>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1A7F37"/>
                </a:solidFill>
                <a:latin typeface="Titillium Web SemiBold"/>
              </a:defRPr>
            </a:pPr>
            <a:r>
              <a:t>Mock GraphRAG extracts localized subtopology</a:t>
            </a:r>
          </a:p>
          <a:p>
            <a:pPr algn="ctr">
              <a:defRPr sz="1200">
                <a:solidFill>
                  <a:srgbClr val="1A7F37"/>
                </a:solidFill>
              </a:defRPr>
            </a:pPr>
            <a14:m xmlns:a14="http://schemas.microsoft.com/office/drawing/2010/main" xmlns:m="http://schemas.openxmlformats.org/officeDocument/2006/math">
              <m:oMath>
                <m:sSub>
                  <m:e>
                    <m:r>
                      <m:t>G</m:t>
                    </m:r>
                  </m:e>
                  <m:sub>
                    <m:r>
                      <m:t>sub</m:t>
                    </m:r>
                  </m:sub>
                </m:sSub>
                <m:r>
                  <m:t> ⊆ G</m:t>
                </m:r>
              </m:oMath>
            </a14:m>
          </a:p>
        </p:txBody>
      </p:sp>
      <p:sp>
        <p:nvSpPr>
          <p:cNvPr id="13" name="TextBox 12"/>
          <p:cNvSpPr txBox="1"/>
          <p:nvPr/>
        </p:nvSpPr>
        <p:spPr>
          <a:xfrm>
            <a:off x="1000353" y="4752136"/>
            <a:ext cx="4754880" cy="645566"/>
          </a:xfrm>
          <a:prstGeom prst="rect">
            <a:avLst/>
          </a:prstGeom>
          <a:noFill/>
        </p:spPr>
        <p:txBody>
          <a:bodyPr wrap="square">
            <a:spAutoFit/>
          </a:bodyPr>
          <a:lstStyle/>
          <a:p>
            <a:pPr>
              <a:spcBef>
                <a:spcPts val="0"/>
              </a:spcBef>
              <a:spcAft>
                <a:spcPts val="200"/>
              </a:spcAft>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pic>
        <p:nvPicPr>
          <p:cNvPr id="14" name="Picture 13"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5" name="Picture 14"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
        <p:nvSpPr>
          <p:cNvPr id="16" name="TextBox 15"/>
          <p:cNvSpPr txBox="1"/>
          <p:nvPr/>
        </p:nvSpPr>
        <p:spPr>
          <a:xfrm>
            <a:off x="6263640" y="5053888"/>
            <a:ext cx="5029200" cy="215798"/>
          </a:xfrm>
          <a:prstGeom prst="rect">
            <a:avLst/>
          </a:prstGeom>
          <a:noFill/>
        </p:spPr>
        <p:txBody>
          <a:bodyPr wrap="square">
            <a:spAutoFit/>
          </a:bodyPr>
          <a:lstStyle/>
          <a:p>
            <a:pPr>
              <a:defRPr sz="800">
                <a:solidFill>
                  <a:srgbClr val="222222"/>
                </a:solidFill>
                <a:latin typeface="Arial"/>
              </a:defRPr>
            </a:pPr>
            <a:r>
              <a:t>From: https://topolib.readthedocs.io/en/latest/topology_repository.html</a:t>
            </a:r>
          </a:p>
        </p:txBody>
      </p:sp>
      <p:sp>
        <p:nvSpPr>
          <p:cNvPr id="17" name="Rounded Rectangle 16"/>
          <p:cNvSpPr/>
          <p:nvPr/>
        </p:nvSpPr>
        <p:spPr>
          <a:xfrm>
            <a:off x="6263640" y="5449824"/>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e.g.  Frankfurt ➔ Munich demand: Northern nodes pruned from LLM prompt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2784" y="1143000"/>
            <a:ext cx="7781544"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097280"/>
            <a:ext cx="5212080" cy="6858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969264" y="3401568"/>
            <a:ext cx="5824728" cy="1132027"/>
          </a:xfrm>
          <a:prstGeom prst="rect">
            <a:avLst/>
          </a:prstGeom>
          <a:noFill/>
        </p:spPr>
        <p:txBody>
          <a:bodyPr wrap="square">
            <a:spAutoFit/>
          </a:bodyPr>
          <a:lstStyle/>
          <a:p>
            <a:pPr>
              <a:defRPr sz="1400">
                <a:solidFill>
                  <a:srgbClr val="222222"/>
                </a:solidFill>
              </a:defRPr>
            </a:pPr>
            <a:r>
              <a:rPr sz="1400" b="0">
                <a:solidFill>
                  <a:srgbClr val="222222"/>
                </a:solidFill>
                <a:latin typeface="Arial"/>
              </a:rPr>
              <a:t>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400">
                <a:solidFill>
                  <a:srgbClr val="222222"/>
                </a:solidFill>
                <a:latin typeface="Arial"/>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862572" y="3475634"/>
            <a:ext cx="3883456" cy="737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Titillium Web SemiBold"/>
              </a:defRPr>
            </a:pPr>
            <a:r>
              <a:t>Fail-Fast HITL Clarification Loop</a:t>
            </a:r>
          </a:p>
        </p:txBody>
      </p:sp>
      <p:sp>
        <p:nvSpPr>
          <p:cNvPr id="11" name="Rounded Rectangle 10"/>
          <p:cNvSpPr/>
          <p:nvPr/>
        </p:nvSpPr>
        <p:spPr>
          <a:xfrm>
            <a:off x="6862572" y="4405579"/>
            <a:ext cx="3883456" cy="7379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A7F37"/>
                </a:solidFill>
                <a:latin typeface="Titillium Web SemiBold"/>
              </a:defRPr>
            </a:pPr>
            <a:r>
              <a:t>Fail-Fast Guarantee: Zero computational waste on physics simulation when intent is ambiguous</a:t>
            </a:r>
          </a:p>
        </p:txBody>
      </p:sp>
      <p:sp>
        <p:nvSpPr>
          <p:cNvPr id="12" name="Rounded Rectangle 11"/>
          <p:cNvSpPr/>
          <p:nvPr/>
        </p:nvSpPr>
        <p:spPr>
          <a:xfrm>
            <a:off x="1333195" y="2325319"/>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Structural</a:t>
            </a:r>
          </a:p>
          <a:p>
            <a:pPr algn="ctr">
              <a:defRPr sz="1100">
                <a:solidFill>
                  <a:srgbClr val="222222"/>
                </a:solidFill>
              </a:defRPr>
            </a:pPr>
            <a:r>
              <a:rPr sz="1100" b="0">
                <a:solidFill>
                  <a:srgbClr val="222222"/>
                </a:solidFill>
                <a:latin typeface="Arial"/>
              </a:rPr>
              <a:t>CFG regex AST checks (</a:t>
            </a:r>
            <a14:m xmlns:a14="http://schemas.microsoft.com/office/drawing/2010/main" xmlns:m="http://schemas.openxmlformats.org/officeDocument/2006/math">
              <m:oMath>
                <m:sSub>
                  <m:e>
                    <m:r>
                      <m:t>v</m:t>
                    </m:r>
                  </m:e>
                  <m:sub>
                    <m:r>
                      <m:t>struct</m:t>
                    </m:r>
                  </m:sub>
                </m:sSub>
                <m:r>
                  <m:t> ∈ {0, 1}</m:t>
                </m:r>
              </m:oMath>
            </a14:m>
            <a:r>
              <a:rPr sz="1100" b="0">
                <a:solidFill>
                  <a:srgbClr val="222222"/>
                </a:solidFill>
                <a:latin typeface="Arial"/>
              </a:rPr>
              <a:t>)</a:t>
            </a:r>
          </a:p>
        </p:txBody>
      </p:sp>
      <p:sp>
        <p:nvSpPr>
          <p:cNvPr id="13" name="Rounded Rectangle 12"/>
          <p:cNvSpPr/>
          <p:nvPr/>
        </p:nvSpPr>
        <p:spPr>
          <a:xfrm>
            <a:off x="3696004" y="2354580"/>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Semantic</a:t>
            </a:r>
          </a:p>
          <a:p>
            <a:pPr algn="ctr">
              <a:defRPr sz="1100" b="1">
                <a:solidFill>
                  <a:srgbClr val="222222"/>
                </a:solidFill>
                <a:latin typeface="Titillium Web SemiBold"/>
              </a:defRPr>
            </a:pPr>
            <a:r>
              <a:t>Reverse Prompting reconstructs the intent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371600"/>
          </a:xfrm>
          <a:prstGeom prst="rect">
            <a:avLst/>
          </a:prstGeom>
          <a:noFill/>
        </p:spPr>
        <p:txBody>
          <a:bodyPr wrap="square">
            <a:spAutoFit/>
          </a:bodyPr>
          <a:lstStyle/>
          <a:p>
            <a:pPr>
              <a:defRPr sz="1600" b="1">
                <a:solidFill>
                  <a:srgbClr val="0F2C53"/>
                </a:solidFill>
                <a:latin typeface="Titillium Web SemiBold"/>
              </a:defRPr>
            </a:pPr>
            <a:r>
              <a:t>Piecewise Decision Formulation:</a:t>
            </a:r>
          </a:p>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336645"/>
            <a:ext cx="3444240" cy="778154"/>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&gt; </m:t>
                  </m:r>
                  <m:sSub>
                    <m:e>
                      <m:r>
                        <m:t>τ</m:t>
                      </m:r>
                    </m:e>
                    <m:sub>
                      <m:r>
                        <m:t>sem</m:t>
                      </m:r>
                    </m:sub>
                  </m:sSub>
                </m:oMath>
              </m:oMathPara>
            </a14:m>
          </a:p>
        </p:txBody>
      </p:sp>
      <p:sp>
        <p:nvSpPr>
          <p:cNvPr id="11" name="TextBox 10"/>
          <p:cNvSpPr txBox="1"/>
          <p:nvPr/>
        </p:nvSpPr>
        <p:spPr>
          <a:xfrm>
            <a:off x="83850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Semantic uncertainty exceeds threshold</a:t>
            </a:r>
          </a:p>
          <a:p>
            <a:pPr>
              <a:spcBef>
                <a:spcPts val="0"/>
              </a:spcBef>
              <a:spcAft>
                <a:spcPts val="300"/>
              </a:spcAft>
              <a:defRPr sz="1100">
                <a:solidFill>
                  <a:srgbClr val="222222"/>
                </a:solidFill>
              </a:defRPr>
            </a:pPr>
            <a:r>
              <a:rPr sz="1100" b="0">
                <a:solidFill>
                  <a:srgbClr val="222222"/>
                </a:solidFill>
                <a:latin typeface="Arial"/>
              </a:rPr>
              <a:t>•  Action: Pause pipeline via interrupt()</a:t>
            </a:r>
          </a:p>
          <a:p>
            <a:pPr>
              <a:spcBef>
                <a:spcPts val="0"/>
              </a:spcBef>
              <a:spcAft>
                <a:spcPts val="300"/>
              </a:spcAft>
              <a:defRPr sz="1100">
                <a:solidFill>
                  <a:srgbClr val="222222"/>
                </a:solidFill>
              </a:defRPr>
            </a:pPr>
            <a:r>
              <a:rPr sz="1100" b="0">
                <a:solidFill>
                  <a:srgbClr val="222222"/>
                </a:solidFill>
                <a:latin typeface="Arial"/>
              </a:rPr>
              <a:t>•  Prompts operator to provide missing data</a:t>
            </a:r>
          </a:p>
          <a:p>
            <a:pPr>
              <a:spcBef>
                <a:spcPts val="0"/>
              </a:spcBef>
              <a:spcAft>
                <a:spcPts val="3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336645"/>
            <a:ext cx="3444240" cy="778154"/>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0</m:t>
                  </m:r>
                </m:oMath>
              </m:oMathPara>
            </a14:m>
          </a:p>
        </p:txBody>
      </p:sp>
      <p:sp>
        <p:nvSpPr>
          <p:cNvPr id="14" name="TextBox 13"/>
          <p:cNvSpPr txBox="1"/>
          <p:nvPr/>
        </p:nvSpPr>
        <p:spPr>
          <a:xfrm>
            <a:off x="451134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Valid semantics, but physics infeasible</a:t>
            </a:r>
          </a:p>
          <a:p>
            <a:pPr>
              <a:spcBef>
                <a:spcPts val="0"/>
              </a:spcBef>
              <a:spcAft>
                <a:spcPts val="300"/>
              </a:spcAft>
              <a:defRPr sz="1100">
                <a:solidFill>
                  <a:srgbClr val="222222"/>
                </a:solidFill>
              </a:defRPr>
            </a:pPr>
            <a:r>
              <a:rPr sz="1100" b="0">
                <a:solidFill>
                  <a:srgbClr val="222222"/>
                </a:solidFill>
                <a:latin typeface="Arial"/>
              </a:rPr>
              <a:t>•  Action: Physics failed; notifies operator</a:t>
            </a:r>
          </a:p>
          <a:p>
            <a:pPr>
              <a:spcBef>
                <a:spcPts val="0"/>
              </a:spcBef>
              <a:spcAft>
                <a:spcPts val="3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3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336645"/>
            <a:ext cx="3444240" cy="778154"/>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1</m:t>
                  </m:r>
                </m:oMath>
              </m:oMathPara>
            </a14:m>
          </a:p>
        </p:txBody>
      </p:sp>
      <p:sp>
        <p:nvSpPr>
          <p:cNvPr id="17" name="TextBox 16"/>
          <p:cNvSpPr txBox="1"/>
          <p:nvPr/>
        </p:nvSpPr>
        <p:spPr>
          <a:xfrm>
            <a:off x="8184184" y="4302252"/>
            <a:ext cx="3169920" cy="923544"/>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300"/>
              </a:spcAft>
              <a:defRPr sz="1100">
                <a:solidFill>
                  <a:srgbClr val="222222"/>
                </a:solidFill>
              </a:defRPr>
            </a:pPr>
            <a:r>
              <a:rPr sz="1100" b="0">
                <a:solidFill>
                  <a:srgbClr val="222222"/>
                </a:solidFill>
                <a:latin typeface="Arial"/>
              </a:rPr>
              <a:t>•  Action: Autonomous zero-touch provisioning</a:t>
            </a:r>
          </a:p>
          <a:p>
            <a:pPr>
              <a:spcBef>
                <a:spcPts val="0"/>
              </a:spcBef>
              <a:spcAft>
                <a:spcPts val="300"/>
              </a:spcAft>
              <a:defRPr sz="1100">
                <a:solidFill>
                  <a:srgbClr val="222222"/>
                </a:solidFill>
              </a:defRPr>
            </a:pPr>
            <a:r>
              <a:rPr sz="1100" b="0">
                <a:solidFill>
                  <a:srgbClr val="222222"/>
                </a:solidFill>
                <a:latin typeface="Arial"/>
              </a:rPr>
              <a:t>•  Generates auditable planning report</a:t>
            </a:r>
          </a:p>
          <a:p>
            <a:pPr>
              <a:spcBef>
                <a:spcPts val="0"/>
              </a:spcBef>
              <a:spcAft>
                <a:spcPts val="3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8599017"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43000"/>
            <a:ext cx="5120640" cy="64008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17-Node German Core Network Benchmark</a:t>
            </a:r>
          </a:p>
        </p:txBody>
      </p:sp>
      <p:sp>
        <p:nvSpPr>
          <p:cNvPr id="9" name="TextBox 8"/>
          <p:cNvSpPr txBox="1"/>
          <p:nvPr/>
        </p:nvSpPr>
        <p:spPr>
          <a:xfrm>
            <a:off x="1051560" y="2617927"/>
            <a:ext cx="5044744" cy="1769364"/>
          </a:xfrm>
          <a:prstGeom prst="rect">
            <a:avLst/>
          </a:prstGeom>
          <a:noFill/>
        </p:spPr>
        <p:txBody>
          <a:bodyPr wrap="square">
            <a:spAutoFit/>
          </a:bodyPr>
          <a:lstStyle/>
          <a:p>
            <a:pPr>
              <a:spcBef>
                <a:spcPts val="0"/>
              </a:spcBef>
              <a:spcAft>
                <a:spcPts val="300"/>
              </a:spcAft>
              <a:defRPr sz="1200">
                <a:solidFill>
                  <a:srgbClr val="222222"/>
                </a:solidFill>
              </a:defRPr>
            </a:pPr>
            <a:r>
              <a:rPr sz="1200" b="0">
                <a:solidFill>
                  <a:srgbClr val="222222"/>
                </a:solidFill>
                <a:latin typeface="Arial"/>
              </a:rPr>
              <a:t>•  Realistic telecom topology: </a:t>
            </a:r>
            <a14:m xmlns:a14="http://schemas.microsoft.com/office/drawing/2010/main" xmlns:m="http://schemas.openxmlformats.org/officeDocument/2006/math">
              <m:oMath>
                <m:r>
                  <m:t>|V| = 17, |E| = 26</m:t>
                </m:r>
              </m:oMath>
            </a14:m>
            <a:r>
              <a:rPr sz="1200" b="0">
                <a:solidFill>
                  <a:srgbClr val="222222"/>
                </a:solidFill>
                <a:latin typeface="Arial"/>
              </a:rPr>
              <a:t> bidirectional fiber links</a:t>
            </a:r>
          </a:p>
          <a:p>
            <a:pPr>
              <a:spcBef>
                <a:spcPts val="0"/>
              </a:spcBef>
              <a:spcAft>
                <a:spcPts val="300"/>
              </a:spcAft>
              <a:defRPr sz="1200">
                <a:solidFill>
                  <a:srgbClr val="222222"/>
                </a:solidFill>
              </a:defRPr>
            </a:pPr>
            <a:r>
              <a:rPr sz="12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300"/>
              </a:spcAft>
              <a:defRPr sz="1200">
                <a:solidFill>
                  <a:srgbClr val="222222"/>
                </a:solidFill>
              </a:defRPr>
            </a:pPr>
            <a:r>
              <a:rPr sz="1200" b="0">
                <a:solidFill>
                  <a:srgbClr val="222222"/>
                </a:solidFill>
                <a:latin typeface="Arial"/>
              </a:rPr>
              <a:t>•  Dispersion parameter </a:t>
            </a:r>
            <a14:m xmlns:a14="http://schemas.microsoft.com/office/drawing/2010/main" xmlns:m="http://schemas.openxmlformats.org/officeDocument/2006/math">
              <m:oMath>
                <m:r>
                  <m:t>D = 16.7 ps/(nm·km)</m:t>
                </m:r>
              </m:oMath>
            </a14:m>
            <a:r>
              <a:rPr sz="12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300"/>
              </a:spcAft>
              <a:defRPr sz="1200">
                <a:solidFill>
                  <a:srgbClr val="222222"/>
                </a:solidFill>
              </a:defRPr>
            </a:pPr>
            <a:r>
              <a:rPr sz="12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300"/>
              </a:spcAft>
              <a:defRPr sz="1200">
                <a:solidFill>
                  <a:srgbClr val="222222"/>
                </a:solidFill>
              </a:defRPr>
            </a:pPr>
            <a:r>
              <a:rPr sz="12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300"/>
              </a:spcAft>
              <a:defRPr sz="1200">
                <a:solidFill>
                  <a:srgbClr val="222222"/>
                </a:solidFill>
              </a:defRPr>
            </a:pPr>
            <a:r>
              <a:rPr sz="1200" b="0">
                <a:solidFill>
                  <a:srgbClr val="222222"/>
                </a:solidFill>
                <a:latin typeface="Arial"/>
              </a:rPr>
              <a:t>•  Orchestrator: LangGraph StateGraph with memory persistence</a:t>
            </a:r>
          </a:p>
          <a:p>
            <a:pPr>
              <a:spcBef>
                <a:spcPts val="0"/>
              </a:spcBef>
              <a:spcAft>
                <a:spcPts val="300"/>
              </a:spcAft>
              <a:defRPr sz="1200">
                <a:solidFill>
                  <a:srgbClr val="222222"/>
                </a:solidFill>
              </a:defRPr>
            </a:pPr>
            <a:r>
              <a:rPr sz="1200" b="0">
                <a:solidFill>
                  <a:srgbClr val="222222"/>
                </a:solidFill>
                <a:latin typeface="Arial"/>
              </a:rPr>
              <a:t>•  Telemetry: RESTConf and Mock SDON testbed client adapters</a:t>
            </a:r>
          </a:p>
        </p:txBody>
      </p:sp>
      <p:pic>
        <p:nvPicPr>
          <p:cNvPr id="10" name="Picture 9"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
        <p:nvSpPr>
          <p:cNvPr id="11" name="TextBox 10"/>
          <p:cNvSpPr txBox="1"/>
          <p:nvPr/>
        </p:nvSpPr>
        <p:spPr>
          <a:xfrm>
            <a:off x="6263640" y="5053888"/>
            <a:ext cx="5029200" cy="215798"/>
          </a:xfrm>
          <a:prstGeom prst="rect">
            <a:avLst/>
          </a:prstGeom>
          <a:noFill/>
        </p:spPr>
        <p:txBody>
          <a:bodyPr wrap="none">
            <a:spAutoFit/>
          </a:bodyPr>
          <a:lstStyle/>
          <a:p>
            <a:pPr>
              <a:defRPr sz="900">
                <a:solidFill>
                  <a:srgbClr val="5A6B82"/>
                </a:solidFill>
                <a:latin typeface="Arial"/>
              </a:defRPr>
            </a:pPr>
            <a:r>
              <a:t>From: https://topolib.readthedocs.io/en/latest/topology_repository.html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43000"/>
            <a:ext cx="420624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5A6B82"/>
                </a:solidFill>
                <a:latin typeface="Arial"/>
              </a:defRPr>
            </a:pPr>
            <a:r>
              <a:t>vs.</a:t>
            </a:r>
          </a:p>
        </p:txBody>
      </p:sp>
      <p:sp>
        <p:nvSpPr>
          <p:cNvPr id="8" name="Rounded Rectangle 7"/>
          <p:cNvSpPr/>
          <p:nvPr/>
        </p:nvSpPr>
        <p:spPr>
          <a:xfrm>
            <a:off x="685800" y="1106424"/>
            <a:ext cx="4206240" cy="47548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Architectural Baselines</a:t>
            </a:r>
          </a:p>
        </p:txBody>
      </p:sp>
      <p:sp>
        <p:nvSpPr>
          <p:cNvPr id="9" name="Rounded Rectangle 8"/>
          <p:cNvSpPr/>
          <p:nvPr/>
        </p:nvSpPr>
        <p:spPr>
          <a:xfrm>
            <a:off x="685800" y="3703320"/>
            <a:ext cx="4206240" cy="260604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703320"/>
            <a:ext cx="4206240"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100 Test Demands (4 Risk Classes)</a:t>
            </a:r>
          </a:p>
        </p:txBody>
      </p:sp>
      <p:graphicFrame>
        <p:nvGraphicFramePr>
          <p:cNvPr id="11" name="Table 10"/>
          <p:cNvGraphicFramePr>
            <a:graphicFrameLocks noGrp="1"/>
          </p:cNvGraphicFramePr>
          <p:nvPr/>
        </p:nvGraphicFramePr>
        <p:xfrm>
          <a:off x="894283" y="4142232"/>
          <a:ext cx="3789272" cy="2025395"/>
        </p:xfrm>
        <a:graphic>
          <a:graphicData uri="http://schemas.openxmlformats.org/drawingml/2006/table">
            <a:tbl>
              <a:tblPr firstRow="1" bandRow="1">
                <a:tableStyleId>{5C22544A-7EE6-4342-B048-85BDC9FD1C3A}</a:tableStyleId>
              </a:tblPr>
              <a:tblGrid>
                <a:gridCol w="1249070"/>
                <a:gridCol w="1506931"/>
                <a:gridCol w="1033271"/>
              </a:tblGrid>
              <a:tr h="405079">
                <a:tc>
                  <a:txBody>
                    <a:bodyPr/>
                    <a:lstStyle/>
                    <a:p>
                      <a:pPr algn="ctr"/>
                      <a:r>
                        <a:rPr sz="950" b="1">
                          <a:solidFill>
                            <a:srgbClr val="FFFFFF"/>
                          </a:solidFill>
                          <a:latin typeface="Titillium Web SemiBold"/>
                        </a:rPr>
                        <a:t>Class &amp; Size</a:t>
                      </a:r>
                    </a:p>
                  </a:txBody>
                  <a:tcPr anchor="ctr" marL="45720" marR="45720" marT="18288" marB="18288">
                    <a:solidFill>
                      <a:srgbClr val="0F2C53"/>
                    </a:solidFill>
                  </a:tcPr>
                </a:tc>
                <a:tc>
                  <a:txBody>
                    <a:bodyPr/>
                    <a:lstStyle/>
                    <a:p>
                      <a:pPr algn="ctr"/>
                      <a:r>
                        <a:rPr sz="950" b="1">
                          <a:solidFill>
                            <a:srgbClr val="FFFFFF"/>
                          </a:solidFill>
                          <a:latin typeface="Titillium Web SemiBold"/>
                        </a:rPr>
                        <a:t>Intent Characteristics</a:t>
                      </a:r>
                    </a:p>
                  </a:txBody>
                  <a:tcPr anchor="ctr" marL="45720" marR="45720" marT="18288" marB="18288">
                    <a:solidFill>
                      <a:srgbClr val="0F2C53"/>
                    </a:solidFill>
                  </a:tcPr>
                </a:tc>
                <a:tc>
                  <a:txBody>
                    <a:bodyPr/>
                    <a:lstStyle/>
                    <a:p>
                      <a:pPr algn="ctr"/>
                      <a:r>
                        <a:rPr sz="950" b="1">
                          <a:solidFill>
                            <a:srgbClr val="FFFFFF"/>
                          </a:solidFill>
                          <a:latin typeface="Titillium Web SemiBold"/>
                        </a:rPr>
                        <a:t>RADG Action</a:t>
                      </a:r>
                    </a:p>
                  </a:txBody>
                  <a:tcPr anchor="ctr" marL="45720" marR="45720" marT="18288" marB="18288">
                    <a:solidFill>
                      <a:srgbClr val="0F2C53"/>
                    </a:solidFill>
                  </a:tcPr>
                </a:tc>
              </a:tr>
              <a:tr h="405079">
                <a:tc>
                  <a:txBody>
                    <a:bodyPr/>
                    <a:lstStyle/>
                    <a:p>
                      <a:pPr algn="l"/>
                      <a:r>
                        <a:rPr sz="900" b="1">
                          <a:solidFill>
                            <a:srgbClr val="222222"/>
                          </a:solidFill>
                          <a:latin typeface="Arial"/>
                        </a:rPr>
                        <a:t>Class I: Nominal [25]</a:t>
                      </a:r>
                    </a:p>
                  </a:txBody>
                  <a:tcPr anchor="ctr" marL="45720" marR="45720" marT="18288" marB="18288">
                    <a:solidFill>
                      <a:srgbClr val="FFFFFF"/>
                    </a:solidFill>
                  </a:tcPr>
                </a:tc>
                <a:tc>
                  <a:txBody>
                    <a:bodyPr/>
                    <a:lstStyle/>
                    <a:p>
                      <a:pPr algn="l"/>
                      <a:r>
                        <a:rPr sz="880">
                          <a:solidFill>
                            <a:srgbClr val="222222"/>
                          </a:solidFill>
                          <a:latin typeface="Arial"/>
                        </a:rPr>
                        <a:t>Feasible path, unambiguous</a:t>
                      </a:r>
                    </a:p>
                  </a:txBody>
                  <a:tcPr anchor="ctr" marL="45720" marR="45720" marT="18288" marB="18288">
                    <a:solidFill>
                      <a:srgbClr val="FFFFFF"/>
                    </a:solidFill>
                  </a:tcPr>
                </a:tc>
                <a:tc>
                  <a:txBody>
                    <a:bodyPr/>
                    <a:lstStyle/>
                    <a:p>
                      <a:pPr algn="ctr"/>
                      <a:r>
                        <a:rPr sz="900" b="1">
                          <a:solidFill>
                            <a:srgbClr val="1A7F37"/>
                          </a:solidFill>
                          <a:latin typeface="Arial"/>
                        </a:rPr>
                        <a:t>Auto-Approve</a:t>
                      </a:r>
                    </a:p>
                  </a:txBody>
                  <a:tcPr anchor="ctr" marL="45720" marR="45720" marT="18288" marB="18288">
                    <a:solidFill>
                      <a:srgbClr val="FFFFFF"/>
                    </a:solidFill>
                  </a:tcPr>
                </a:tc>
              </a:tr>
              <a:tr h="405079">
                <a:tc>
                  <a:txBody>
                    <a:bodyPr/>
                    <a:lstStyle/>
                    <a:p>
                      <a:pPr algn="l"/>
                      <a:r>
                        <a:rPr sz="900" b="1">
                          <a:solidFill>
                            <a:srgbClr val="222222"/>
                          </a:solidFill>
                          <a:latin typeface="Arial"/>
                        </a:rPr>
                        <a:t>Class II: Ambiguous [25]</a:t>
                      </a:r>
                    </a:p>
                  </a:txBody>
                  <a:tcPr anchor="ctr" marL="45720" marR="45720" marT="18288" marB="18288">
                    <a:solidFill>
                      <a:srgbClr val="F4F6F9"/>
                    </a:solidFill>
                  </a:tcPr>
                </a:tc>
                <a:tc>
                  <a:txBody>
                    <a:bodyPr/>
                    <a:lstStyle/>
                    <a:p>
                      <a:pPr algn="l"/>
                      <a:r>
                        <a:rPr sz="880">
                          <a:solidFill>
                            <a:srgbClr val="222222"/>
                          </a:solidFill>
                          <a:latin typeface="Arial"/>
                        </a:rPr>
                        <a:t>Under-specified (U_sem &gt; τ)</a:t>
                      </a:r>
                    </a:p>
                  </a:txBody>
                  <a:tcPr anchor="ctr" marL="45720" marR="45720" marT="18288" marB="18288">
                    <a:solidFill>
                      <a:srgbClr val="F4F6F9"/>
                    </a:solidFill>
                  </a:tcPr>
                </a:tc>
                <a:tc>
                  <a:txBody>
                    <a:bodyPr/>
                    <a:lstStyle/>
                    <a:p>
                      <a:pPr algn="ctr"/>
                      <a:r>
                        <a:rPr sz="900" b="1">
                          <a:solidFill>
                            <a:srgbClr val="B07D00"/>
                          </a:solidFill>
                          <a:latin typeface="Arial"/>
                        </a:rPr>
                        <a:t>Clarify Intent</a:t>
                      </a:r>
                    </a:p>
                  </a:txBody>
                  <a:tcPr anchor="ctr" marL="45720" marR="45720" marT="18288" marB="18288">
                    <a:solidFill>
                      <a:srgbClr val="F4F6F9"/>
                    </a:solidFill>
                  </a:tcPr>
                </a:tc>
              </a:tr>
              <a:tr h="405079">
                <a:tc>
                  <a:txBody>
                    <a:bodyPr/>
                    <a:lstStyle/>
                    <a:p>
                      <a:pPr algn="l"/>
                      <a:r>
                        <a:rPr sz="900" b="1">
                          <a:solidFill>
                            <a:srgbClr val="222222"/>
                          </a:solidFill>
                          <a:latin typeface="Arial"/>
                        </a:rPr>
                        <a:t>Class III: Infeasible [25]</a:t>
                      </a:r>
                    </a:p>
                  </a:txBody>
                  <a:tcPr anchor="ctr" marL="45720" marR="45720" marT="18288" marB="18288">
                    <a:solidFill>
                      <a:srgbClr val="FFFFFF"/>
                    </a:solidFill>
                  </a:tcPr>
                </a:tc>
                <a:tc>
                  <a:txBody>
                    <a:bodyPr/>
                    <a:lstStyle/>
                    <a:p>
                      <a:pPr algn="l"/>
                      <a:r>
                        <a:rPr sz="880">
                          <a:solidFill>
                            <a:srgbClr val="222222"/>
                          </a:solidFill>
                          <a:latin typeface="Arial"/>
                        </a:rPr>
                        <a:t>Violates GSNR threshold</a:t>
                      </a:r>
                    </a:p>
                  </a:txBody>
                  <a:tcPr anchor="ctr" marL="45720" marR="45720" marT="18288" marB="18288">
                    <a:solidFill>
                      <a:srgbClr val="FFFFFF"/>
                    </a:solidFill>
                  </a:tcPr>
                </a:tc>
                <a:tc>
                  <a:txBody>
                    <a:bodyPr/>
                    <a:lstStyle/>
                    <a:p>
                      <a:pPr algn="ctr"/>
                      <a:r>
                        <a:rPr sz="900" b="1">
                          <a:solidFill>
                            <a:srgbClr val="85200C"/>
                          </a:solidFill>
                          <a:latin typeface="Arial"/>
                        </a:rPr>
                        <a:t>Suggest Replan</a:t>
                      </a:r>
                    </a:p>
                  </a:txBody>
                  <a:tcPr anchor="ctr" marL="45720" marR="45720" marT="18288" marB="18288">
                    <a:solidFill>
                      <a:srgbClr val="FFFFFF"/>
                    </a:solidFill>
                  </a:tcPr>
                </a:tc>
              </a:tr>
              <a:tr h="405079">
                <a:tc>
                  <a:txBody>
                    <a:bodyPr/>
                    <a:lstStyle/>
                    <a:p>
                      <a:pPr algn="l"/>
                      <a:r>
                        <a:rPr sz="900" b="1">
                          <a:solidFill>
                            <a:srgbClr val="222222"/>
                          </a:solidFill>
                          <a:latin typeface="Arial"/>
                        </a:rPr>
                        <a:t>Class IV: Adversarial [25]</a:t>
                      </a:r>
                    </a:p>
                  </a:txBody>
                  <a:tcPr anchor="ctr" marL="45720" marR="45720" marT="18288" marB="18288">
                    <a:solidFill>
                      <a:srgbClr val="F4F6F9"/>
                    </a:solidFill>
                  </a:tcPr>
                </a:tc>
                <a:tc>
                  <a:txBody>
                    <a:bodyPr/>
                    <a:lstStyle/>
                    <a:p>
                      <a:pPr algn="l"/>
                      <a:r>
                        <a:rPr sz="880">
                          <a:solidFill>
                            <a:srgbClr val="222222"/>
                          </a:solidFill>
                          <a:latin typeface="Arial"/>
                        </a:rPr>
                        <a:t>Hallucinated nodes (v_struct=0)</a:t>
                      </a:r>
                    </a:p>
                  </a:txBody>
                  <a:tcPr anchor="ctr" marL="45720" marR="45720" marT="18288" marB="18288">
                    <a:solidFill>
                      <a:srgbClr val="F4F6F9"/>
                    </a:solidFill>
                  </a:tcPr>
                </a:tc>
                <a:tc>
                  <a:txBody>
                    <a:bodyPr/>
                    <a:lstStyle/>
                    <a:p>
                      <a:pPr algn="ctr"/>
                      <a:r>
                        <a:rPr sz="900" b="1">
                          <a:solidFill>
                            <a:srgbClr val="85200C"/>
                          </a:solidFill>
                          <a:latin typeface="Arial"/>
                        </a:rPr>
                        <a:t>Reject Intent</a:t>
                      </a:r>
                    </a:p>
                  </a:txBody>
                  <a:tcPr anchor="ctr" marL="45720" marR="45720" marT="18288" marB="18288">
                    <a:solidFill>
                      <a:srgbClr val="F4F6F9"/>
                    </a:solidFill>
                  </a:tcPr>
                </a:tc>
              </a:tr>
            </a:tbl>
          </a:graphicData>
        </a:graphic>
      </p:graphicFrame>
      <p:sp>
        <p:nvSpPr>
          <p:cNvPr id="12" name="Rounded Rectangle 11"/>
          <p:cNvSpPr/>
          <p:nvPr/>
        </p:nvSpPr>
        <p:spPr>
          <a:xfrm>
            <a:off x="5257800" y="1709928"/>
            <a:ext cx="6080760" cy="1051560"/>
          </a:xfrm>
          <a:prstGeom prst="roundRect">
            <a:avLst/>
          </a:prstGeom>
          <a:solidFill>
            <a:srgbClr val="FFFFFF"/>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67528" y="1746504"/>
            <a:ext cx="5861304" cy="978408"/>
          </a:xfrm>
          <a:prstGeom prst="rect">
            <a:avLst/>
          </a:prstGeom>
          <a:noFill/>
        </p:spPr>
        <p:txBody>
          <a:bodyPr wrap="square" tIns="18288" lIns="18288">
            <a:spAutoFit/>
          </a:bodyPr>
          <a:lstStyle/>
          <a:p>
            <a:pPr>
              <a:defRPr sz="1100" b="1">
                <a:solidFill>
                  <a:srgbClr val="B07D00"/>
                </a:solidFill>
                <a:latin typeface="Titillium Web SemiBold"/>
              </a:defRPr>
            </a:pPr>
            <a:r>
              <a:t>1. Semantic Translation Accuracy (Neural Domain)</a:t>
            </a:r>
          </a:p>
          <a:p>
            <a:pPr>
              <a:spcBef>
                <a:spcPts val="100"/>
              </a:spcBef>
              <a:defRPr sz="919">
                <a:solidFill>
                  <a:srgbClr val="222222"/>
                </a:solidFill>
              </a:defRPr>
            </a:pPr>
            <a:r>
              <a:rPr sz="919" b="0">
                <a:solidFill>
                  <a:srgbClr val="222222"/>
                </a:solidFill>
                <a:latin typeface="Arial"/>
              </a:rPr>
              <a:t>•  Test Focus: Validates NL ➔ PDDL translation without constraint loss or hallucinations</a:t>
            </a:r>
          </a:p>
          <a:p>
            <a:pPr>
              <a:spcBef>
                <a:spcPts val="100"/>
              </a:spcBef>
              <a:defRPr sz="919">
                <a:solidFill>
                  <a:srgbClr val="222222"/>
                </a:solidFill>
              </a:defRPr>
            </a:pPr>
            <a:r>
              <a:rPr sz="919" b="0">
                <a:solidFill>
                  <a:srgbClr val="222222"/>
                </a:solidFill>
                <a:latin typeface="Arial"/>
              </a:rPr>
              <a:t>•  Key Metrics: Constraint Retention Rate (CRR = 100%) • CFG AST Pass Rate (</a:t>
            </a:r>
            <a14:m xmlns:a14="http://schemas.microsoft.com/office/drawing/2010/main" xmlns:m="http://schemas.openxmlformats.org/officeDocument/2006/math">
              <m:oMath>
                <m:sSub>
                  <m:e>
                    <m:r>
                      <m:t>v</m:t>
                    </m:r>
                  </m:e>
                  <m:sub>
                    <m:r>
                      <m:t>struct</m:t>
                    </m:r>
                  </m:sub>
                </m:sSub>
                <m:r>
                  <m:t> = 1</m:t>
                </m:r>
              </m:oMath>
            </a14:m>
            <a:r>
              <a:rPr sz="919" b="0">
                <a:solidFill>
                  <a:srgbClr val="222222"/>
                </a:solidFill>
                <a:latin typeface="Arial"/>
              </a:rPr>
              <a:t>)</a:t>
            </a:r>
          </a:p>
        </p:txBody>
      </p:sp>
      <p:sp>
        <p:nvSpPr>
          <p:cNvPr id="14" name="Rounded Rectangle 13"/>
          <p:cNvSpPr/>
          <p:nvPr/>
        </p:nvSpPr>
        <p:spPr>
          <a:xfrm>
            <a:off x="5257800" y="2852928"/>
            <a:ext cx="6080760" cy="1051560"/>
          </a:xfrm>
          <a:prstGeom prst="roundRect">
            <a:avLst/>
          </a:prstGeom>
          <a:solidFill>
            <a:srgbClr val="FFFFFF"/>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67528" y="2889504"/>
            <a:ext cx="5861304" cy="978408"/>
          </a:xfrm>
          <a:prstGeom prst="rect">
            <a:avLst/>
          </a:prstGeom>
          <a:noFill/>
        </p:spPr>
        <p:txBody>
          <a:bodyPr wrap="square" tIns="18288" lIns="18288">
            <a:spAutoFit/>
          </a:bodyPr>
          <a:lstStyle/>
          <a:p>
            <a:pPr>
              <a:defRPr sz="1100" b="1">
                <a:solidFill>
                  <a:srgbClr val="1A7F37"/>
                </a:solidFill>
                <a:latin typeface="Titillium Web SemiBold"/>
              </a:defRPr>
            </a:pPr>
            <a:r>
              <a:t>2. Physical Feasibility (Optical Layer Integrity)</a:t>
            </a:r>
          </a:p>
          <a:p>
            <a:pPr>
              <a:spcBef>
                <a:spcPts val="100"/>
              </a:spcBef>
              <a:defRPr sz="919">
                <a:solidFill>
                  <a:srgbClr val="222222"/>
                </a:solidFill>
              </a:defRPr>
            </a:pPr>
            <a:r>
              <a:rPr sz="919" b="0">
                <a:solidFill>
                  <a:srgbClr val="222222"/>
                </a:solidFill>
                <a:latin typeface="Arial"/>
              </a:rPr>
              <a:t>•  Test Focus: Validates optical reach and non-linear impairments before controller push</a:t>
            </a:r>
          </a:p>
          <a:p>
            <a:pPr>
              <a:spcBef>
                <a:spcPts val="100"/>
              </a:spcBef>
              <a:defRPr sz="919">
                <a:solidFill>
                  <a:srgbClr val="222222"/>
                </a:solidFill>
              </a:defRPr>
            </a:pPr>
            <a:r>
              <a:rPr sz="919" b="0">
                <a:solidFill>
                  <a:srgbClr val="222222"/>
                </a:solidFill>
                <a:latin typeface="Arial"/>
              </a:rPr>
              <a:t>•  Key Metrics: Unsafe Approval Rate (UAR = 0% hard invariant) • QoT Feasibility (100%)</a:t>
            </a:r>
          </a:p>
        </p:txBody>
      </p:sp>
      <p:sp>
        <p:nvSpPr>
          <p:cNvPr id="16" name="Rounded Rectangle 15"/>
          <p:cNvSpPr/>
          <p:nvPr/>
        </p:nvSpPr>
        <p:spPr>
          <a:xfrm>
            <a:off x="5257800" y="3995928"/>
            <a:ext cx="6080760" cy="1051560"/>
          </a:xfrm>
          <a:prstGeom prst="roundRect">
            <a:avLst/>
          </a:prstGeom>
          <a:solidFill>
            <a:srgbClr val="FFFFFF"/>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7528" y="4032504"/>
            <a:ext cx="5861304" cy="978408"/>
          </a:xfrm>
          <a:prstGeom prst="rect">
            <a:avLst/>
          </a:prstGeom>
          <a:noFill/>
        </p:spPr>
        <p:txBody>
          <a:bodyPr wrap="square" tIns="18288" lIns="18288">
            <a:spAutoFit/>
          </a:bodyPr>
          <a:lstStyle/>
          <a:p>
            <a:pPr>
              <a:defRPr sz="1100" b="1">
                <a:solidFill>
                  <a:srgbClr val="0F2C53"/>
                </a:solidFill>
                <a:latin typeface="Titillium Web SemiBold"/>
              </a:defRPr>
            </a:pPr>
            <a:r>
              <a:t>3. Orchestration &amp; Resource Efficiency (System Limits)</a:t>
            </a:r>
          </a:p>
          <a:p>
            <a:pPr>
              <a:spcBef>
                <a:spcPts val="100"/>
              </a:spcBef>
              <a:defRPr sz="919">
                <a:solidFill>
                  <a:srgbClr val="222222"/>
                </a:solidFill>
              </a:defRPr>
            </a:pPr>
            <a:r>
              <a:rPr sz="919" b="0">
                <a:solidFill>
                  <a:srgbClr val="222222"/>
                </a:solidFill>
                <a:latin typeface="Arial"/>
              </a:rPr>
              <a:t>•  Test Focus: Quantifies prompt token savings from GraphRAG and operator fatigue reduction</a:t>
            </a:r>
          </a:p>
          <a:p>
            <a:pPr>
              <a:spcBef>
                <a:spcPts val="100"/>
              </a:spcBef>
              <a:defRPr sz="919">
                <a:solidFill>
                  <a:srgbClr val="222222"/>
                </a:solidFill>
              </a:defRPr>
            </a:pPr>
            <a:r>
              <a:rPr sz="919" b="0">
                <a:solidFill>
                  <a:srgbClr val="222222"/>
                </a:solidFill>
                <a:latin typeface="Arial"/>
              </a:rPr>
              <a:t>•  Key Metrics: &gt; 75% Token Reduction (</a:t>
            </a:r>
            <a14:m xmlns:a14="http://schemas.microsoft.com/office/drawing/2010/main" xmlns:m="http://schemas.openxmlformats.org/officeDocument/2006/math">
              <m:oMath>
                <m:sSub>
                  <m:e>
                    <m:r>
                      <m:t>G</m:t>
                    </m:r>
                  </m:e>
                  <m:sub>
                    <m:r>
                      <m:t>sub</m:t>
                    </m:r>
                  </m:sub>
                </m:sSub>
                <m:r>
                  <m:t> ⊆ G</m:t>
                </m:r>
              </m:oMath>
            </a14:m>
            <a:r>
              <a:rPr sz="919" b="0">
                <a:solidFill>
                  <a:srgbClr val="222222"/>
                </a:solidFill>
                <a:latin typeface="Arial"/>
              </a:rPr>
              <a:t>) • &gt; 70% HITL Cut • Sub-second compute</a:t>
            </a:r>
          </a:p>
        </p:txBody>
      </p:sp>
      <p:sp>
        <p:nvSpPr>
          <p:cNvPr id="18" name="Rounded Rectangle 17"/>
          <p:cNvSpPr/>
          <p:nvPr/>
        </p:nvSpPr>
        <p:spPr>
          <a:xfrm>
            <a:off x="5257800" y="5138928"/>
            <a:ext cx="6080760" cy="1051560"/>
          </a:xfrm>
          <a:prstGeom prst="roundRect">
            <a:avLst/>
          </a:prstGeom>
          <a:solidFill>
            <a:srgbClr val="FFFFFF"/>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7528" y="5175504"/>
            <a:ext cx="5861304" cy="978408"/>
          </a:xfrm>
          <a:prstGeom prst="rect">
            <a:avLst/>
          </a:prstGeom>
          <a:noFill/>
        </p:spPr>
        <p:txBody>
          <a:bodyPr wrap="square" tIns="18288" lIns="18288">
            <a:spAutoFit/>
          </a:bodyPr>
          <a:lstStyle/>
          <a:p>
            <a:pPr>
              <a:defRPr sz="1100" b="1">
                <a:solidFill>
                  <a:srgbClr val="85200C"/>
                </a:solidFill>
                <a:latin typeface="Titillium Web SemiBold"/>
              </a:defRPr>
            </a:pPr>
            <a:r>
              <a:t>4. RADG Decision Robustness (Gate Reliability)</a:t>
            </a:r>
          </a:p>
          <a:p>
            <a:pPr>
              <a:spcBef>
                <a:spcPts val="100"/>
              </a:spcBef>
              <a:defRPr sz="919">
                <a:solidFill>
                  <a:srgbClr val="222222"/>
                </a:solidFill>
              </a:defRPr>
            </a:pPr>
            <a:r>
              <a:rPr sz="919" b="0">
                <a:solidFill>
                  <a:srgbClr val="222222"/>
                </a:solidFill>
                <a:latin typeface="Arial"/>
              </a:rPr>
              <a:t>•  Test Focus: Stress-tests piecewise decision logic (</a:t>
            </a:r>
            <a14:m xmlns:a14="http://schemas.microsoft.com/office/drawing/2010/main" xmlns:m="http://schemas.openxmlformats.org/officeDocument/2006/math">
              <m:oMath>
                <m:sSub>
                  <m:e>
                    <m:r>
                      <m:t>U</m:t>
                    </m:r>
                  </m:e>
                  <m:sub>
                    <m:r>
                      <m:t>sem</m:t>
                    </m:r>
                  </m:sub>
                </m:sSub>
              </m:oMath>
            </a14:m>
            <a:r>
              <a:rPr sz="919" b="0">
                <a:solidFill>
                  <a:srgbClr val="222222"/>
                </a:solidFill>
                <a:latin typeface="Arial"/>
              </a:rPr>
              <a:t>, </a:t>
            </a:r>
            <a14:m xmlns:a14="http://schemas.microsoft.com/office/drawing/2010/main" xmlns:m="http://schemas.openxmlformats.org/officeDocument/2006/math">
              <m:oMath>
                <m:sSub>
                  <m:e>
                    <m:r>
                      <m:t>QoT</m:t>
                    </m:r>
                  </m:e>
                  <m:sub>
                    <m:r>
                      <m:t>valid</m:t>
                    </m:r>
                  </m:sub>
                </m:sSub>
              </m:oMath>
            </a14:m>
            <a:r>
              <a:rPr sz="919" b="0">
                <a:solidFill>
                  <a:srgbClr val="222222"/>
                </a:solidFill>
                <a:latin typeface="Arial"/>
              </a:rPr>
              <a:t>) across boundary conditions</a:t>
            </a:r>
          </a:p>
          <a:p>
            <a:pPr>
              <a:spcBef>
                <a:spcPts val="100"/>
              </a:spcBef>
              <a:defRPr sz="919">
                <a:solidFill>
                  <a:srgbClr val="222222"/>
                </a:solidFill>
              </a:defRPr>
            </a:pPr>
            <a:r>
              <a:rPr sz="919" b="0">
                <a:solidFill>
                  <a:srgbClr val="222222"/>
                </a:solidFill>
                <a:latin typeface="Arial"/>
              </a:rPr>
              <a:t>•  Key Metrics: Gate Decision Accuracy (&gt; 98%) • Zero False Positives (FPR = 0%)</a:t>
            </a:r>
          </a:p>
        </p:txBody>
      </p:sp>
      <p:sp>
        <p:nvSpPr>
          <p:cNvPr id="20" name="Rounded Rectangle 19"/>
          <p:cNvSpPr/>
          <p:nvPr/>
        </p:nvSpPr>
        <p:spPr>
          <a:xfrm>
            <a:off x="1005840"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A</a:t>
            </a:r>
          </a:p>
          <a:p>
            <a:pPr algn="ctr"/>
            <a:r>
              <a:rPr sz="1050">
                <a:solidFill>
                  <a:srgbClr val="222222"/>
                </a:solidFill>
                <a:latin typeface="Arial"/>
              </a:rPr>
              <a:t>LLM-Only</a:t>
            </a:r>
          </a:p>
        </p:txBody>
      </p:sp>
      <p:sp>
        <p:nvSpPr>
          <p:cNvPr id="21" name="Rounded Rectangle 20"/>
          <p:cNvSpPr/>
          <p:nvPr/>
        </p:nvSpPr>
        <p:spPr>
          <a:xfrm>
            <a:off x="3118104"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B</a:t>
            </a:r>
          </a:p>
          <a:p>
            <a:pPr algn="ctr"/>
            <a:r>
              <a:rPr sz="1050">
                <a:solidFill>
                  <a:srgbClr val="222222"/>
                </a:solidFill>
                <a:latin typeface="Arial"/>
              </a:rPr>
              <a:t>Always-HITL</a:t>
            </a:r>
          </a:p>
        </p:txBody>
      </p:sp>
      <p:sp>
        <p:nvSpPr>
          <p:cNvPr id="22" name="Rounded Rectangle 21"/>
          <p:cNvSpPr/>
          <p:nvPr/>
        </p:nvSpPr>
        <p:spPr>
          <a:xfrm>
            <a:off x="828446" y="2674620"/>
            <a:ext cx="3953865" cy="589788"/>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A7F37"/>
                </a:solidFill>
                <a:latin typeface="Titillium Web SemiBold"/>
              </a:rPr>
              <a:t>Proposed Neurosymbolic RADG</a:t>
            </a:r>
          </a:p>
          <a:p>
            <a:pPr algn="ctr"/>
            <a:r>
              <a:rPr sz="1050">
                <a:solidFill>
                  <a:srgbClr val="222222"/>
                </a:solidFill>
                <a:latin typeface="Arial"/>
              </a:rPr>
              <a:t>Decoupled translation + sequential pre-deployment risk gates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