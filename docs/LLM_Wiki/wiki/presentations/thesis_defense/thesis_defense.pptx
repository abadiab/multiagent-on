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"LLM-Assisted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Moving from Imperative SDON to Declarative IBON is essential to eliminate the human configuration bottleneck, but connecting naive LLMs directly to optical control planes introduces catastrophic physical risks.</a:t>
            </a:r>
          </a:p>
          <a:p>
            <a:r>
              <a:t>[Spoken Script]: Optical transport networks form the multi-terabit backbone of modern telecommunications. Over the past decade, Software-Defined Optical Networking (SDON) successfully centralized the control plane through standardized Southbound interfaces like NETCONF and RESTConf. However, SDON remains fundamentally imperative: human operators must still manually compute explicit lightpaths, calculate wavelength grids, and configure ROADM cross-connects, relying on slow offline tools with conservative 3 to 5 dB margins. Intent-Based Optical Networking (IBON), formalized in IETF RFC 9315, represents a crucial paradigm shift from 'how' to 'what': operators express declarative service intents in natural language, and the system autonomously derives the physical optical configuration under continuous closed-loop assurance. However, connecting generative AI directly to optical backbones creates severe risks, as optical networks do not tolerate probabilistic hallucination.</a:t>
            </a:r>
          </a:p>
          <a:p>
            <a:r>
              <a:t>[Bridge to Next Slide]: To understand why standard LLMs cannot simply drive an IBON controller, let us examine the five architectural failure modes that occur.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65s</a:t>
            </a:r>
          </a:p>
          <a:p>
            <a:r>
              <a:t>[Key Message]: Connecting standard generative LLMs directly to optical control planes exposes five fundamental architectural failure modes.</a:t>
            </a:r>
          </a:p>
          <a:p>
            <a:r>
              <a:t>[Spoken Script]: When we evaluate standard generative LLMs for optical network control, we observe five interconnected failure modes that compromise operational integrity: First, Token Budget Saturation: injecting complete network states exhausts token budgets and triggers attention degradation, causing link exclusions to be dropped. Second, Hallucinated Physical Feasibility: autoregressive token predictors cannot solve wave propagation equations, computing invalid lightpaths that cause transponder loss of lock. Third, Semantic Drift: multi-turn chat loops mutate initial constraints without convergence guarantees. Fourth, Reactive Failure Latency: detecting faults after hardware rejection risks live link disruptions. Fifth, Suboptimal HITL: binary all-or-nothing review causes operator fatigue.</a:t>
            </a:r>
          </a:p>
          <a:p>
            <a:r>
              <a:t>[Bridge to Next Slide]: To overcome these five failure modes, we must formally structure the optical intent problem with hard physical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formulate the problem across four structured dimensions: Given inputs, Decision variables, Objective function, and Constraints (Resource vs Boundary).</a:t>
            </a:r>
          </a:p>
          <a:p>
            <a:r>
              <a:t>[Spoken Script]: Following classical telecommunications optimization methodology, we formulate our intent planning problem across four precise dimensions: Given, Decide, Objective, and Constraints. In the upper row, first, Given: the orchestrator ingests the natural language intent, queries the network graph via RESTConf, and loads physical parameters. Second, Decide: the system determines the PDDL specification, selects the optimal lightpath route pi*, resolves the risk decision action in {approve, clarify, replan}, and generates the final configuration c*. Third, Objective: we formulate a multi-objective cost function minimizing human interruptions and prompt tokens under the hard invariant that no lightpath is deployed without approval. In the lower half, Constraints decouple into Resource Constraints on the left and Boundary Constraints on the right.</a:t>
            </a:r>
          </a:p>
          <a:p>
            <a:r>
              <a:t>[Bridge to Next Slide]: To solve this constrained optimization problem, we introduce our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the entire 17-node topology, our deterministic graph engine extracts only the k-hop neighborhood bounding the source and destination. For instance, [Click / Advance] if an operator requests a lightpath between Frankfurt and Munich, there is no need to load northern nodes like Hamburg, Bremen, or Berlin into the LLM context. We prune distant nodes and links, reducing the prompt token footprint by over 75 percent, eliminating the lost-in-the-middle phenomenon while keeping the graph search computationally instantaneous.</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a:t>
            </a:r>
          </a:p>
          <a:p>
            <a:r>
              <a:t>[Spoken Script]: Our evaluation framework tests 100 diverse intent requests across four operational categories: nominal intents, ambiguous intents with missing constraints, physically unfeasible demands, and adversarial prompts designed to induce hallucinations. We compare our neurosymbolic architecture against two baselines: an unconstrained LLM-only pipeline, and a rigid rule-based system. We measure three core dimensions: safety against unfeasible deployments, reduction in operator fatigue, and end-to-end execution latency.</a:t>
            </a:r>
          </a:p>
          <a:p>
            <a:r>
              <a:t>[Bridge to Next Slide]: Let us analyze the key findings and trade-offs.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200" b="1">
                <a:solidFill>
                  <a:srgbClr val="85200C"/>
                </a:solidFill>
                <a:latin typeface="Titillium Web SemiBold"/>
              </a:defRPr>
            </a:pPr>
            <a:r>
              <a:t>LLM-Assisted 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 &amp; Prof. Qiaolun Zhang</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The Optical Intent Planning Bottleneck</a:t>
            </a:r>
          </a:p>
          <a:p>
            <a:pPr>
              <a:defRPr sz="1200">
                <a:solidFill>
                  <a:srgbClr val="222222"/>
                </a:solidFill>
              </a:defRPr>
            </a:pPr>
            <a:r>
              <a:rPr sz="1200" b="0">
                <a:solidFill>
                  <a:srgbClr val="222222"/>
                </a:solidFill>
                <a:latin typeface="Arial"/>
              </a:rP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Neurosymbolic Intent Planning Pipeline</a:t>
            </a:r>
          </a:p>
          <a:p>
            <a:pPr>
              <a:defRPr sz="1200">
                <a:solidFill>
                  <a:srgbClr val="222222"/>
                </a:solidFill>
              </a:defRPr>
            </a:pPr>
            <a:r>
              <a:rPr sz="1200" b="0">
                <a:solidFill>
                  <a:srgbClr val="222222"/>
                </a:solidFill>
                <a:latin typeface="Arial"/>
              </a:rPr>
              <a:t>Decoupling probabilistic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200" b="0">
                <a:solidFill>
                  <a:srgbClr val="222222"/>
                </a:solidFill>
                <a:latin typeface="Arial"/>
              </a:rPr>
              <a:t>)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Pre-Deployment Risk Gates: Semantic &amp; Physical Validation</a:t>
            </a:r>
          </a:p>
          <a:p>
            <a:pPr>
              <a:defRPr sz="1200">
                <a:solidFill>
                  <a:srgbClr val="222222"/>
                </a:solidFill>
              </a:defRPr>
            </a:pPr>
            <a:r>
              <a:rPr sz="1200" b="0">
                <a:solidFill>
                  <a:srgbClr val="222222"/>
                </a:solidFill>
                <a:latin typeface="Arial"/>
              </a:rPr>
              <a:t>Sequential fail-fast decision via Layer 1/2 semantic gate (</a:t>
            </a:r>
            <a14:m xmlns:a14="http://schemas.microsoft.com/office/drawing/2010/main" xmlns:m="http://schemas.openxmlformats.org/officeDocument/2006/math">
              <m:oMath>
                <m:sSub>
                  <m:e>
                    <m:r>
                      <m:t>U</m:t>
                    </m:r>
                  </m:e>
                  <m:sub>
                    <m:r>
                      <m:t>sem</m:t>
                    </m:r>
                  </m:sub>
                </m:sSub>
              </m:oMath>
            </a14:m>
            <a:r>
              <a:rPr sz="1200" b="0">
                <a:solidFill>
                  <a:srgbClr val="222222"/>
                </a:solidFill>
                <a:latin typeface="Arial"/>
              </a:rPr>
              <a:t>) and GN-model QoT gate (</a:t>
            </a:r>
            <a14:m xmlns:a14="http://schemas.microsoft.com/office/drawing/2010/main" xmlns:m="http://schemas.openxmlformats.org/officeDocument/2006/math">
              <m:oMath>
                <m:sSub>
                  <m:e>
                    <m:r>
                      <m:t>QoT</m:t>
                    </m:r>
                  </m:e>
                  <m:sub>
                    <m:r>
                      <m:t>valid</m:t>
                    </m:r>
                  </m:sub>
                </m:sSub>
              </m:oMath>
            </a14:m>
            <a:r>
              <a:rPr sz="1200" b="0">
                <a:solidFill>
                  <a:srgbClr val="222222"/>
                </a:solidFill>
                <a:latin typeface="Arial"/>
              </a:rPr>
              <a:t>)</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Experimental Testbed Validation on 17-Node Optical Topology</a:t>
            </a:r>
          </a:p>
          <a:p>
            <a:pPr>
              <a:defRPr sz="1200">
                <a:solidFill>
                  <a:srgbClr val="222222"/>
                </a:solidFill>
              </a:defRPr>
            </a:pPr>
            <a:r>
              <a:rPr sz="1200" b="0">
                <a:solidFill>
                  <a:srgbClr val="222222"/>
                </a:solidFill>
                <a:latin typeface="Arial"/>
              </a:rPr>
              <a:t>Benchmarking safety (</a:t>
            </a:r>
            <a14:m xmlns:a14="http://schemas.microsoft.com/office/drawing/2010/main" xmlns:m="http://schemas.openxmlformats.org/officeDocument/2006/math">
              <m:oMath>
                <m:r>
                  <m:t>UAR = 100%</m:t>
                </m:r>
              </m:oMath>
            </a14:m>
            <a:r>
              <a:rPr sz="1200" b="0">
                <a:solidFill>
                  <a:srgbClr val="222222"/>
                </a:solidFill>
                <a:latin typeface="Arial"/>
              </a:rPr>
              <a:t>),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Key Takeaways, System Guarantees &amp; Future Directions</a:t>
            </a:r>
          </a:p>
          <a:p>
            <a:pPr>
              <a:defRPr sz="1200">
                <a:solidFill>
                  <a:srgbClr val="222222"/>
                </a:solidFill>
              </a:defRPr>
            </a:pPr>
            <a:r>
              <a:rPr sz="1200" b="0">
                <a:solidFill>
                  <a:srgbClr val="222222"/>
                </a:solidFill>
                <a:latin typeface="Arial"/>
              </a:rP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Evolution from Imperative SDON to Declarative IBON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298448"/>
            <a:ext cx="4251960" cy="4032504"/>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4617720" cy="65836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Current Paradigm: Imperative SDON</a:t>
            </a:r>
          </a:p>
          <a:p>
            <a:pPr algn="ctr">
              <a:defRPr sz="1050">
                <a:solidFill>
                  <a:srgbClr val="FFFFFF"/>
                </a:solidFill>
                <a:latin typeface="Arial"/>
              </a:defRPr>
            </a:pPr>
            <a:r>
              <a:t>Procedural "HOW" Execution • Open-Loop Control</a:t>
            </a:r>
          </a:p>
        </p:txBody>
      </p:sp>
      <p:sp>
        <p:nvSpPr>
          <p:cNvPr id="9" name="Rounded Rectangle 8"/>
          <p:cNvSpPr/>
          <p:nvPr/>
        </p:nvSpPr>
        <p:spPr>
          <a:xfrm>
            <a:off x="1069848" y="2249424"/>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Procedural Scripts</a:t>
            </a:r>
          </a:p>
        </p:txBody>
      </p:sp>
      <p:sp>
        <p:nvSpPr>
          <p:cNvPr id="10" name="Rounded Rectangle 9"/>
          <p:cNvSpPr/>
          <p:nvPr/>
        </p:nvSpPr>
        <p:spPr>
          <a:xfrm>
            <a:off x="1069848" y="3031236"/>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Static Margins</a:t>
            </a:r>
          </a:p>
        </p:txBody>
      </p:sp>
      <p:sp>
        <p:nvSpPr>
          <p:cNvPr id="11" name="Rounded Rectangle 10"/>
          <p:cNvSpPr/>
          <p:nvPr/>
        </p:nvSpPr>
        <p:spPr>
          <a:xfrm>
            <a:off x="1069848" y="3813048"/>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Open-Loop Control</a:t>
            </a:r>
          </a:p>
        </p:txBody>
      </p:sp>
      <p:sp>
        <p:nvSpPr>
          <p:cNvPr id="12" name="Right Arrow 11"/>
          <p:cNvSpPr/>
          <p:nvPr/>
        </p:nvSpPr>
        <p:spPr>
          <a:xfrm>
            <a:off x="4946904" y="2194560"/>
            <a:ext cx="2295144" cy="2185416"/>
          </a:xfrm>
          <a:prstGeom prst="rightArrow">
            <a:avLst/>
          </a:prstGeom>
          <a:solidFill>
            <a:srgbClr val="DCE6F2"/>
          </a:solidFill>
          <a:ln w="1270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2664" y="2953512"/>
            <a:ext cx="1527048" cy="630936"/>
          </a:xfrm>
          <a:prstGeom prst="roundRect">
            <a:avLst/>
          </a:prstGeom>
          <a:solidFill>
            <a:srgbClr val="FFFFFF"/>
          </a:solidFill>
          <a:ln w="12700">
            <a:solidFill>
              <a:srgbClr val="5A6B82"/>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950" b="1">
                <a:solidFill>
                  <a:srgbClr val="0F2C53"/>
                </a:solidFill>
                <a:latin typeface="Titillium Web SemiBold"/>
              </a:defRPr>
            </a:pPr>
            <a:r>
              <a:t>PARADIGM SHIFT</a:t>
            </a:r>
          </a:p>
          <a:p>
            <a:pPr algn="ctr">
              <a:defRPr sz="950" b="1">
                <a:solidFill>
                  <a:srgbClr val="85200C"/>
                </a:solidFill>
                <a:latin typeface="Titillium Web SemiBold"/>
              </a:defRPr>
            </a:pPr>
            <a:r>
              <a:t>"HOW" ➔ "WHAT"</a:t>
            </a:r>
          </a:p>
        </p:txBody>
      </p:sp>
      <p:sp>
        <p:nvSpPr>
          <p:cNvPr id="14" name="Rounded Rectangle 13"/>
          <p:cNvSpPr/>
          <p:nvPr/>
        </p:nvSpPr>
        <p:spPr>
          <a:xfrm>
            <a:off x="7040880" y="1298448"/>
            <a:ext cx="4251960" cy="4032504"/>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188720"/>
            <a:ext cx="4617720" cy="65836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Target Vision: Declarative IBON</a:t>
            </a:r>
          </a:p>
          <a:p>
            <a:pPr algn="ctr">
              <a:defRPr sz="1050">
                <a:solidFill>
                  <a:srgbClr val="FFFFFF"/>
                </a:solidFill>
                <a:latin typeface="Arial"/>
              </a:defRPr>
            </a:pPr>
            <a:r>
              <a:t>Autonomous "WHAT" Abstraction • Closed-Loop Assurance</a:t>
            </a:r>
          </a:p>
        </p:txBody>
      </p:sp>
      <p:sp>
        <p:nvSpPr>
          <p:cNvPr id="16" name="Rounded Rectangle 15"/>
          <p:cNvSpPr/>
          <p:nvPr/>
        </p:nvSpPr>
        <p:spPr>
          <a:xfrm>
            <a:off x="7242048" y="2249424"/>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High-Level Intents</a:t>
            </a:r>
          </a:p>
        </p:txBody>
      </p:sp>
      <p:sp>
        <p:nvSpPr>
          <p:cNvPr id="17" name="Rounded Rectangle 16"/>
          <p:cNvSpPr/>
          <p:nvPr/>
        </p:nvSpPr>
        <p:spPr>
          <a:xfrm>
            <a:off x="7242048" y="3031236"/>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Dynamic Physics</a:t>
            </a:r>
          </a:p>
        </p:txBody>
      </p:sp>
      <p:sp>
        <p:nvSpPr>
          <p:cNvPr id="18" name="Rounded Rectangle 17"/>
          <p:cNvSpPr/>
          <p:nvPr/>
        </p:nvSpPr>
        <p:spPr>
          <a:xfrm>
            <a:off x="7242048" y="3813048"/>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Zero-Touch Assurance</a:t>
            </a:r>
          </a:p>
        </p:txBody>
      </p:sp>
      <p:sp>
        <p:nvSpPr>
          <p:cNvPr id="19" name="Rounded Rectangle 18"/>
          <p:cNvSpPr/>
          <p:nvPr/>
        </p:nvSpPr>
        <p:spPr>
          <a:xfrm>
            <a:off x="676656" y="5623560"/>
            <a:ext cx="10744200" cy="6858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1450" b="1">
                <a:solidFill>
                  <a:srgbClr val="85200C"/>
                </a:solidFill>
                <a:latin typeface="Titillium Web SemiBold"/>
              </a:defRPr>
            </a:pPr>
            <a:r>
              <a:t>⚠️ BUT: Standard LLMs alone cannot simply drive an IBON controller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1. Token Budget Saturation</a:t>
            </a:r>
          </a:p>
        </p:txBody>
      </p:sp>
      <p:sp>
        <p:nvSpPr>
          <p:cNvPr id="9" name="TextBox 8"/>
          <p:cNvSpPr txBox="1"/>
          <p:nvPr/>
        </p:nvSpPr>
        <p:spPr>
          <a:xfrm>
            <a:off x="4160520" y="1188720"/>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Telemetry dumps trigger attention degradation, dropping critical route exclusions</a:t>
            </a:r>
          </a:p>
        </p:txBody>
      </p:sp>
      <p:sp>
        <p:nvSpPr>
          <p:cNvPr id="10" name="Rounded Rectangle 9"/>
          <p:cNvSpPr/>
          <p:nvPr/>
        </p:nvSpPr>
        <p:spPr>
          <a:xfrm>
            <a:off x="685800" y="2066544"/>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066544"/>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2. Hallucinated Physics</a:t>
            </a:r>
          </a:p>
        </p:txBody>
      </p:sp>
      <p:sp>
        <p:nvSpPr>
          <p:cNvPr id="12" name="TextBox 11"/>
          <p:cNvSpPr txBox="1"/>
          <p:nvPr/>
        </p:nvSpPr>
        <p:spPr>
          <a:xfrm>
            <a:off x="4160520" y="2066544"/>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Probabilistic predictors lack wave propagation engines, violating non-linear GSNR margins</a:t>
            </a:r>
          </a:p>
        </p:txBody>
      </p:sp>
      <p:sp>
        <p:nvSpPr>
          <p:cNvPr id="13" name="Rounded Rectangle 12"/>
          <p:cNvSpPr/>
          <p:nvPr/>
        </p:nvSpPr>
        <p:spPr>
          <a:xfrm>
            <a:off x="685800" y="2944368"/>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2944368"/>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3. Semantic Drift</a:t>
            </a:r>
          </a:p>
        </p:txBody>
      </p:sp>
      <p:sp>
        <p:nvSpPr>
          <p:cNvPr id="15" name="TextBox 14"/>
          <p:cNvSpPr txBox="1"/>
          <p:nvPr/>
        </p:nvSpPr>
        <p:spPr>
          <a:xfrm>
            <a:off x="4160520" y="2944368"/>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Unconstrained multi-turn conversational loops mutate or drop initial boundary constraints</a:t>
            </a:r>
          </a:p>
        </p:txBody>
      </p:sp>
      <p:sp>
        <p:nvSpPr>
          <p:cNvPr id="16" name="Rounded Rectangle 15"/>
          <p:cNvSpPr/>
          <p:nvPr/>
        </p:nvSpPr>
        <p:spPr>
          <a:xfrm>
            <a:off x="685800" y="3822192"/>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822192"/>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4. Reactive Deployment Latency</a:t>
            </a:r>
          </a:p>
        </p:txBody>
      </p:sp>
      <p:sp>
        <p:nvSpPr>
          <p:cNvPr id="18" name="TextBox 17"/>
          <p:cNvSpPr txBox="1"/>
          <p:nvPr/>
        </p:nvSpPr>
        <p:spPr>
          <a:xfrm>
            <a:off x="4160520" y="3822192"/>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Trial-and-error configuration risks live outages and introduces high control-plane recovery latency</a:t>
            </a:r>
          </a:p>
        </p:txBody>
      </p:sp>
      <p:sp>
        <p:nvSpPr>
          <p:cNvPr id="19" name="Rounded Rectangle 18"/>
          <p:cNvSpPr/>
          <p:nvPr/>
        </p:nvSpPr>
        <p:spPr>
          <a:xfrm>
            <a:off x="685800" y="4700016"/>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4700016"/>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5. Suboptimal HITL Friction</a:t>
            </a:r>
          </a:p>
        </p:txBody>
      </p:sp>
      <p:sp>
        <p:nvSpPr>
          <p:cNvPr id="21" name="TextBox 20"/>
          <p:cNvSpPr txBox="1"/>
          <p:nvPr/>
        </p:nvSpPr>
        <p:spPr>
          <a:xfrm>
            <a:off x="4160520" y="4700016"/>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Binary all-or-nothing review causes operator fatigue or outages; models fail to fail-early</a:t>
            </a:r>
          </a:p>
        </p:txBody>
      </p:sp>
      <p:sp>
        <p:nvSpPr>
          <p:cNvPr id="22" name="Rounded Rectangle 21"/>
          <p:cNvSpPr/>
          <p:nvPr/>
        </p:nvSpPr>
        <p:spPr>
          <a:xfrm>
            <a:off x="685800" y="5669280"/>
            <a:ext cx="10744200" cy="59436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200" b="1">
                <a:solidFill>
                  <a:srgbClr val="85200C"/>
                </a:solidFill>
              </a:defRPr>
            </a:pPr>
            <a:r>
              <a:rPr sz="1200" b="1">
                <a:solidFill>
                  <a:srgbClr val="85200C"/>
                </a:solidFill>
                <a:latin typeface="Titillium Web SemiBold"/>
              </a:rPr>
              <a:t>Empirical Risk: Unconstrained LLMs might allow unfeasible deployments, semantic drift loops, and critical control-plane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Given, Decide, Objective &amp; Constraints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 Given (System Inputs)</a:t>
            </a:r>
          </a:p>
        </p:txBody>
      </p:sp>
      <p:sp>
        <p:nvSpPr>
          <p:cNvPr id="9" name="Rounded Rectangle 8"/>
          <p:cNvSpPr/>
          <p:nvPr/>
        </p:nvSpPr>
        <p:spPr>
          <a:xfrm>
            <a:off x="9326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Unstructured operator intent (</a:t>
            </a:r>
            <a14:m xmlns:a14="http://schemas.microsoft.com/office/drawing/2010/main" xmlns:m="http://schemas.openxmlformats.org/officeDocument/2006/math">
              <m:oMath>
                <m:sSub>
                  <m:e>
                    <m:r>
                      <m:t>ℐ</m:t>
                    </m:r>
                  </m:e>
                  <m:sub>
                    <m:r>
                      <m:t>NL</m:t>
                    </m:r>
                  </m:sub>
                </m:sSub>
              </m:oMath>
            </a14:m>
            <a:r>
              <a:rPr sz="1000" b="1">
                <a:solidFill>
                  <a:srgbClr val="222222"/>
                </a:solidFill>
                <a:latin typeface="Titillium Web SemiBold"/>
              </a:rPr>
              <a:t>)</a:t>
            </a:r>
          </a:p>
        </p:txBody>
      </p:sp>
      <p:sp>
        <p:nvSpPr>
          <p:cNvPr id="10" name="Rounded Rectangle 9"/>
          <p:cNvSpPr/>
          <p:nvPr/>
        </p:nvSpPr>
        <p:spPr>
          <a:xfrm>
            <a:off x="9326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Active optical topology graph </a:t>
            </a:r>
            <a14:m xmlns:a14="http://schemas.microsoft.com/office/drawing/2010/main" xmlns:m="http://schemas.openxmlformats.org/officeDocument/2006/math">
              <m:oMath>
                <m:r>
                  <m:t>G(V, E)</m:t>
                </m:r>
              </m:oMath>
            </a14:m>
          </a:p>
        </p:txBody>
      </p:sp>
      <p:sp>
        <p:nvSpPr>
          <p:cNvPr id="11" name="Rounded Rectangle 10"/>
          <p:cNvSpPr/>
          <p:nvPr/>
        </p:nvSpPr>
        <p:spPr>
          <a:xfrm>
            <a:off x="9326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Physical parameters (e.g. span length </a:t>
            </a:r>
            <a14:m xmlns:a14="http://schemas.microsoft.com/office/drawing/2010/main" xmlns:m="http://schemas.openxmlformats.org/officeDocument/2006/math">
              <m:oMath>
                <m:r>
                  <m:t>L</m:t>
                </m:r>
              </m:oMath>
            </a14:m>
            <a:r>
              <a:rPr sz="1000" b="1">
                <a:solidFill>
                  <a:srgbClr val="222222"/>
                </a:solidFill>
                <a:latin typeface="Titillium Web SemiBold"/>
              </a:rPr>
              <a:t>)</a:t>
            </a:r>
          </a:p>
        </p:txBody>
      </p:sp>
      <p:sp>
        <p:nvSpPr>
          <p:cNvPr id="12" name="Rounded Rectangle 11"/>
          <p:cNvSpPr/>
          <p:nvPr/>
        </p:nvSpPr>
        <p:spPr>
          <a:xfrm>
            <a:off x="9326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Feasibility threshold (e.g. </a:t>
            </a:r>
            <a14:m xmlns:a14="http://schemas.microsoft.com/office/drawing/2010/main" xmlns:m="http://schemas.openxmlformats.org/officeDocument/2006/math">
              <m:oMath>
                <m:r>
                  <m:t>GSNR</m:t>
                </m:r>
              </m:oMath>
            </a14:m>
            <a:r>
              <a:rPr sz="1000" b="1">
                <a:solidFill>
                  <a:srgbClr val="222222"/>
                </a:solidFill>
                <a:latin typeface="Titillium Web SemiBold"/>
              </a:rPr>
              <a:t>)</a:t>
            </a:r>
          </a:p>
        </p:txBody>
      </p:sp>
      <p:sp>
        <p:nvSpPr>
          <p:cNvPr id="13" name="Rounded Rectangle 12"/>
          <p:cNvSpPr/>
          <p:nvPr/>
        </p:nvSpPr>
        <p:spPr>
          <a:xfrm>
            <a:off x="43434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[2] Decide (Variables &amp; Actions)</a:t>
            </a:r>
          </a:p>
        </p:txBody>
      </p:sp>
      <p:sp>
        <p:nvSpPr>
          <p:cNvPr id="15" name="Rounded Rectangle 14"/>
          <p:cNvSpPr/>
          <p:nvPr/>
        </p:nvSpPr>
        <p:spPr>
          <a:xfrm>
            <a:off x="45902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Formal symbolic specification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compiled from intent)</a:t>
            </a:r>
          </a:p>
        </p:txBody>
      </p:sp>
      <p:sp>
        <p:nvSpPr>
          <p:cNvPr id="16" name="Rounded Rectangle 15"/>
          <p:cNvSpPr/>
          <p:nvPr/>
        </p:nvSpPr>
        <p:spPr>
          <a:xfrm>
            <a:off x="45902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Optimal physical lightpath route</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π</m:t>
                    </m:r>
                  </m:e>
                  <m:sup>
                    <m:r>
                      <m:t>*</m:t>
                    </m:r>
                  </m:sup>
                </m:sSup>
                <m:r>
                  <m:t> ∈ </m:t>
                </m:r>
                <m:sSub>
                  <m:e>
                    <m:r>
                      <m:t>𝒦</m:t>
                    </m:r>
                  </m:e>
                  <m:sub>
                    <m:r>
                      <m:t>path</m:t>
                    </m:r>
                  </m:sub>
                </m:sSub>
              </m:oMath>
            </a14:m>
            <a:r>
              <a:rPr sz="950" b="0">
                <a:solidFill>
                  <a:srgbClr val="222222"/>
                </a:solidFill>
                <a:latin typeface="Arial"/>
              </a:rPr>
              <a:t> from candidate paths)</a:t>
            </a:r>
          </a:p>
        </p:txBody>
      </p:sp>
      <p:sp>
        <p:nvSpPr>
          <p:cNvPr id="17" name="Rounded Rectangle 16"/>
          <p:cNvSpPr/>
          <p:nvPr/>
        </p:nvSpPr>
        <p:spPr>
          <a:xfrm>
            <a:off x="45902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Pre-deployment control action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a ∈ {approve, clarify, replan}</m:t>
                </m:r>
              </m:oMath>
            </a14:m>
            <a:r>
              <a:rPr sz="950" b="0">
                <a:solidFill>
                  <a:srgbClr val="222222"/>
                </a:solidFill>
                <a:latin typeface="Arial"/>
              </a:rPr>
              <a:t>)</a:t>
            </a:r>
          </a:p>
        </p:txBody>
      </p:sp>
      <p:sp>
        <p:nvSpPr>
          <p:cNvPr id="18" name="Rounded Rectangle 17"/>
          <p:cNvSpPr/>
          <p:nvPr/>
        </p:nvSpPr>
        <p:spPr>
          <a:xfrm>
            <a:off x="45902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Provisioning routing configuration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c</m:t>
                    </m:r>
                  </m:e>
                  <m:sup>
                    <m:r>
                      <m:t>*</m:t>
                    </m:r>
                  </m:sup>
                </m:sSup>
              </m:oMath>
            </a14:m>
            <a:r>
              <a:rPr sz="950" b="0">
                <a:solidFill>
                  <a:srgbClr val="222222"/>
                </a:solidFill>
                <a:latin typeface="Arial"/>
              </a:rPr>
              <a:t> dispatched to controller)</a:t>
            </a:r>
          </a:p>
        </p:txBody>
      </p:sp>
      <p:sp>
        <p:nvSpPr>
          <p:cNvPr id="19" name="Rounded Rectangle 18"/>
          <p:cNvSpPr/>
          <p:nvPr/>
        </p:nvSpPr>
        <p:spPr>
          <a:xfrm>
            <a:off x="8001000" y="1188720"/>
            <a:ext cx="3429000" cy="24231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188720"/>
            <a:ext cx="3429000" cy="45720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[3] Objective (Optimization)</a:t>
            </a:r>
          </a:p>
        </p:txBody>
      </p:sp>
      <p:sp>
        <p:nvSpPr>
          <p:cNvPr id="21" name="Rounded Rectangle 20"/>
          <p:cNvSpPr/>
          <p:nvPr/>
        </p:nvSpPr>
        <p:spPr>
          <a:xfrm>
            <a:off x="82478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human interruptions (</a:t>
            </a:r>
            <a14:m xmlns:a14="http://schemas.microsoft.com/office/drawing/2010/main" xmlns:m="http://schemas.openxmlformats.org/officeDocument/2006/math">
              <m:oMath>
                <m:r>
                  <m:t>min </m:t>
                </m:r>
                <m:sSub>
                  <m:e>
                    <m:r>
                      <m:t>N</m:t>
                    </m:r>
                  </m:e>
                  <m:sub>
                    <m:r>
                      <m:t>hitl</m:t>
                    </m:r>
                  </m:sub>
                </m:sSub>
              </m:oMath>
            </a14:m>
            <a:r>
              <a:rPr sz="1000" b="1">
                <a:solidFill>
                  <a:srgbClr val="222222"/>
                </a:solidFill>
                <a:latin typeface="Titillium Web SemiBold"/>
              </a:rPr>
              <a:t>)</a:t>
            </a:r>
          </a:p>
        </p:txBody>
      </p:sp>
      <p:sp>
        <p:nvSpPr>
          <p:cNvPr id="22" name="Rounded Rectangle 21"/>
          <p:cNvSpPr/>
          <p:nvPr/>
        </p:nvSpPr>
        <p:spPr>
          <a:xfrm>
            <a:off x="82478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prompt tokens (</a:t>
            </a:r>
            <a14:m xmlns:a14="http://schemas.microsoft.com/office/drawing/2010/main" xmlns:m="http://schemas.openxmlformats.org/officeDocument/2006/math">
              <m:oMath>
                <m:r>
                  <m:t>min </m:t>
                </m:r>
                <m:sSub>
                  <m:e>
                    <m:r>
                      <m:t>T</m:t>
                    </m:r>
                  </m:e>
                  <m:sub>
                    <m:r>
                      <m:t>tokens</m:t>
                    </m:r>
                  </m:sub>
                </m:sSub>
              </m:oMath>
            </a14:m>
            <a:r>
              <a:rPr sz="1000" b="1">
                <a:solidFill>
                  <a:srgbClr val="222222"/>
                </a:solidFill>
                <a:latin typeface="Titillium Web SemiBold"/>
              </a:rPr>
              <a:t>)</a:t>
            </a:r>
          </a:p>
        </p:txBody>
      </p:sp>
      <p:sp>
        <p:nvSpPr>
          <p:cNvPr id="23" name="Rounded Rectangle 22"/>
          <p:cNvSpPr/>
          <p:nvPr/>
        </p:nvSpPr>
        <p:spPr>
          <a:xfrm>
            <a:off x="82478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operational friction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min α · </m:t>
                </m:r>
                <m:sSub>
                  <m:e>
                    <m:r>
                      <m:t>N</m:t>
                    </m:r>
                  </m:e>
                  <m:sub>
                    <m:r>
                      <m:t>hitl</m:t>
                    </m:r>
                  </m:sub>
                </m:sSub>
                <m:r>
                  <m:t> + β · </m:t>
                </m:r>
                <m:sSub>
                  <m:e>
                    <m:r>
                      <m:t>T</m:t>
                    </m:r>
                  </m:e>
                  <m:sub>
                    <m:r>
                      <m:t>tokens</m:t>
                    </m:r>
                  </m:sub>
                </m:sSub>
              </m:oMath>
            </a14:m>
            <a:r>
              <a:rPr sz="950" b="0">
                <a:solidFill>
                  <a:srgbClr val="222222"/>
                </a:solidFill>
                <a:latin typeface="Arial"/>
              </a:rPr>
              <a:t>)</a:t>
            </a:r>
          </a:p>
        </p:txBody>
      </p:sp>
      <p:sp>
        <p:nvSpPr>
          <p:cNvPr id="24" name="Rounded Rectangle 23"/>
          <p:cNvSpPr/>
          <p:nvPr/>
        </p:nvSpPr>
        <p:spPr>
          <a:xfrm>
            <a:off x="82478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Guarantee pre-deployment safety</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𝒟(</m:t>
                </m:r>
                <m:sSub>
                  <m:e>
                    <m:r>
                      <m:t>U</m:t>
                    </m:r>
                  </m:e>
                  <m:sub>
                    <m:r>
                      <m:t>sem</m:t>
                    </m:r>
                  </m:sub>
                </m:sSub>
                <m:r>
                  <m:t>, </m:t>
                </m:r>
                <m:sSub>
                  <m:e>
                    <m:r>
                      <m:t>QoT</m:t>
                    </m:r>
                  </m:e>
                  <m:sub>
                    <m:r>
                      <m:t>valid</m:t>
                    </m:r>
                  </m:sub>
                </m:sSub>
                <m:r>
                  <m:t>) = approve</m:t>
                </m:r>
              </m:oMath>
            </a14:m>
            <a:r>
              <a:rPr sz="950" b="0">
                <a:solidFill>
                  <a:srgbClr val="222222"/>
                </a:solidFill>
                <a:latin typeface="Arial"/>
              </a:rPr>
              <a:t>)</a:t>
            </a:r>
          </a:p>
        </p:txBody>
      </p:sp>
      <p:sp>
        <p:nvSpPr>
          <p:cNvPr id="25" name="Rounded Rectangle 24"/>
          <p:cNvSpPr/>
          <p:nvPr/>
        </p:nvSpPr>
        <p:spPr>
          <a:xfrm>
            <a:off x="1345082" y="4328769"/>
            <a:ext cx="9425635" cy="1945843"/>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45082" y="4253788"/>
            <a:ext cx="9425635"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[4] Constraints: Resource Limits vs. Physical &amp; Semantic Boundaries</a:t>
            </a:r>
          </a:p>
        </p:txBody>
      </p:sp>
      <p:sp>
        <p:nvSpPr>
          <p:cNvPr id="27" name="TextBox 26"/>
          <p:cNvSpPr txBox="1"/>
          <p:nvPr/>
        </p:nvSpPr>
        <p:spPr>
          <a:xfrm>
            <a:off x="1442008" y="4784140"/>
            <a:ext cx="4394606" cy="1036929"/>
          </a:xfrm>
          <a:prstGeom prst="rect">
            <a:avLst/>
          </a:prstGeom>
          <a:noFill/>
        </p:spPr>
        <p:txBody>
          <a:bodyPr wrap="square" tIns="18288">
            <a:spAutoFit/>
          </a:bodyPr>
          <a:lstStyle/>
          <a:p>
            <a:pPr>
              <a:spcAft>
                <a:spcPts val="200"/>
              </a:spcAft>
              <a:defRPr sz="1100" b="1">
                <a:solidFill>
                  <a:srgbClr val="0F2C53"/>
                </a:solidFill>
                <a:latin typeface="Titillium Web SemiBold"/>
              </a:defRPr>
            </a:pPr>
            <a:r>
              <a:t>Resource Constraints (System &amp; Solver Limits):</a:t>
            </a:r>
          </a:p>
          <a:p>
            <a:pPr>
              <a:spcBef>
                <a:spcPts val="0"/>
              </a:spcBef>
              <a:spcAft>
                <a:spcPts val="200"/>
              </a:spcAft>
              <a:defRPr sz="1000">
                <a:solidFill>
                  <a:srgbClr val="222222"/>
                </a:solidFill>
              </a:defRPr>
            </a:pPr>
            <a:r>
              <a:rPr sz="1000" b="0">
                <a:solidFill>
                  <a:srgbClr val="222222"/>
                </a:solidFill>
                <a:latin typeface="Arial"/>
              </a:rPr>
              <a:t>•  Token context limits (</a:t>
            </a:r>
            <a14:m xmlns:a14="http://schemas.microsoft.com/office/drawing/2010/main" xmlns:m="http://schemas.openxmlformats.org/officeDocument/2006/math">
              <m:oMath>
                <m:sSub>
                  <m:e>
                    <m:r>
                      <m:t>T</m:t>
                    </m:r>
                  </m:e>
                  <m:sub>
                    <m:r>
                      <m:t>prompt</m:t>
                    </m:r>
                  </m:sub>
                </m:sSub>
                <m:r>
                  <m:t> ≤ </m:t>
                </m:r>
                <m:sSub>
                  <m:e>
                    <m:r>
                      <m:t>T</m:t>
                    </m:r>
                  </m:e>
                  <m:sub>
                    <m:r>
                      <m:t>max</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Computational inference latency (</a:t>
            </a:r>
            <a14:m xmlns:a14="http://schemas.microsoft.com/office/drawing/2010/main" xmlns:m="http://schemas.openxmlformats.org/officeDocument/2006/math">
              <m:oMath>
                <m:sSub>
                  <m:e>
                    <m:r>
                      <m:t>t</m:t>
                    </m:r>
                  </m:e>
                  <m:sub>
                    <m:r>
                      <m:t>exec</m:t>
                    </m:r>
                  </m:sub>
                </m:sSub>
                <m:r>
                  <m:t> ≤ </m:t>
                </m:r>
                <m:sSub>
                  <m:e>
                    <m:r>
                      <m:t>t</m:t>
                    </m:r>
                  </m:e>
                  <m:sub>
                    <m:r>
                      <m:t>max_budget</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Symbolic solver complexity </a:t>
            </a:r>
            <a14:m xmlns:a14="http://schemas.microsoft.com/office/drawing/2010/main" xmlns:m="http://schemas.openxmlformats.org/officeDocument/2006/math">
              <m:oMath>
                <m:r>
                  <m:t>K ∈ [3, 5]</m:t>
                </m:r>
              </m:oMath>
            </a14:m>
          </a:p>
        </p:txBody>
      </p:sp>
      <p:sp>
        <p:nvSpPr>
          <p:cNvPr id="28" name="TextBox 27"/>
          <p:cNvSpPr txBox="1"/>
          <p:nvPr/>
        </p:nvSpPr>
        <p:spPr>
          <a:xfrm>
            <a:off x="6279184" y="4784140"/>
            <a:ext cx="4394606" cy="1254556"/>
          </a:xfrm>
          <a:prstGeom prst="rect">
            <a:avLst/>
          </a:prstGeom>
          <a:noFill/>
        </p:spPr>
        <p:txBody>
          <a:bodyPr wrap="square" tIns="18288">
            <a:spAutoFit/>
          </a:bodyPr>
          <a:lstStyle/>
          <a:p>
            <a:pPr>
              <a:spcAft>
                <a:spcPts val="200"/>
              </a:spcAft>
              <a:defRPr sz="1100" b="1">
                <a:solidFill>
                  <a:srgbClr val="85200C"/>
                </a:solidFill>
                <a:latin typeface="Titillium Web SemiBold"/>
              </a:defRPr>
            </a:pPr>
            <a:r>
              <a:t>Boundary Constraints (Physical &amp; Semantic Feasibility):</a:t>
            </a:r>
          </a:p>
          <a:p>
            <a:pPr>
              <a:spcBef>
                <a:spcPts val="0"/>
              </a:spcBef>
              <a:spcAft>
                <a:spcPts val="200"/>
              </a:spcAft>
              <a:defRPr sz="1000">
                <a:solidFill>
                  <a:srgbClr val="222222"/>
                </a:solidFill>
              </a:defRPr>
            </a:pPr>
            <a:r>
              <a:rPr sz="1000" b="0">
                <a:solidFill>
                  <a:srgbClr val="222222"/>
                </a:solidFill>
                <a:latin typeface="Arial"/>
              </a:rPr>
              <a:t>•  Zero semantic drift tolerance bound</a:t>
            </a:r>
          </a:p>
          <a:p>
            <a:pPr>
              <a:spcBef>
                <a:spcPts val="0"/>
              </a:spcBef>
              <a:spcAft>
                <a:spcPts val="200"/>
              </a:spcAft>
              <a:defRPr sz="1000">
                <a:solidFill>
                  <a:srgbClr val="222222"/>
                </a:solidFill>
              </a:defRPr>
            </a:pPr>
            <a:r>
              <a:rPr sz="1000" b="0">
                <a:solidFill>
                  <a:srgbClr val="222222"/>
                </a:solidFill>
                <a:latin typeface="Arial"/>
              </a:rPr>
              <a:t>•  Deterministic optical QoT feasibility</a:t>
            </a:r>
          </a:p>
          <a:p>
            <a:pPr>
              <a:spcBef>
                <a:spcPts val="0"/>
              </a:spcBef>
              <a:spcAft>
                <a:spcPts val="200"/>
              </a:spcAft>
              <a:defRPr sz="1000">
                <a:solidFill>
                  <a:srgbClr val="222222"/>
                </a:solidFill>
              </a:defRPr>
            </a:pPr>
            <a:r>
              <a:rPr sz="1000" b="0">
                <a:solidFill>
                  <a:srgbClr val="222222"/>
                </a:solidFill>
                <a:latin typeface="Arial"/>
              </a:rPr>
              <a:t>•  Pre-deployment physical validity state (</a:t>
            </a:r>
            <a14:m xmlns:a14="http://schemas.microsoft.com/office/drawing/2010/main" xmlns:m="http://schemas.openxmlformats.org/officeDocument/2006/math">
              <m:oMath>
                <m:sSub>
                  <m:e>
                    <m:r>
                      <m:t>QoT</m:t>
                    </m:r>
                  </m:e>
                  <m:sub>
                    <m:r>
                      <m:t>valid</m:t>
                    </m:r>
                  </m:sub>
                </m:sSub>
                <m:r>
                  <m:t> ∈ {0, 1}</m:t>
                </m:r>
              </m:oMath>
            </a14:m>
            <a:r>
              <a:rPr sz="1000" b="0">
                <a:solidFill>
                  <a:srgbClr val="222222"/>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523036"/>
          </a:xfrm>
          <a:prstGeom prst="rect">
            <a:avLst/>
          </a:prstGeom>
          <a:noFill/>
        </p:spPr>
        <p:txBody>
          <a:bodyPr wrap="square">
            <a:spAutoFit/>
          </a:bodyPr>
          <a:lstStyle/>
          <a:p>
            <a:pPr>
              <a:defRPr sz="2800" b="1">
                <a:solidFill>
                  <a:srgbClr val="0F2C53"/>
                </a:solidFill>
                <a:latin typeface="Titillium Web SemiBold"/>
              </a:defRPr>
            </a:pPr>
            <a:r>
              <a:t>Proposed Solution: RADG with Neurosymbolic Planning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248716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Neural Subsystem (Semantic Domain)</a:t>
            </a:r>
          </a:p>
        </p:txBody>
      </p:sp>
      <p:sp>
        <p:nvSpPr>
          <p:cNvPr id="9" name="Rounded Rectangle 8"/>
          <p:cNvSpPr/>
          <p:nvPr/>
        </p:nvSpPr>
        <p:spPr>
          <a:xfrm>
            <a:off x="1456639" y="188823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Translation of the intent</a:t>
            </a:r>
          </a:p>
        </p:txBody>
      </p:sp>
      <p:sp>
        <p:nvSpPr>
          <p:cNvPr id="10" name="Rounded Rectangle 9"/>
          <p:cNvSpPr/>
          <p:nvPr/>
        </p:nvSpPr>
        <p:spPr>
          <a:xfrm>
            <a:off x="1456639" y="2388412"/>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Validation of the semantic similarity</a:t>
            </a:r>
          </a:p>
        </p:txBody>
      </p:sp>
      <p:sp>
        <p:nvSpPr>
          <p:cNvPr id="11" name="Rounded Rectangle 10"/>
          <p:cNvSpPr/>
          <p:nvPr/>
        </p:nvSpPr>
        <p:spPr>
          <a:xfrm>
            <a:off x="1456639" y="2935224"/>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Orchestration</a:t>
            </a:r>
          </a:p>
        </p:txBody>
      </p:sp>
      <p:sp>
        <p:nvSpPr>
          <p:cNvPr id="12" name="Rounded Rectangle 11"/>
          <p:cNvSpPr/>
          <p:nvPr/>
        </p:nvSpPr>
        <p:spPr>
          <a:xfrm>
            <a:off x="685800" y="3822191"/>
            <a:ext cx="5212080" cy="248716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3822191"/>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Symbolic Subsystem (Optical Domain)</a:t>
            </a:r>
          </a:p>
        </p:txBody>
      </p:sp>
      <p:sp>
        <p:nvSpPr>
          <p:cNvPr id="14" name="Rounded Rectangle 13"/>
          <p:cNvSpPr/>
          <p:nvPr/>
        </p:nvSpPr>
        <p:spPr>
          <a:xfrm>
            <a:off x="1456639" y="4550968"/>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Topology extraction</a:t>
            </a:r>
          </a:p>
        </p:txBody>
      </p:sp>
      <p:sp>
        <p:nvSpPr>
          <p:cNvPr id="15" name="Rounded Rectangle 14"/>
          <p:cNvSpPr/>
          <p:nvPr/>
        </p:nvSpPr>
        <p:spPr>
          <a:xfrm>
            <a:off x="1456639" y="5051145"/>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Deterministic tools usage</a:t>
            </a:r>
          </a:p>
        </p:txBody>
      </p:sp>
      <p:sp>
        <p:nvSpPr>
          <p:cNvPr id="16" name="Rounded Rectangle 15"/>
          <p:cNvSpPr/>
          <p:nvPr/>
        </p:nvSpPr>
        <p:spPr>
          <a:xfrm>
            <a:off x="1456639" y="559795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Physical feasibility validation</a:t>
            </a:r>
          </a:p>
        </p:txBody>
      </p:sp>
      <p:sp>
        <p:nvSpPr>
          <p:cNvPr id="17" name="Rounded Rectangle 16"/>
          <p:cNvSpPr/>
          <p:nvPr/>
        </p:nvSpPr>
        <p:spPr>
          <a:xfrm>
            <a:off x="6217920" y="1188720"/>
            <a:ext cx="525780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Core Thesis Contributions (Architectural Novelties)</a:t>
            </a:r>
          </a:p>
        </p:txBody>
      </p:sp>
      <p:sp>
        <p:nvSpPr>
          <p:cNvPr id="18" name="Rounded Rectangle 17"/>
          <p:cNvSpPr/>
          <p:nvPr/>
        </p:nvSpPr>
        <p:spPr>
          <a:xfrm>
            <a:off x="6217920" y="1783080"/>
            <a:ext cx="5257800" cy="143560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856232"/>
            <a:ext cx="4983480" cy="1289304"/>
          </a:xfrm>
          <a:prstGeom prst="rect">
            <a:avLst/>
          </a:prstGeom>
          <a:noFill/>
        </p:spPr>
        <p:txBody>
          <a:bodyPr wrap="square" tIns="18288" bIns="18288">
            <a:spAutoFit/>
          </a:bodyPr>
          <a:lstStyle/>
          <a:p>
            <a:pPr>
              <a:spcAft>
                <a:spcPts val="200"/>
              </a:spcAft>
              <a:defRPr sz="1200" b="1">
                <a:solidFill>
                  <a:srgbClr val="0F2C53"/>
                </a:solidFill>
              </a:defRPr>
            </a:pPr>
            <a:r>
              <a:rPr sz="1200" b="1">
                <a:solidFill>
                  <a:srgbClr val="0F2C53"/>
                </a:solidFill>
                <a:latin typeface="Titillium Web SemiBold"/>
              </a:rPr>
              <a:t>1. Scoped GraphRAG for IBN in a Neurosymbolic system</a:t>
            </a:r>
          </a:p>
          <a:p>
            <a:pPr>
              <a:spcBef>
                <a:spcPts val="0"/>
              </a:spcBef>
              <a:spcAft>
                <a:spcPts val="200"/>
              </a:spcAft>
              <a:defRPr sz="1000">
                <a:solidFill>
                  <a:srgbClr val="222222"/>
                </a:solidFill>
              </a:defRPr>
            </a:pPr>
            <a:r>
              <a:rPr sz="1000" b="0">
                <a:solidFill>
                  <a:srgbClr val="222222"/>
                </a:solidFill>
                <a:latin typeface="Arial"/>
              </a:rPr>
              <a:t>•  Strict separation: probabilistic semantic translation vs deterministic physics</a:t>
            </a:r>
          </a:p>
          <a:p>
            <a:pPr>
              <a:spcBef>
                <a:spcPts val="0"/>
              </a:spcBef>
              <a:spcAft>
                <a:spcPts val="200"/>
              </a:spcAft>
              <a:defRPr sz="1000">
                <a:solidFill>
                  <a:srgbClr val="222222"/>
                </a:solidFill>
              </a:defRPr>
            </a:pPr>
            <a:r>
              <a:rPr sz="1000" b="0">
                <a:solidFill>
                  <a:srgbClr val="222222"/>
                </a:solidFill>
                <a:latin typeface="Arial"/>
              </a:rPr>
              <a:t>•  Subtopology scoping reduces prompt tokens, eliminating attention loss</a:t>
            </a:r>
          </a:p>
        </p:txBody>
      </p:sp>
      <p:sp>
        <p:nvSpPr>
          <p:cNvPr id="20" name="Rounded Rectangle 19"/>
          <p:cNvSpPr/>
          <p:nvPr/>
        </p:nvSpPr>
        <p:spPr>
          <a:xfrm>
            <a:off x="6217920" y="3328416"/>
            <a:ext cx="5257800" cy="1435608"/>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401568"/>
            <a:ext cx="4983480" cy="1289304"/>
          </a:xfrm>
          <a:prstGeom prst="rect">
            <a:avLst/>
          </a:prstGeom>
          <a:noFill/>
        </p:spPr>
        <p:txBody>
          <a:bodyPr wrap="square" tIns="18288" bIns="18288">
            <a:spAutoFit/>
          </a:bodyPr>
          <a:lstStyle/>
          <a:p>
            <a:pPr>
              <a:spcAft>
                <a:spcPts val="200"/>
              </a:spcAft>
              <a:defRPr sz="1200" b="1">
                <a:solidFill>
                  <a:srgbClr val="B07D00"/>
                </a:solidFill>
              </a:defRPr>
            </a:pPr>
            <a:r>
              <a:rPr sz="1200" b="1">
                <a:solidFill>
                  <a:srgbClr val="B07D00"/>
                </a:solidFill>
                <a:latin typeface="Titillium Web SemiBold"/>
              </a:rPr>
              <a:t>2. Quantification of Semantic Uncertainty for IBN in a Neurosymbolic system</a:t>
            </a:r>
          </a:p>
          <a:p>
            <a:pPr>
              <a:spcBef>
                <a:spcPts val="0"/>
              </a:spcBef>
              <a:spcAft>
                <a:spcPts val="200"/>
              </a:spcAft>
              <a:defRPr sz="1000">
                <a:solidFill>
                  <a:srgbClr val="222222"/>
                </a:solidFill>
              </a:defRPr>
            </a:pPr>
            <a:r>
              <a:rPr sz="1000" b="0">
                <a:solidFill>
                  <a:srgbClr val="222222"/>
                </a:solidFill>
                <a:latin typeface="Arial"/>
              </a:rPr>
              <a:t>•  Layer 1 syntax check (</a:t>
            </a:r>
            <a14:m xmlns:a14="http://schemas.microsoft.com/office/drawing/2010/main" xmlns:m="http://schemas.openxmlformats.org/officeDocument/2006/math">
              <m:oMath>
                <m:sSub>
                  <m:e>
                    <m:r>
                      <m:t>v</m:t>
                    </m:r>
                  </m:e>
                  <m:sub>
                    <m:r>
                      <m:t>struct</m:t>
                    </m:r>
                  </m:sub>
                </m:sSub>
                <m:r>
                  <m:t> ∈ {0, 1}</m:t>
                </m:r>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Layer 2 semantic discrepancy (</a:t>
            </a:r>
            <a14:m xmlns:a14="http://schemas.microsoft.com/office/drawing/2010/main" xmlns:m="http://schemas.openxmlformats.org/officeDocument/2006/math">
              <m:oMath>
                <m:sSub>
                  <m:e>
                    <m:r>
                      <m:t>d</m:t>
                    </m:r>
                  </m:e>
                  <m:sub>
                    <m:r>
                      <m:t>sem</m:t>
                    </m:r>
                  </m:sub>
                </m:sSub>
              </m:oMath>
            </a14:m>
            <a:r>
              <a:rPr sz="1000" b="0">
                <a:solidFill>
                  <a:srgbClr val="222222"/>
                </a:solidFill>
                <a:latin typeface="Arial"/>
              </a:rPr>
              <a:t>)</a:t>
            </a:r>
          </a:p>
        </p:txBody>
      </p:sp>
      <p:sp>
        <p:nvSpPr>
          <p:cNvPr id="22" name="Rounded Rectangle 21"/>
          <p:cNvSpPr/>
          <p:nvPr/>
        </p:nvSpPr>
        <p:spPr>
          <a:xfrm>
            <a:off x="6217920" y="4873752"/>
            <a:ext cx="5257800" cy="143560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4946904"/>
            <a:ext cx="4983480" cy="1289304"/>
          </a:xfrm>
          <a:prstGeom prst="rect">
            <a:avLst/>
          </a:prstGeom>
          <a:noFill/>
        </p:spPr>
        <p:txBody>
          <a:bodyPr wrap="square" tIns="18288" bIns="18288">
            <a:spAutoFit/>
          </a:bodyPr>
          <a:lstStyle/>
          <a:p>
            <a:pPr>
              <a:spcAft>
                <a:spcPts val="200"/>
              </a:spcAft>
              <a:defRPr sz="1200" b="1">
                <a:solidFill>
                  <a:srgbClr val="1A7F37"/>
                </a:solidFill>
              </a:defRPr>
            </a:pPr>
            <a:r>
              <a:rPr sz="1200" b="1">
                <a:solidFill>
                  <a:srgbClr val="1A7F37"/>
                </a:solidFill>
                <a:latin typeface="Titillium Web SemiBold"/>
              </a:rPr>
              <a:t>3. Risk-Adaptive Decision Gate (RADG) for optimized HITL</a:t>
            </a:r>
          </a:p>
          <a:p>
            <a:pPr>
              <a:spcBef>
                <a:spcPts val="0"/>
              </a:spcBef>
              <a:spcAft>
                <a:spcPts val="200"/>
              </a:spcAft>
              <a:defRPr sz="1000">
                <a:solidFill>
                  <a:srgbClr val="222222"/>
                </a:solidFill>
              </a:defRPr>
            </a:pPr>
            <a:r>
              <a:rPr sz="1000" b="0">
                <a:solidFill>
                  <a:srgbClr val="222222"/>
                </a:solidFill>
                <a:latin typeface="Arial"/>
              </a:rPr>
              <a:t>•  Piecewise decision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000" b="0">
                <a:solidFill>
                  <a:srgbClr val="222222"/>
                </a:solidFill>
                <a:latin typeface="Arial"/>
              </a:rPr>
              <a:t>: clarify, replan, or auto-approve</a:t>
            </a:r>
          </a:p>
          <a:p>
            <a:pPr>
              <a:spcBef>
                <a:spcPts val="0"/>
              </a:spcBef>
              <a:spcAft>
                <a:spcPts val="200"/>
              </a:spcAft>
              <a:defRPr sz="1000">
                <a:solidFill>
                  <a:srgbClr val="222222"/>
                </a:solidFill>
              </a:defRPr>
            </a:pPr>
            <a:r>
              <a:rPr sz="1000" b="0">
                <a:solidFill>
                  <a:srgbClr val="222222"/>
                </a:solidFill>
                <a:latin typeface="Arial"/>
              </a:rPr>
              <a:t>•  Guarantees physical safety (</a:t>
            </a:r>
            <a14:m xmlns:a14="http://schemas.microsoft.com/office/drawing/2010/main" xmlns:m="http://schemas.openxmlformats.org/officeDocument/2006/math">
              <m:oMath>
                <m:r>
                  <m:t>UAR = 0</m:t>
                </m:r>
              </m:oMath>
            </a14:m>
            <a:r>
              <a:rPr sz="1000" b="0">
                <a:solidFill>
                  <a:srgbClr val="222222"/>
                </a:solidFill>
                <a:latin typeface="Arial"/>
              </a:rPr>
              <a:t>) with &lt;5 ms calculation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TextBox 8"/>
          <p:cNvSpPr txBox="1"/>
          <p:nvPr/>
        </p:nvSpPr>
        <p:spPr>
          <a:xfrm>
            <a:off x="67665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Optical RAG</a:t>
            </a:r>
          </a:p>
          <a:p>
            <a:pPr algn="l">
              <a:spcBef>
                <a:spcPts val="400"/>
              </a:spcBef>
              <a:defRPr sz="950">
                <a:solidFill>
                  <a:srgbClr val="222222"/>
                </a:solidFill>
              </a:defRPr>
            </a:pPr>
            <a:r>
              <a:rPr sz="950" b="0">
                <a:solidFill>
                  <a:srgbClr val="222222"/>
                </a:solidFill>
                <a:latin typeface="Arial"/>
              </a:rPr>
              <a:t>Enrich </a:t>
            </a:r>
            <a14:m xmlns:a14="http://schemas.microsoft.com/office/drawing/2010/main" xmlns:m="http://schemas.openxmlformats.org/officeDocument/2006/math">
              <m:oMath>
                <m:sSub>
                  <m:e>
                    <m:r>
                      <m:t>ℐ</m:t>
                    </m:r>
                  </m:e>
                  <m:sub>
                    <m:r>
                      <m:t>NL</m:t>
                    </m:r>
                  </m:sub>
                </m:sSub>
              </m:oMath>
            </a14:m>
            <a:r>
              <a:rPr sz="950" b="0">
                <a:solidFill>
                  <a:srgbClr val="222222"/>
                </a:solidFill>
                <a:latin typeface="Arial"/>
              </a:rPr>
              <a:t> with ITU-T grid &amp; transponders</a:t>
            </a:r>
          </a:p>
        </p:txBody>
      </p:sp>
      <p:sp>
        <p:nvSpPr>
          <p:cNvPr id="10" name="Right Arrow 9"/>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3" name="TextBox 12"/>
          <p:cNvSpPr txBox="1"/>
          <p:nvPr/>
        </p:nvSpPr>
        <p:spPr>
          <a:xfrm>
            <a:off x="22692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PDDL Parser</a:t>
            </a:r>
          </a:p>
          <a:p>
            <a:pPr algn="l">
              <a:spcBef>
                <a:spcPts val="400"/>
              </a:spcBef>
              <a:defRPr sz="950">
                <a:solidFill>
                  <a:srgbClr val="222222"/>
                </a:solidFill>
              </a:defRPr>
            </a:pPr>
            <a:r>
              <a:rPr sz="950" b="0">
                <a:solidFill>
                  <a:srgbClr val="222222"/>
                </a:solidFill>
                <a:latin typeface="Arial"/>
              </a:rPr>
              <a:t>Translate intent into formal PDDL </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AST</a:t>
            </a:r>
          </a:p>
        </p:txBody>
      </p:sp>
      <p:sp>
        <p:nvSpPr>
          <p:cNvPr id="14" name="Right Arrow 13"/>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7" name="TextBox 16"/>
          <p:cNvSpPr txBox="1"/>
          <p:nvPr/>
        </p:nvSpPr>
        <p:spPr>
          <a:xfrm>
            <a:off x="3861816" y="1773936"/>
            <a:ext cx="1252728" cy="3264408"/>
          </a:xfrm>
          <a:prstGeom prst="rect">
            <a:avLst/>
          </a:prstGeom>
          <a:noFill/>
        </p:spPr>
        <p:txBody>
          <a:bodyPr wrap="square" tIns="54864" lIns="36576" rIns="36576">
            <a:spAutoFit/>
          </a:bodyPr>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  Evaluate CFG </a:t>
            </a:r>
            <a14:m xmlns:a14="http://schemas.microsoft.com/office/drawing/2010/main" xmlns:m="http://schemas.openxmlformats.org/officeDocument/2006/math">
              <m:oMath>
                <m:sSub>
                  <m:e>
                    <m:r>
                      <m:t>v</m:t>
                    </m:r>
                  </m:e>
                  <m:sub>
                    <m:r>
                      <m:t>struct</m:t>
                    </m:r>
                  </m:sub>
                </m:sSub>
              </m:oMath>
            </a14:m>
          </a:p>
          <a:p>
            <a:pPr algn="l">
              <a:spcBef>
                <a:spcPts val="200"/>
              </a:spcBef>
              <a:defRPr sz="950">
                <a:solidFill>
                  <a:srgbClr val="222222"/>
                </a:solidFill>
              </a:defRPr>
            </a:pPr>
            <a:r>
              <a:rPr sz="950" b="0">
                <a:solidFill>
                  <a:srgbClr val="222222"/>
                </a:solidFill>
                <a:latin typeface="Arial"/>
              </a:rPr>
              <a:t>•  Reverse Prompting </a:t>
            </a:r>
            <a14:m xmlns:a14="http://schemas.microsoft.com/office/drawing/2010/main" xmlns:m="http://schemas.openxmlformats.org/officeDocument/2006/math">
              <m:oMath>
                <m:sSub>
                  <m:e>
                    <m:r>
                      <m:t>d</m:t>
                    </m:r>
                  </m:e>
                  <m:sub>
                    <m:r>
                      <m:t>sem</m:t>
                    </m:r>
                  </m:sub>
                </m:sSub>
              </m:oMath>
            </a14:m>
          </a:p>
        </p:txBody>
      </p:sp>
      <p:sp>
        <p:nvSpPr>
          <p:cNvPr id="18" name="Right Arrow 17"/>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21" name="TextBox 20"/>
          <p:cNvSpPr txBox="1"/>
          <p:nvPr/>
        </p:nvSpPr>
        <p:spPr>
          <a:xfrm>
            <a:off x="545439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Symbolic Solver</a:t>
            </a:r>
          </a:p>
          <a:p>
            <a:pPr algn="l">
              <a:spcBef>
                <a:spcPts val="400"/>
              </a:spcBef>
              <a:defRPr sz="950">
                <a:solidFill>
                  <a:srgbClr val="222222"/>
                </a:solidFill>
              </a:defRPr>
            </a:pPr>
            <a:r>
              <a:rPr sz="950" b="0">
                <a:solidFill>
                  <a:srgbClr val="222222"/>
                </a:solidFill>
                <a:latin typeface="Arial"/>
              </a:rPr>
              <a:t>Scoped GraphRAG &amp; Yen's </a:t>
            </a:r>
            <a14:m xmlns:a14="http://schemas.microsoft.com/office/drawing/2010/main" xmlns:m="http://schemas.openxmlformats.org/officeDocument/2006/math">
              <m:oMath>
                <m:r>
                  <m:t>K</m:t>
                </m:r>
                <m:r>
                  <m:t>-SP</m:t>
                </m:r>
              </m:oMath>
            </a14:m>
            <a:r>
              <a:rPr sz="950" b="0">
                <a:solidFill>
                  <a:srgbClr val="222222"/>
                </a:solidFill>
                <a:latin typeface="Arial"/>
              </a:rPr>
              <a:t> routing</a:t>
            </a:r>
          </a:p>
        </p:txBody>
      </p:sp>
      <p:sp>
        <p:nvSpPr>
          <p:cNvPr id="22" name="Right Arrow 21"/>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5" name="TextBox 24"/>
          <p:cNvSpPr txBox="1"/>
          <p:nvPr/>
        </p:nvSpPr>
        <p:spPr>
          <a:xfrm>
            <a:off x="704697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QoT Physics</a:t>
            </a:r>
          </a:p>
          <a:p>
            <a:pPr algn="l">
              <a:spcBef>
                <a:spcPts val="400"/>
              </a:spcBef>
              <a:defRPr sz="950">
                <a:solidFill>
                  <a:srgbClr val="222222"/>
                </a:solidFill>
              </a:defRPr>
            </a:pPr>
            <a:r>
              <a:rPr sz="950" b="0">
                <a:solidFill>
                  <a:srgbClr val="222222"/>
                </a:solidFill>
                <a:latin typeface="Arial"/>
              </a:rPr>
              <a:t>Deterministic GN-model </a:t>
            </a:r>
            <a14:m xmlns:a14="http://schemas.microsoft.com/office/drawing/2010/main" xmlns:m="http://schemas.openxmlformats.org/officeDocument/2006/math">
              <m:oMath>
                <m:r>
                  <m:t>GSNR</m:t>
                </m:r>
              </m:oMath>
            </a14:m>
            <a:r>
              <a:rPr sz="950" b="0">
                <a:solidFill>
                  <a:srgbClr val="222222"/>
                </a:solidFill>
                <a:latin typeface="Arial"/>
              </a:rPr>
              <a:t> calculation</a:t>
            </a:r>
          </a:p>
        </p:txBody>
      </p:sp>
      <p:sp>
        <p:nvSpPr>
          <p:cNvPr id="26" name="Right Arrow 25"/>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9" name="TextBox 28"/>
          <p:cNvSpPr txBox="1"/>
          <p:nvPr/>
        </p:nvSpPr>
        <p:spPr>
          <a:xfrm>
            <a:off x="8639556" y="1773936"/>
            <a:ext cx="1252728" cy="3264408"/>
          </a:xfrm>
          <a:prstGeom prst="rect">
            <a:avLst/>
          </a:prstGeom>
          <a:noFill/>
        </p:spPr>
        <p:txBody>
          <a:bodyPr wrap="square" tIns="54864" lIns="36576" rIns="36576">
            <a:spAutoFit/>
          </a:bodyPr>
          <a:lstStyle/>
          <a:p>
            <a:pPr algn="ctr">
              <a:defRPr sz="1100" b="1">
                <a:solidFill>
                  <a:srgbClr val="85200C"/>
                </a:solidFill>
                <a:latin typeface="Titillium Web SemiBold"/>
              </a:defRPr>
            </a:pPr>
            <a:r>
              <a:t>Feasibility Gate</a:t>
            </a:r>
          </a:p>
          <a:p>
            <a:pPr algn="ctr">
              <a:defRPr sz="900" b="1">
                <a:solidFill>
                  <a:srgbClr val="85200C"/>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Piecewise risk gate </a:t>
            </a:r>
            <a14:m xmlns:a14="http://schemas.microsoft.com/office/drawing/2010/main" xmlns:m="http://schemas.openxmlformats.org/officeDocument/2006/math">
              <m:oMath>
                <m:r>
                  <m:t>D(</m:t>
                </m:r>
                <m:sSub>
                  <m:e>
                    <m:r>
                      <m:t>U</m:t>
                    </m:r>
                  </m:e>
                  <m:sub>
                    <m:r>
                      <m:t>sem</m:t>
                    </m:r>
                  </m:sub>
                </m:sSub>
                <m:r>
                  <m:t>, QoT)</m:t>
                </m:r>
              </m:oMath>
            </a14:m>
          </a:p>
        </p:txBody>
      </p:sp>
      <p:sp>
        <p:nvSpPr>
          <p:cNvPr id="30" name="Right Arrow 29"/>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33" name="TextBox 32"/>
          <p:cNvSpPr txBox="1"/>
          <p:nvPr/>
        </p:nvSpPr>
        <p:spPr>
          <a:xfrm>
            <a:off x="102321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Plan Synthesizer</a:t>
            </a:r>
          </a:p>
          <a:p>
            <a:pPr algn="l">
              <a:spcBef>
                <a:spcPts val="400"/>
              </a:spcBef>
              <a:defRPr sz="950">
                <a:solidFill>
                  <a:srgbClr val="222222"/>
                </a:solidFill>
              </a:defRPr>
            </a:pPr>
            <a:r>
              <a:rPr sz="950" b="0">
                <a:solidFill>
                  <a:srgbClr val="222222"/>
                </a:solidFill>
                <a:latin typeface="Arial"/>
              </a:rPr>
              <a:t>Auditable report &amp; deployment commands</a:t>
            </a:r>
          </a:p>
        </p:txBody>
      </p:sp>
      <p:sp>
        <p:nvSpPr>
          <p:cNvPr id="34" name="Rounded Rectangle 33"/>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76672"/>
            <a:ext cx="5120640" cy="804672"/>
          </a:xfrm>
          <a:prstGeom prst="rect">
            <a:avLst/>
          </a:prstGeom>
          <a:noFill/>
        </p:spPr>
        <p:txBody>
          <a:bodyPr wrap="square" tIns="36576">
            <a:spAutoFit/>
          </a:bodyPr>
          <a:lstStyle/>
          <a:p>
            <a:pPr>
              <a:defRPr sz="1200" b="1">
                <a:solidFill>
                  <a:srgbClr val="B07D00"/>
                </a:solidFill>
                <a:latin typeface="Titillium Web SemiBold"/>
              </a:defRPr>
            </a:pPr>
            <a:r>
              <a:t>⏸️ Phase 3b: Clarify Loop (LangGraph interrupt())</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Pauses execution and prompts operator for intent disambiguation</a:t>
            </a:r>
          </a:p>
        </p:txBody>
      </p:sp>
      <p:sp>
        <p:nvSpPr>
          <p:cNvPr id="36" name="Rounded Rectangle 35"/>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5376672"/>
            <a:ext cx="5120640" cy="804672"/>
          </a:xfrm>
          <a:prstGeom prst="rect">
            <a:avLst/>
          </a:prstGeom>
          <a:noFill/>
        </p:spPr>
        <p:txBody>
          <a:bodyPr wrap="square" tIns="36576">
            <a:spAutoFit/>
          </a:bodyPr>
          <a:lstStyle/>
          <a:p>
            <a:pPr>
              <a:defRPr sz="1200" b="1">
                <a:solidFill>
                  <a:srgbClr val="85200C"/>
                </a:solidFill>
                <a:latin typeface="Titillium Web SemiBold"/>
              </a:defRPr>
            </a:pPr>
            <a:r>
              <a:t>↺ Phase 6: Suggest Replan Loop (Physics Unfeasible)</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QoT</m:t>
                    </m:r>
                  </m:e>
                  <m:sub>
                    <m:r>
                      <m:t>valid</m:t>
                    </m:r>
                  </m:sub>
                </m:sSub>
                <m:r>
                  <m:t> = 0</m:t>
                </m:r>
              </m:oMath>
            </a14:m>
            <a:r>
              <a:rPr sz="1000" b="0">
                <a:solidFill>
                  <a:srgbClr val="222222"/>
                </a:solidFill>
                <a:latin typeface="Arial"/>
              </a:rPr>
              <a:t>: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1695" y="1188720"/>
            <a:ext cx="850392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37513"/>
            <a:ext cx="5120640" cy="645566"/>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Deterministic Subtopology Scoping</a:t>
            </a:r>
          </a:p>
        </p:txBody>
      </p:sp>
      <p:sp>
        <p:nvSpPr>
          <p:cNvPr id="9" name="Down Arrow 8"/>
          <p:cNvSpPr/>
          <p:nvPr/>
        </p:nvSpPr>
        <p:spPr>
          <a:xfrm>
            <a:off x="3027578" y="1897380"/>
            <a:ext cx="701344" cy="2064715"/>
          </a:xfrm>
          <a:prstGeom prst="downArrow">
            <a:avLst/>
          </a:prstGeom>
          <a:solidFill>
            <a:srgbClr val="85200C"/>
          </a:solidFill>
          <a:ln>
            <a:solidFill>
              <a:srgbClr val="F4F6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22983" y="2031796"/>
            <a:ext cx="2910535"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222222"/>
                </a:solidFill>
                <a:latin typeface="Titillium Web SemiBold"/>
              </a:defRPr>
            </a:pPr>
            <a:r>
              <a:t>Raw JSON contains excessive telemetry:</a:t>
            </a:r>
          </a:p>
          <a:p>
            <a:pPr algn="ctr">
              <a:defRPr sz="1200" b="1">
                <a:solidFill>
                  <a:srgbClr val="222222"/>
                </a:solidFill>
                <a:latin typeface="Titillium Web SemiBold"/>
              </a:defRPr>
            </a:pPr>
            <a:r>
              <a:t>ROADM ports, EDFAs, fibers</a:t>
            </a:r>
          </a:p>
        </p:txBody>
      </p:sp>
      <p:sp>
        <p:nvSpPr>
          <p:cNvPr id="11" name="Rounded Rectangle 10"/>
          <p:cNvSpPr/>
          <p:nvPr/>
        </p:nvSpPr>
        <p:spPr>
          <a:xfrm>
            <a:off x="1891893" y="2839212"/>
            <a:ext cx="2941624"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91440" bIns="36576"/>
          <a:lstStyle/>
          <a:p>
            <a:pPr algn="ctr">
              <a:defRPr sz="1200" b="1">
                <a:solidFill>
                  <a:srgbClr val="222222"/>
                </a:solidFill>
                <a:latin typeface="Titillium Web SemiBold"/>
              </a:defRPr>
            </a:pPr>
            <a:r>
              <a:t>Full topology dumps overwhelm LLM context windows</a:t>
            </a:r>
          </a:p>
        </p:txBody>
      </p:sp>
      <p:sp>
        <p:nvSpPr>
          <p:cNvPr id="12" name="Rounded Rectangle 11"/>
          <p:cNvSpPr/>
          <p:nvPr/>
        </p:nvSpPr>
        <p:spPr>
          <a:xfrm>
            <a:off x="1626717" y="3962095"/>
            <a:ext cx="3627424" cy="541324"/>
          </a:xfrm>
          <a:prstGeom prst="roundRect">
            <a:avLst/>
          </a:prstGeom>
          <a:solidFill>
            <a:srgbClr val="FFFFFF"/>
          </a:solidFill>
          <a:ln w="127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1A7F37"/>
                </a:solidFill>
                <a:latin typeface="Titillium Web SemiBold"/>
              </a:defRPr>
            </a:pPr>
            <a:r>
              <a:t>Mock GraphRAG extracts localized subtopology</a:t>
            </a:r>
          </a:p>
          <a:p>
            <a:pPr algn="ctr">
              <a:defRPr sz="1200">
                <a:solidFill>
                  <a:srgbClr val="1A7F37"/>
                </a:solidFill>
              </a:defRPr>
            </a:pPr>
            <a14:m xmlns:a14="http://schemas.microsoft.com/office/drawing/2010/main" xmlns:m="http://schemas.openxmlformats.org/officeDocument/2006/math">
              <m:oMath>
                <m:sSub>
                  <m:e>
                    <m:r>
                      <m:t>G</m:t>
                    </m:r>
                  </m:e>
                  <m:sub>
                    <m:r>
                      <m:t>sub</m:t>
                    </m:r>
                  </m:sub>
                </m:sSub>
                <m:r>
                  <m:t> ⊆ G</m:t>
                </m:r>
              </m:oMath>
            </a14:m>
          </a:p>
        </p:txBody>
      </p:sp>
      <p:sp>
        <p:nvSpPr>
          <p:cNvPr id="13" name="TextBox 12"/>
          <p:cNvSpPr txBox="1"/>
          <p:nvPr/>
        </p:nvSpPr>
        <p:spPr>
          <a:xfrm>
            <a:off x="1000353" y="4752136"/>
            <a:ext cx="4754880" cy="645566"/>
          </a:xfrm>
          <a:prstGeom prst="rect">
            <a:avLst/>
          </a:prstGeom>
          <a:noFill/>
        </p:spPr>
        <p:txBody>
          <a:bodyPr wrap="square">
            <a:spAutoFit/>
          </a:bodyPr>
          <a:lstStyle/>
          <a:p>
            <a:pPr>
              <a:spcBef>
                <a:spcPts val="0"/>
              </a:spcBef>
              <a:spcAft>
                <a:spcPts val="200"/>
              </a:spcAft>
              <a:defRPr sz="1100" b="1">
                <a:solidFill>
                  <a:srgbClr val="0F2C53"/>
                </a:solidFill>
                <a:latin typeface="Titillium Web SemiBold"/>
              </a:defRPr>
            </a:pPr>
            <a:r>
              <a:t>Mathematical Scoping Bound:</a:t>
            </a:r>
          </a:p>
          <a:p>
            <a:pPr algn="ctr">
              <a:defRPr sz="1200">
                <a:solidFill>
                  <a:srgbClr val="0F2C53"/>
                </a:solidFill>
              </a:defRPr>
            </a:pPr>
            <a14:m xmlns:a14="http://schemas.microsoft.com/office/drawing/2010/main" xmlns:m="http://schemas.openxmlformats.org/officeDocument/2006/math">
              <m:oMathPara>
                <m:oMath>
                  <m:sSub>
                    <m:e>
                      <m:r>
                        <m:t>G</m:t>
                      </m:r>
                    </m:e>
                    <m:sub>
                      <m:r>
                        <m:t>sub</m:t>
                      </m:r>
                    </m:sub>
                  </m:sSub>
                  <m:r>
                    <m:t> = (</m:t>
                  </m:r>
                  <m:sSub>
                    <m:e>
                      <m:r>
                        <m:t>V</m:t>
                      </m:r>
                    </m:e>
                    <m:sub>
                      <m:r>
                        <m:t>sub</m:t>
                      </m:r>
                    </m:sub>
                  </m:sSub>
                  <m:r>
                    <m:t>, </m:t>
                  </m:r>
                  <m:sSub>
                    <m:e>
                      <m:r>
                        <m:t>E</m:t>
                      </m:r>
                    </m:e>
                    <m:sub>
                      <m:r>
                        <m:t>sub</m:t>
                      </m:r>
                    </m:sub>
                  </m:sSub>
                  <m:r>
                    <m:t>) ⊆ G</m:t>
                  </m:r>
                </m:oMath>
              </m:oMathPara>
            </a14:m>
          </a:p>
          <a:p>
            <a:pPr algn="ctr">
              <a:defRPr sz="1200">
                <a:solidFill>
                  <a:srgbClr val="0F2C53"/>
                </a:solidFill>
              </a:defRPr>
            </a:pPr>
            <a14:m xmlns:a14="http://schemas.microsoft.com/office/drawing/2010/main" xmlns:m="http://schemas.openxmlformats.org/officeDocument/2006/math">
              <m:oMathPara>
                <m:oMath>
                  <m:sSub>
                    <m:e>
                      <m:r>
                        <m:t>T</m:t>
                      </m:r>
                    </m:e>
                    <m:sub>
                      <m:r>
                        <m:t>prompt</m:t>
                      </m:r>
                    </m:sub>
                  </m:sSub>
                  <m:r>
                    <m:t>(</m:t>
                  </m:r>
                  <m:sSub>
                    <m:e>
                      <m:r>
                        <m:t>G</m:t>
                      </m:r>
                    </m:e>
                    <m:sub>
                      <m:r>
                        <m:t>sub</m:t>
                      </m:r>
                    </m:sub>
                  </m:sSub>
                  <m:r>
                    <m:t>) ≪ </m:t>
                  </m:r>
                  <m:sSub>
                    <m:e>
                      <m:r>
                        <m:t>T</m:t>
                      </m:r>
                    </m:e>
                    <m:sub>
                      <m:r>
                        <m:t>prompt</m:t>
                      </m:r>
                    </m:sub>
                  </m:sSub>
                  <m:r>
                    <m:t>(G)</m:t>
                  </m:r>
                </m:oMath>
              </m:oMathPara>
            </a14:m>
          </a:p>
        </p:txBody>
      </p:sp>
      <p:pic>
        <p:nvPicPr>
          <p:cNvPr id="14" name="Picture 13"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pic>
        <p:nvPicPr>
          <p:cNvPr id="15" name="Picture 14" descr="germany_17nodes_opaco.jpg"/>
          <p:cNvPicPr>
            <a:picLocks noChangeAspect="1"/>
          </p:cNvPicPr>
          <p:nvPr/>
        </p:nvPicPr>
        <p:blipFill>
          <a:blip r:embed="rId3"/>
          <a:stretch>
            <a:fillRect/>
          </a:stretch>
        </p:blipFill>
        <p:spPr>
          <a:xfrm>
            <a:off x="6263640" y="1897380"/>
            <a:ext cx="5029200" cy="3355848"/>
          </a:xfrm>
          <a:prstGeom prst="rect">
            <a:avLst/>
          </a:prstGeom>
          <a:ln w="12700">
            <a:solidFill>
              <a:srgbClr val="D0D7DE"/>
            </a:solidFill>
          </a:ln>
        </p:spPr>
      </p:pic>
      <p:sp>
        <p:nvSpPr>
          <p:cNvPr id="16" name="TextBox 15"/>
          <p:cNvSpPr txBox="1"/>
          <p:nvPr/>
        </p:nvSpPr>
        <p:spPr>
          <a:xfrm>
            <a:off x="6263640" y="5053888"/>
            <a:ext cx="5029200" cy="215798"/>
          </a:xfrm>
          <a:prstGeom prst="rect">
            <a:avLst/>
          </a:prstGeom>
          <a:noFill/>
        </p:spPr>
        <p:txBody>
          <a:bodyPr wrap="square">
            <a:spAutoFit/>
          </a:bodyPr>
          <a:lstStyle/>
          <a:p>
            <a:pPr>
              <a:defRPr sz="800">
                <a:solidFill>
                  <a:srgbClr val="222222"/>
                </a:solidFill>
                <a:latin typeface="Arial"/>
              </a:defRPr>
            </a:pPr>
            <a:r>
              <a:t>From: https://topolib.readthedocs.io/en/latest/topology_repository.html</a:t>
            </a:r>
          </a:p>
        </p:txBody>
      </p:sp>
      <p:sp>
        <p:nvSpPr>
          <p:cNvPr id="17" name="Rounded Rectangle 16"/>
          <p:cNvSpPr/>
          <p:nvPr/>
        </p:nvSpPr>
        <p:spPr>
          <a:xfrm>
            <a:off x="6263640" y="5449824"/>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e.g.  Frankfurt ➔ Munich demand: Northern nodes pruned from LLM prompt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sz="1500" b="1">
                <a:solidFill>
                  <a:srgbClr val="FFFFFF"/>
                </a:solidFill>
                <a:latin typeface="Titillium Web SemiBold"/>
              </a:rPr>
              <a:t>🧠 Two-Layer Semantic Uncertainty (</a:t>
            </a:r>
            <a14:m xmlns:a14="http://schemas.microsoft.com/office/drawing/2010/main" xmlns:m="http://schemas.openxmlformats.org/officeDocument/2006/math">
              <m:oMath>
                <m:sSub>
                  <m:e>
                    <m:r>
                      <m:t>U</m:t>
                    </m:r>
                  </m:e>
                  <m:sub>
                    <m:r>
                      <m:t>sem</m:t>
                    </m:r>
                  </m:sub>
                </m:sSub>
              </m:oMath>
            </a14:m>
            <a:r>
              <a:rPr sz="1500" b="1">
                <a:solidFill>
                  <a:srgbClr val="FFFFFF"/>
                </a:solidFill>
                <a:latin typeface="Titillium Web SemiBold"/>
              </a:rPr>
              <a:t>)</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Layer 1 (Structural): CFG regex AST check (</a:t>
            </a:r>
            <a14:m xmlns:a14="http://schemas.microsoft.com/office/drawing/2010/main" xmlns:m="http://schemas.openxmlformats.org/officeDocument/2006/math">
              <m:oMath>
                <m:sSub>
                  <m:e>
                    <m:r>
                      <m:t>v</m:t>
                    </m:r>
                  </m:e>
                  <m:sub>
                    <m:r>
                      <m:t>struct</m:t>
                    </m:r>
                  </m:sub>
                </m:sSub>
                <m:r>
                  <m:t> ∈ {0, 1}</m:t>
                </m:r>
              </m:oMath>
            </a14:m>
            <a:r>
              <a:rPr sz="1200" b="0">
                <a:solidFill>
                  <a:srgbClr val="222222"/>
                </a:solidFill>
                <a:latin typeface="Arial"/>
              </a:rPr>
              <a:t>) catches syntax errors</a:t>
            </a:r>
          </a:p>
          <a:p>
            <a:pPr>
              <a:spcBef>
                <a:spcPts val="0"/>
              </a:spcBef>
              <a:spcAft>
                <a:spcPts val="600"/>
              </a:spcAft>
              <a:defRPr sz="1200">
                <a:solidFill>
                  <a:srgbClr val="222222"/>
                </a:solidFill>
              </a:defRPr>
            </a:pPr>
            <a:r>
              <a:rPr sz="1200" b="0">
                <a:solidFill>
                  <a:srgbClr val="222222"/>
                </a:solidFill>
                <a:latin typeface="Arial"/>
              </a:rPr>
              <a:t>•  Layer 2 (Semantic): Reverse Prompting reconstructs NL </a:t>
            </a:r>
            <a14:m xmlns:a14="http://schemas.microsoft.com/office/drawing/2010/main" xmlns:m="http://schemas.openxmlformats.org/officeDocument/2006/math">
              <m:oMath>
                <m:sSub>
                  <m:e>
                    <m:r>
                      <m:t>ℐ</m:t>
                    </m:r>
                  </m:e>
                  <m:sub>
                    <m:r>
                      <m:t>recon</m:t>
                    </m:r>
                  </m:sub>
                </m:sSub>
              </m:oMath>
            </a14:m>
            <a:r>
              <a:rPr sz="1200" b="0">
                <a:solidFill>
                  <a:srgbClr val="222222"/>
                </a:solidFill>
                <a:latin typeface="Arial"/>
              </a:rPr>
              <a:t> directly from PDDL</a:t>
            </a:r>
          </a:p>
          <a:p>
            <a:pPr>
              <a:spcBef>
                <a:spcPts val="0"/>
              </a:spcBef>
              <a:spcAft>
                <a:spcPts val="600"/>
              </a:spcAft>
              <a:defRPr sz="1200">
                <a:solidFill>
                  <a:srgbClr val="222222"/>
                </a:solidFill>
              </a:defRPr>
            </a:pPr>
            <a:r>
              <a:rPr sz="1200" b="0">
                <a:solidFill>
                  <a:srgbClr val="222222"/>
                </a:solidFill>
                <a:latin typeface="Arial"/>
              </a:rPr>
              <a:t>•  Independent LLM judge measures semantic discrepancy </a:t>
            </a:r>
            <a14:m xmlns:a14="http://schemas.microsoft.com/office/drawing/2010/main" xmlns:m="http://schemas.openxmlformats.org/officeDocument/2006/math">
              <m:oMath>
                <m:sSub>
                  <m:e>
                    <m:r>
                      <m:t>d</m:t>
                    </m:r>
                  </m:e>
                  <m:sub>
                    <m:r>
                      <m:t>sem</m:t>
                    </m:r>
                  </m:sub>
                </m:sSub>
                <m:r>
                  <m:t> ∈ [0, 1]</m:t>
                </m:r>
              </m:oMath>
            </a14:m>
          </a:p>
          <a:p>
            <a:pPr>
              <a:spcBef>
                <a:spcPts val="400"/>
              </a:spcBef>
              <a:defRPr sz="1200" b="1">
                <a:solidFill>
                  <a:srgbClr val="0F2C53"/>
                </a:solidFill>
                <a:latin typeface="Titillium Web SemiBold"/>
              </a:defRPr>
            </a:pPr>
            <a:r>
              <a:t>Uncertainty Formulation:</a:t>
            </a:r>
          </a:p>
          <a:p>
            <a:pPr algn="ctr">
              <a:defRPr sz="1200">
                <a:solidFill>
                  <a:srgbClr val="0F2C53"/>
                </a:solidFill>
              </a:defRPr>
            </a:pP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217920" y="1188720"/>
            <a:ext cx="5212080" cy="4297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Fail-Fast HITL Clarification Loop</a:t>
            </a:r>
          </a:p>
        </p:txBody>
      </p:sp>
      <p:sp>
        <p:nvSpPr>
          <p:cNvPr id="12" name="TextBox 11"/>
          <p:cNvSpPr txBox="1"/>
          <p:nvPr/>
        </p:nvSpPr>
        <p:spPr>
          <a:xfrm>
            <a:off x="6400800" y="1874519"/>
            <a:ext cx="4846320" cy="352044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Evaluated BEFORE invoking graph solvers or physical tools</a:t>
            </a:r>
          </a:p>
          <a:p>
            <a:pPr>
              <a:spcBef>
                <a:spcPts val="0"/>
              </a:spcBef>
              <a:spcAft>
                <a:spcPts val="600"/>
              </a:spcAft>
              <a:defRPr sz="1200">
                <a:solidFill>
                  <a:srgbClr val="222222"/>
                </a:solidFill>
              </a:defRPr>
            </a:pPr>
            <a:r>
              <a:rPr sz="1200" b="0">
                <a:solidFill>
                  <a:srgbClr val="222222"/>
                </a:solidFill>
                <a:latin typeface="Arial"/>
              </a:rPr>
              <a:t>•  If </a:t>
            </a:r>
            <a14:m xmlns:a14="http://schemas.microsoft.com/office/drawing/2010/main" xmlns:m="http://schemas.openxmlformats.org/officeDocument/2006/math">
              <m:oMath>
                <m:sSub>
                  <m:e>
                    <m:r>
                      <m:t>U</m:t>
                    </m:r>
                  </m:e>
                  <m:sub>
                    <m:r>
                      <m:t>sem</m:t>
                    </m:r>
                  </m:sub>
                </m:sSub>
                <m:r>
                  <m:t> &gt; </m:t>
                </m:r>
                <m:sSub>
                  <m:e>
                    <m:r>
                      <m:t>τ</m:t>
                    </m:r>
                  </m:e>
                  <m:sub>
                    <m:r>
                      <m:t>sem</m:t>
                    </m:r>
                  </m:sub>
                </m:sSub>
              </m:oMath>
            </a14:m>
            <a:r>
              <a:rPr sz="1200" b="0">
                <a:solidFill>
                  <a:srgbClr val="222222"/>
                </a:solidFill>
                <a:latin typeface="Arial"/>
              </a:rPr>
              <a:t>: Pipeline pauses via LangGraph interrupt()</a:t>
            </a:r>
          </a:p>
          <a:p>
            <a:pPr>
              <a:spcBef>
                <a:spcPts val="0"/>
              </a:spcBef>
              <a:spcAft>
                <a:spcPts val="600"/>
              </a:spcAft>
              <a:defRPr sz="1200">
                <a:solidFill>
                  <a:srgbClr val="222222"/>
                </a:solidFill>
              </a:defRPr>
            </a:pPr>
            <a:r>
              <a:rPr sz="1200" b="0">
                <a:solidFill>
                  <a:srgbClr val="222222"/>
                </a:solidFill>
                <a:latin typeface="Arial"/>
              </a:rPr>
              <a:t>•  Prompts operator to clarify ambiguous parameters or missing nodes</a:t>
            </a:r>
          </a:p>
          <a:p>
            <a:pPr>
              <a:spcBef>
                <a:spcPts val="0"/>
              </a:spcBef>
              <a:spcAft>
                <a:spcPts val="600"/>
              </a:spcAft>
              <a:defRPr sz="1200">
                <a:solidFill>
                  <a:srgbClr val="222222"/>
                </a:solidFill>
              </a:defRPr>
            </a:pPr>
            <a:r>
              <a:rPr sz="1200" b="0">
                <a:solidFill>
                  <a:srgbClr val="222222"/>
                </a:solidFill>
                <a:latin typeface="Arial"/>
              </a:rPr>
              <a:t>•  Eliminates infinite trial-and-error conversational loops</a:t>
            </a:r>
          </a:p>
          <a:p>
            <a:pPr>
              <a:spcBef>
                <a:spcPts val="0"/>
              </a:spcBef>
              <a:spcAft>
                <a:spcPts val="600"/>
              </a:spcAft>
              <a:defRPr sz="1200">
                <a:solidFill>
                  <a:srgbClr val="222222"/>
                </a:solidFill>
              </a:defRPr>
            </a:pPr>
            <a:r>
              <a:rPr sz="1200" b="0">
                <a:solidFill>
                  <a:srgbClr val="222222"/>
                </a:solidFill>
                <a:latin typeface="Arial"/>
              </a:rPr>
              <a:t>•  Guarantees downstream tools receive mathematically verified intent</a:t>
            </a:r>
          </a:p>
          <a:p>
            <a:pPr>
              <a:spcBef>
                <a:spcPts val="0"/>
              </a:spcBef>
              <a:spcAft>
                <a:spcPts val="600"/>
              </a:spcAft>
              <a:defRPr sz="1200">
                <a:solidFill>
                  <a:srgbClr val="222222"/>
                </a:solidFill>
              </a:defRPr>
            </a:pPr>
            <a:r>
              <a:rPr sz="1200" b="0">
                <a:solidFill>
                  <a:srgbClr val="222222"/>
                </a:solidFill>
                <a:latin typeface="Arial"/>
              </a:rPr>
              <a:t>•  If operator approves valid syntax (</a:t>
            </a:r>
            <a14:m xmlns:a14="http://schemas.microsoft.com/office/drawing/2010/main" xmlns:m="http://schemas.openxmlformats.org/officeDocument/2006/math">
              <m:oMath>
                <m:sSub>
                  <m:e>
                    <m:r>
                      <m:t>v</m:t>
                    </m:r>
                  </m:e>
                  <m:sub>
                    <m:r>
                      <m:t>struct</m:t>
                    </m:r>
                  </m:sub>
                </m:sSub>
                <m:r>
                  <m:t> = 1</m:t>
                </m:r>
              </m:oMath>
            </a14:m>
            <a:r>
              <a:rPr sz="1200" b="0">
                <a:solidFill>
                  <a:srgbClr val="222222"/>
                </a:solidFill>
                <a:latin typeface="Arial"/>
              </a:rPr>
              <a:t>): Bypasses parsing straight to solver</a:t>
            </a:r>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A7F37"/>
                </a:solidFill>
                <a:latin typeface="Titillium Web SemiBold"/>
              </a:defRPr>
            </a:pPr>
            <a:r>
              <a:t>Fail-Fast Guarantee: Zero computational waste on physics simulation when intent is ambiguous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828800"/>
          </a:xfrm>
          <a:prstGeom prst="rect">
            <a:avLst/>
          </a:prstGeom>
          <a:noFill/>
        </p:spPr>
        <p:txBody>
          <a:bodyPr wrap="square">
            <a:spAutoFit/>
          </a:bodyPr>
          <a:lstStyle/>
          <a:p>
            <a:pPr>
              <a:defRPr sz="1400" b="1">
                <a:solidFill>
                  <a:srgbClr val="0F2C53"/>
                </a:solidFill>
              </a:defRPr>
            </a:pPr>
            <a:r>
              <a:rPr sz="1400" b="1">
                <a:solidFill>
                  <a:srgbClr val="0F2C53"/>
                </a:solidFill>
                <a:latin typeface="Titillium Web SemiBold"/>
              </a:rPr>
              <a:t>Piecewise Decision Formulation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400" b="1">
                <a:solidFill>
                  <a:srgbClr val="0F2C53"/>
                </a:solidFill>
                <a:latin typeface="Titillium Web SemiBold"/>
              </a:rPr>
              <a:t>:</a:t>
            </a:r>
          </a:p>
          <a:p>
            <a:pPr algn="ctr">
              <a:defRPr sz="1300">
                <a:solidFill>
                  <a:srgbClr val="0F2C53"/>
                </a:solidFill>
              </a:defRPr>
            </a:pP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429000"/>
            <a:ext cx="344424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p:txBody>
      </p:sp>
      <p:sp>
        <p:nvSpPr>
          <p:cNvPr id="11" name="TextBox 10"/>
          <p:cNvSpPr txBox="1"/>
          <p:nvPr/>
        </p:nvSpPr>
        <p:spPr>
          <a:xfrm>
            <a:off x="822960" y="4114800"/>
            <a:ext cx="3169920" cy="2057400"/>
          </a:xfrm>
          <a:prstGeom prst="rect">
            <a:avLst/>
          </a:prstGeom>
          <a:noFill/>
        </p:spPr>
        <p:txBody>
          <a:bodyPr wrap="square">
            <a:spAutoFit/>
          </a:bodyPr>
          <a:lstStyle/>
          <a:p>
            <a:pPr>
              <a:spcAft>
                <a:spcPts val="600"/>
              </a:spcAft>
              <a:defRPr sz="1200" b="1">
                <a:solidFill>
                  <a:srgbClr val="B07D00"/>
                </a:solidFill>
              </a:defRPr>
            </a:pPr>
            <a:r>
              <a:rPr sz="1200" b="1">
                <a:solidFill>
                  <a:srgbClr val="B07D00"/>
                </a:solidFill>
                <a:latin typeface="Titillium Web SemiBold"/>
              </a:rPr>
              <a:t>Condition: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400"/>
              </a:spcAft>
              <a:defRPr sz="1100">
                <a:solidFill>
                  <a:srgbClr val="222222"/>
                </a:solidFill>
              </a:defRPr>
            </a:pPr>
            <a:r>
              <a:rPr sz="1100" b="0">
                <a:solidFill>
                  <a:srgbClr val="222222"/>
                </a:solidFill>
                <a:latin typeface="Arial"/>
              </a:rPr>
              <a:t>•  Trigger: Semantic uncertainty exceeds threshold</a:t>
            </a:r>
          </a:p>
          <a:p>
            <a:pPr>
              <a:spcBef>
                <a:spcPts val="0"/>
              </a:spcBef>
              <a:spcAft>
                <a:spcPts val="400"/>
              </a:spcAft>
              <a:defRPr sz="1100">
                <a:solidFill>
                  <a:srgbClr val="222222"/>
                </a:solidFill>
              </a:defRPr>
            </a:pPr>
            <a:r>
              <a:rPr sz="1100" b="0">
                <a:solidFill>
                  <a:srgbClr val="222222"/>
                </a:solidFill>
                <a:latin typeface="Arial"/>
              </a:rPr>
              <a:t>•  Action: Pause pipeline via interrupt()</a:t>
            </a:r>
          </a:p>
          <a:p>
            <a:pPr>
              <a:spcBef>
                <a:spcPts val="0"/>
              </a:spcBef>
              <a:spcAft>
                <a:spcPts val="400"/>
              </a:spcAft>
              <a:defRPr sz="1100">
                <a:solidFill>
                  <a:srgbClr val="222222"/>
                </a:solidFill>
              </a:defRPr>
            </a:pPr>
            <a:r>
              <a:rPr sz="1100" b="0">
                <a:solidFill>
                  <a:srgbClr val="222222"/>
                </a:solidFill>
                <a:latin typeface="Arial"/>
              </a:rPr>
              <a:t>•  Prompts operator to provide missing data</a:t>
            </a:r>
          </a:p>
          <a:p>
            <a:pPr>
              <a:spcBef>
                <a:spcPts val="0"/>
              </a:spcBef>
              <a:spcAft>
                <a:spcPts val="400"/>
              </a:spcAft>
              <a:defRPr sz="1100">
                <a:solidFill>
                  <a:srgbClr val="222222"/>
                </a:solidFill>
              </a:defRPr>
            </a:pPr>
            <a:r>
              <a:rPr sz="1100" b="0">
                <a:solidFill>
                  <a:srgbClr val="222222"/>
                </a:solidFill>
                <a:latin typeface="Arial"/>
              </a:rP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42900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p:txBody>
      </p:sp>
      <p:sp>
        <p:nvSpPr>
          <p:cNvPr id="14" name="TextBox 13"/>
          <p:cNvSpPr txBox="1"/>
          <p:nvPr/>
        </p:nvSpPr>
        <p:spPr>
          <a:xfrm>
            <a:off x="4495800" y="4114800"/>
            <a:ext cx="3169920" cy="2057400"/>
          </a:xfrm>
          <a:prstGeom prst="rect">
            <a:avLst/>
          </a:prstGeom>
          <a:noFill/>
        </p:spPr>
        <p:txBody>
          <a:bodyPr wrap="square">
            <a:spAutoFit/>
          </a:bodyPr>
          <a:lstStyle/>
          <a:p>
            <a:pPr>
              <a:spcAft>
                <a:spcPts val="600"/>
              </a:spcAft>
              <a:defRPr sz="1200" b="1">
                <a:solidFill>
                  <a:srgbClr val="85200C"/>
                </a:solidFill>
              </a:defRPr>
            </a:pPr>
            <a:r>
              <a:rPr sz="1200" b="1">
                <a:solidFill>
                  <a:srgbClr val="85200C"/>
                </a:solidFill>
                <a:latin typeface="Titillium Web SemiBold"/>
              </a:rPr>
              <a:t>Condition: </a:t>
            </a:r>
            <a14:m xmlns:a14="http://schemas.microsoft.com/office/drawing/2010/main" xmlns:m="http://schemas.openxmlformats.org/officeDocument/2006/math">
              <m:oMath>
                <m:sSub>
                  <m:e>
                    <m:r>
                      <m:t>U</m:t>
                    </m:r>
                  </m:e>
                  <m:sub>
                    <m:r>
                      <m:t>sem</m:t>
                    </m:r>
                  </m:sub>
                </m:sSub>
                <m:r>
                  <m:t> ≤ </m:t>
                </m:r>
                <m:sSub>
                  <m:e>
                    <m:r>
                      <m:t>τ</m:t>
                    </m:r>
                  </m:e>
                  <m:sub>
                    <m:r>
                      <m:t>sem</m:t>
                    </m:r>
                  </m:sub>
                </m:sSub>
                <m:r>
                  <m:t> ∧ </m:t>
                </m:r>
                <m:sSub>
                  <m:e>
                    <m:r>
                      <m:t>QoT</m:t>
                    </m:r>
                  </m:e>
                  <m:sub>
                    <m:r>
                      <m:t>valid</m:t>
                    </m:r>
                  </m:sub>
                </m:sSub>
                <m:r>
                  <m:t> = 0</m:t>
                </m:r>
              </m:oMath>
            </a14:m>
          </a:p>
          <a:p>
            <a:pPr>
              <a:spcBef>
                <a:spcPts val="0"/>
              </a:spcBef>
              <a:spcAft>
                <a:spcPts val="400"/>
              </a:spcAft>
              <a:defRPr sz="1100">
                <a:solidFill>
                  <a:srgbClr val="222222"/>
                </a:solidFill>
              </a:defRPr>
            </a:pPr>
            <a:r>
              <a:rPr sz="1100" b="0">
                <a:solidFill>
                  <a:srgbClr val="222222"/>
                </a:solidFill>
                <a:latin typeface="Arial"/>
              </a:rPr>
              <a:t>•  Trigger: Valid semantics, but physics infeasible</a:t>
            </a:r>
          </a:p>
          <a:p>
            <a:pPr>
              <a:spcBef>
                <a:spcPts val="0"/>
              </a:spcBef>
              <a:spcAft>
                <a:spcPts val="400"/>
              </a:spcAft>
              <a:defRPr sz="1100">
                <a:solidFill>
                  <a:srgbClr val="222222"/>
                </a:solidFill>
              </a:defRPr>
            </a:pPr>
            <a:r>
              <a:rPr sz="1100" b="0">
                <a:solidFill>
                  <a:srgbClr val="222222"/>
                </a:solidFill>
                <a:latin typeface="Arial"/>
              </a:rPr>
              <a:t>•  Action: Physics failed; notifies operator</a:t>
            </a:r>
          </a:p>
          <a:p>
            <a:pPr>
              <a:spcBef>
                <a:spcPts val="0"/>
              </a:spcBef>
              <a:spcAft>
                <a:spcPts val="400"/>
              </a:spcAft>
              <a:defRPr sz="1100">
                <a:solidFill>
                  <a:srgbClr val="222222"/>
                </a:solidFill>
              </a:defRPr>
            </a:pPr>
            <a:r>
              <a:rPr sz="1100" b="0">
                <a:solidFill>
                  <a:srgbClr val="222222"/>
                </a:solidFill>
                <a:latin typeface="Arial"/>
              </a:rPr>
              <a:t>•  Suggests relaxing constraints (e.g. lower baud rate)</a:t>
            </a:r>
          </a:p>
          <a:p>
            <a:pPr>
              <a:spcBef>
                <a:spcPts val="0"/>
              </a:spcBef>
              <a:spcAft>
                <a:spcPts val="400"/>
              </a:spcAft>
              <a:defRPr sz="1100">
                <a:solidFill>
                  <a:srgbClr val="222222"/>
                </a:solidFill>
              </a:defRPr>
            </a:pPr>
            <a:r>
              <a:rPr sz="1100" b="0">
                <a:solidFill>
                  <a:srgbClr val="222222"/>
                </a:solidFill>
                <a:latin typeface="Arial"/>
              </a:rP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42900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p:txBody>
      </p:sp>
      <p:sp>
        <p:nvSpPr>
          <p:cNvPr id="17" name="TextBox 16"/>
          <p:cNvSpPr txBox="1"/>
          <p:nvPr/>
        </p:nvSpPr>
        <p:spPr>
          <a:xfrm>
            <a:off x="8168640" y="4114800"/>
            <a:ext cx="3169920" cy="2057400"/>
          </a:xfrm>
          <a:prstGeom prst="rect">
            <a:avLst/>
          </a:prstGeom>
          <a:noFill/>
        </p:spPr>
        <p:txBody>
          <a:bodyPr wrap="square">
            <a:spAutoFit/>
          </a:bodyPr>
          <a:lstStyle/>
          <a:p>
            <a:pPr>
              <a:spcAft>
                <a:spcPts val="600"/>
              </a:spcAft>
              <a:defRPr sz="1200" b="1">
                <a:solidFill>
                  <a:srgbClr val="1A7F37"/>
                </a:solidFill>
              </a:defRPr>
            </a:pPr>
            <a:r>
              <a:rPr sz="1200" b="1">
                <a:solidFill>
                  <a:srgbClr val="1A7F37"/>
                </a:solidFill>
                <a:latin typeface="Titillium Web SemiBold"/>
              </a:rPr>
              <a:t>Condition: </a:t>
            </a:r>
            <a14:m xmlns:a14="http://schemas.microsoft.com/office/drawing/2010/main" xmlns:m="http://schemas.openxmlformats.org/officeDocument/2006/math">
              <m:oMath>
                <m:sSub>
                  <m:e>
                    <m:r>
                      <m:t>U</m:t>
                    </m:r>
                  </m:e>
                  <m:sub>
                    <m:r>
                      <m:t>sem</m:t>
                    </m:r>
                  </m:sub>
                </m:sSub>
                <m:r>
                  <m:t> ≤ </m:t>
                </m:r>
                <m:sSub>
                  <m:e>
                    <m:r>
                      <m:t>τ</m:t>
                    </m:r>
                  </m:e>
                  <m:sub>
                    <m:r>
                      <m:t>sem</m:t>
                    </m:r>
                  </m:sub>
                </m:sSub>
                <m:r>
                  <m:t> ∧ </m:t>
                </m:r>
                <m:sSub>
                  <m:e>
                    <m:r>
                      <m:t>QoT</m:t>
                    </m:r>
                  </m:e>
                  <m:sub>
                    <m:r>
                      <m:t>valid</m:t>
                    </m:r>
                  </m:sub>
                </m:sSub>
                <m:r>
                  <m:t> = 1</m:t>
                </m:r>
              </m:oMath>
            </a14:m>
          </a:p>
          <a:p>
            <a:pPr>
              <a:spcBef>
                <a:spcPts val="0"/>
              </a:spcBef>
              <a:spcAft>
                <a:spcPts val="400"/>
              </a:spcAft>
              <a:defRPr sz="1100">
                <a:solidFill>
                  <a:srgbClr val="222222"/>
                </a:solidFill>
              </a:defRPr>
            </a:pPr>
            <a:r>
              <a:rPr sz="1100" b="0">
                <a:solidFill>
                  <a:srgbClr val="222222"/>
                </a:solidFill>
                <a:latin typeface="Arial"/>
              </a:rPr>
              <a:t>•  Trigger: Clear semantics and feasible </a:t>
            </a:r>
            <a14:m xmlns:a14="http://schemas.microsoft.com/office/drawing/2010/main" xmlns:m="http://schemas.openxmlformats.org/officeDocument/2006/math">
              <m:oMath>
                <m:r>
                  <m:t>GSNR</m:t>
                </m:r>
              </m:oMath>
            </a14:m>
          </a:p>
          <a:p>
            <a:pPr>
              <a:spcBef>
                <a:spcPts val="0"/>
              </a:spcBef>
              <a:spcAft>
                <a:spcPts val="400"/>
              </a:spcAft>
              <a:defRPr sz="1100">
                <a:solidFill>
                  <a:srgbClr val="222222"/>
                </a:solidFill>
              </a:defRPr>
            </a:pPr>
            <a:r>
              <a:rPr sz="1100" b="0">
                <a:solidFill>
                  <a:srgbClr val="222222"/>
                </a:solidFill>
                <a:latin typeface="Arial"/>
              </a:rPr>
              <a:t>•  Action: Autonomous zero-touch provisioning</a:t>
            </a:r>
          </a:p>
          <a:p>
            <a:pPr>
              <a:spcBef>
                <a:spcPts val="0"/>
              </a:spcBef>
              <a:spcAft>
                <a:spcPts val="400"/>
              </a:spcAft>
              <a:defRPr sz="1100">
                <a:solidFill>
                  <a:srgbClr val="222222"/>
                </a:solidFill>
              </a:defRPr>
            </a:pPr>
            <a:r>
              <a:rPr sz="1100" b="0">
                <a:solidFill>
                  <a:srgbClr val="222222"/>
                </a:solidFill>
                <a:latin typeface="Arial"/>
              </a:rPr>
              <a:t>•  Generates auditable planning report</a:t>
            </a:r>
          </a:p>
          <a:p>
            <a:pPr>
              <a:spcBef>
                <a:spcPts val="0"/>
              </a:spcBef>
              <a:spcAft>
                <a:spcPts val="400"/>
              </a:spcAft>
              <a:defRPr sz="1100">
                <a:solidFill>
                  <a:srgbClr val="222222"/>
                </a:solidFill>
              </a:defRPr>
            </a:pPr>
            <a:r>
              <a:rPr sz="1100" b="0">
                <a:solidFill>
                  <a:srgbClr val="222222"/>
                </a:solidFill>
                <a:latin typeface="Arial"/>
              </a:rP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400"/>
              </a:spcAft>
              <a:defRPr sz="1200">
                <a:solidFill>
                  <a:srgbClr val="222222"/>
                </a:solidFill>
              </a:defRPr>
            </a:pPr>
            <a:r>
              <a:rPr sz="1200" b="0">
                <a:solidFill>
                  <a:srgbClr val="222222"/>
                </a:solidFill>
                <a:latin typeface="Arial"/>
              </a:rPr>
              <a:t>•  Pure Python implementation: zero LLM arithmetic</a:t>
            </a:r>
          </a:p>
          <a:p>
            <a:pPr>
              <a:spcBef>
                <a:spcPts val="400"/>
              </a:spcBef>
              <a:defRPr sz="1100" b="1">
                <a:solidFill>
                  <a:srgbClr val="0F2C53"/>
                </a:solidFill>
                <a:latin typeface="Titillium Web SemiBold"/>
              </a:defRPr>
            </a:pPr>
            <a:r>
              <a:t>Accumulated ASE Noise Power per Span:</a:t>
            </a:r>
          </a:p>
          <a:p>
            <a:pPr algn="ctr">
              <a:defRPr sz="1300">
                <a:solidFill>
                  <a:srgbClr val="0F2C53"/>
                </a:solidFill>
              </a:defRPr>
            </a:pP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defRPr sz="1300">
                <a:solidFill>
                  <a:srgbClr val="0F2C53"/>
                </a:solidFill>
              </a:defRPr>
            </a:pP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spcAft>
                <a:spcPts val="600"/>
              </a:spcAft>
              <a:defRPr sz="1100">
                <a:solidFill>
                  <a:srgbClr val="222222"/>
                </a:solidFill>
              </a:defRPr>
            </a:pPr>
            <a:r>
              <a:rPr sz="1100" b="0">
                <a:solidFill>
                  <a:srgbClr val="222222"/>
                </a:solidFill>
                <a:latin typeface="Arial"/>
              </a:rP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defRPr sz="1300">
                <a:solidFill>
                  <a:srgbClr val="1A7F37"/>
                </a:solidFill>
              </a:defRPr>
            </a:pP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defRPr sz="1300">
                <a:solidFill>
                  <a:srgbClr val="1A7F37"/>
                </a:solidFill>
              </a:defRPr>
            </a:pP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spcAft>
                <a:spcPts val="600"/>
              </a:spcAft>
              <a:defRPr sz="1100">
                <a:solidFill>
                  <a:srgbClr val="222222"/>
                </a:solidFill>
              </a:defRPr>
            </a:pPr>
            <a:r>
              <a:rPr sz="1100" b="0">
                <a:solidFill>
                  <a:srgbClr val="222222"/>
                </a:solidFill>
                <a:latin typeface="Arial"/>
              </a:rPr>
              <a:t>•  Deterministic feasibility: </a:t>
            </a:r>
            <a14:m xmlns:a14="http://schemas.microsoft.com/office/drawing/2010/main" xmlns:m="http://schemas.openxmlformats.org/officeDocument/2006/math">
              <m:oMath>
                <m:r>
                  <m:t>GSNR ≥ </m:t>
                </m:r>
                <m:sSub>
                  <m:e>
                    <m:r>
                      <m:t>GSNR</m:t>
                    </m:r>
                  </m:e>
                  <m:sub>
                    <m:r>
                      <m:t>th</m:t>
                    </m:r>
                  </m:sub>
                </m:sSub>
                <m:r>
                  <m:t> ∧ </m:t>
                </m:r>
                <m:sSub>
                  <m:e>
                    <m:r>
                      <m:t>P</m:t>
                    </m:r>
                  </m:e>
                  <m:sub>
                    <m:r>
                      <m:t>rx</m:t>
                    </m:r>
                  </m:sub>
                </m:sSub>
                <m:r>
                  <m:t> ≥ </m:t>
                </m:r>
                <m:sSub>
                  <m:e>
                    <m:r>
                      <m:t>P</m:t>
                    </m:r>
                  </m:e>
                  <m:sub>
                    <m:r>
                      <m:t>rx,min</m:t>
                    </m:r>
                  </m:sub>
                </m:sSub>
              </m:oMath>
            </a14:m>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669280"/>
            <a:ext cx="10744200" cy="594360"/>
          </a:xfrm>
          <a:prstGeom prst="rect">
            <a:avLst/>
          </a:prstGeom>
          <a:noFill/>
        </p:spPr>
        <p:txBody>
          <a:bodyPr wrap="none">
            <a:spAutoFit/>
          </a:bodyPr>
          <a:lstStyle/>
          <a:p>
            <a:pPr algn="ctr">
              <a:defRPr sz="1300" b="1">
                <a:solidFill>
                  <a:srgbClr val="1A7F37"/>
                </a:solidFill>
              </a:defRPr>
            </a:pPr>
            <a:r>
              <a:rPr sz="1300" b="1">
                <a:solidFill>
                  <a:srgbClr val="1A7F37"/>
                </a:solidFill>
                <a:latin typeface="Titillium Web SemiBold"/>
              </a:rPr>
              <a:t>⚡ Execution Speed: </a:t>
            </a:r>
            <a14:m xmlns:a14="http://schemas.microsoft.com/office/drawing/2010/main" xmlns:m="http://schemas.openxmlformats.org/officeDocument/2006/math">
              <m:oMath>
                <m:sSub>
                  <m:e>
                    <m:r>
                      <m:t>T</m:t>
                    </m:r>
                  </m:e>
                  <m:sub>
                    <m:r>
                      <m:t>phys</m:t>
                    </m:r>
                  </m:sub>
                </m:sSub>
                <m:r>
                  <m:t> &lt; 5 ms</m:t>
                </m:r>
              </m:oMath>
            </a14:m>
            <a:r>
              <a:rPr sz="1300" b="1">
                <a:solidFill>
                  <a:srgbClr val="1A7F37"/>
                </a:solidFill>
                <a:latin typeface="Titillium Web SemiBold"/>
              </a:rPr>
              <a:t>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17-Node German Core Network Benchmark</a:t>
            </a:r>
          </a:p>
        </p:txBody>
      </p:sp>
      <p:sp>
        <p:nvSpPr>
          <p:cNvPr id="9" name="TextBox 8"/>
          <p:cNvSpPr txBox="1"/>
          <p:nvPr/>
        </p:nvSpPr>
        <p:spPr>
          <a:xfrm>
            <a:off x="868680" y="1874520"/>
            <a:ext cx="4754880" cy="4114800"/>
          </a:xfrm>
          <a:prstGeom prst="rect">
            <a:avLst/>
          </a:prstGeom>
          <a:noFill/>
        </p:spPr>
        <p:txBody>
          <a:bodyPr wrap="square">
            <a:spAutoFit/>
          </a:bodyPr>
          <a:lstStyle/>
          <a:p>
            <a:pPr>
              <a:spcBef>
                <a:spcPts val="0"/>
              </a:spcBef>
              <a:spcAft>
                <a:spcPts val="500"/>
              </a:spcAft>
              <a:defRPr sz="1100">
                <a:solidFill>
                  <a:srgbClr val="222222"/>
                </a:solidFill>
              </a:defRPr>
            </a:pPr>
            <a:r>
              <a:rPr sz="1100" b="0">
                <a:solidFill>
                  <a:srgbClr val="222222"/>
                </a:solidFill>
                <a:latin typeface="Arial"/>
              </a:rPr>
              <a:t>•  Realistic telecom benchmark: </a:t>
            </a:r>
            <a14:m xmlns:a14="http://schemas.microsoft.com/office/drawing/2010/main" xmlns:m="http://schemas.openxmlformats.org/officeDocument/2006/math">
              <m:oMath>
                <m:r>
                  <m:t>|V| = 17, |E| = 26</m:t>
                </m:r>
              </m:oMath>
            </a14:m>
            <a:r>
              <a:rPr sz="1100" b="0">
                <a:solidFill>
                  <a:srgbClr val="222222"/>
                </a:solidFill>
                <a:latin typeface="Arial"/>
              </a:rPr>
              <a:t> bidirectional fiber links</a:t>
            </a:r>
          </a:p>
          <a:p>
            <a:pPr>
              <a:spcBef>
                <a:spcPts val="0"/>
              </a:spcBef>
              <a:spcAft>
                <a:spcPts val="500"/>
              </a:spcAft>
              <a:defRPr sz="1100">
                <a:solidFill>
                  <a:srgbClr val="222222"/>
                </a:solidFill>
              </a:defRPr>
            </a:pPr>
            <a:r>
              <a:rPr sz="1100" b="0">
                <a:solidFill>
                  <a:srgbClr val="222222"/>
                </a:solidFill>
                <a:latin typeface="Arial"/>
              </a:rPr>
              <a:t>•  Standard Single-Mode Fiber (SMF-28): </a:t>
            </a:r>
            <a14:m xmlns:a14="http://schemas.microsoft.com/office/drawing/2010/main" xmlns:m="http://schemas.openxmlformats.org/officeDocument/2006/math">
              <m:oMath>
                <m:r>
                  <m:t>α = 0.2 dB/km</m:t>
                </m:r>
              </m:oMath>
            </a14:m>
          </a:p>
          <a:p>
            <a:pPr>
              <a:spcBef>
                <a:spcPts val="0"/>
              </a:spcBef>
              <a:spcAft>
                <a:spcPts val="500"/>
              </a:spcAft>
              <a:defRPr sz="1100">
                <a:solidFill>
                  <a:srgbClr val="222222"/>
                </a:solidFill>
              </a:defRPr>
            </a:pPr>
            <a:r>
              <a:rPr sz="1100" b="0">
                <a:solidFill>
                  <a:srgbClr val="222222"/>
                </a:solidFill>
                <a:latin typeface="Arial"/>
              </a:rPr>
              <a:t>•  Dispersion parameter </a:t>
            </a:r>
            <a14:m xmlns:a14="http://schemas.microsoft.com/office/drawing/2010/main" xmlns:m="http://schemas.openxmlformats.org/officeDocument/2006/math">
              <m:oMath>
                <m:r>
                  <m:t>D = 16.7 ps/(nm·km)</m:t>
                </m:r>
              </m:oMath>
            </a14:m>
            <a:r>
              <a:rPr sz="1100" b="0">
                <a:solidFill>
                  <a:srgbClr val="222222"/>
                </a:solidFill>
                <a:latin typeface="Arial"/>
              </a:rPr>
              <a:t>, </a:t>
            </a:r>
            <a14:m xmlns:a14="http://schemas.microsoft.com/office/drawing/2010/main" xmlns:m="http://schemas.openxmlformats.org/officeDocument/2006/math">
              <m:oMath>
                <m:r>
                  <m:t>γ = 1.2 </m:t>
                </m:r>
                <m:sSup>
                  <m:e>
                    <m:r>
                      <m:t>W</m:t>
                    </m:r>
                  </m:e>
                  <m:sup>
                    <m:r>
                      <m:t>-1</m:t>
                    </m:r>
                  </m:sup>
                </m:sSup>
                <m:sSup>
                  <m:e>
                    <m:r>
                      <m:t>km</m:t>
                    </m:r>
                  </m:e>
                  <m:sup>
                    <m:r>
                      <m:t>-1</m:t>
                    </m:r>
                  </m:sup>
                </m:sSup>
              </m:oMath>
            </a14:m>
          </a:p>
          <a:p>
            <a:pPr>
              <a:spcBef>
                <a:spcPts val="0"/>
              </a:spcBef>
              <a:spcAft>
                <a:spcPts val="500"/>
              </a:spcAft>
              <a:defRPr sz="1100">
                <a:solidFill>
                  <a:srgbClr val="222222"/>
                </a:solidFill>
              </a:defRPr>
            </a:pPr>
            <a:r>
              <a:rPr sz="1100" b="0">
                <a:solidFill>
                  <a:srgbClr val="222222"/>
                </a:solidFill>
                <a:latin typeface="Arial"/>
              </a:rPr>
              <a:t>•  Amplified spans: dual-stage EDFAs with noise figure </a:t>
            </a:r>
            <a14:m xmlns:a14="http://schemas.microsoft.com/office/drawing/2010/main" xmlns:m="http://schemas.openxmlformats.org/officeDocument/2006/math">
              <m:oMath>
                <m:r>
                  <m:t>NF = 5.5 dB</m:t>
                </m:r>
              </m:oMath>
            </a14:m>
          </a:p>
          <a:p>
            <a:pPr>
              <a:spcBef>
                <a:spcPts val="0"/>
              </a:spcBef>
              <a:spcAft>
                <a:spcPts val="500"/>
              </a:spcAft>
              <a:defRPr sz="1100">
                <a:solidFill>
                  <a:srgbClr val="222222"/>
                </a:solidFill>
              </a:defRPr>
            </a:pPr>
            <a:r>
              <a:rPr sz="1100" b="0">
                <a:solidFill>
                  <a:srgbClr val="222222"/>
                </a:solidFill>
                <a:latin typeface="Arial"/>
              </a:rPr>
              <a:t>•  Dynamic span lengths ranging from </a:t>
            </a:r>
            <a14:m xmlns:a14="http://schemas.microsoft.com/office/drawing/2010/main" xmlns:m="http://schemas.openxmlformats.org/officeDocument/2006/math">
              <m:oMath>
                <m:r>
                  <m:t>L ∈ [45, 350] km</m:t>
                </m:r>
              </m:oMath>
            </a14:m>
          </a:p>
          <a:p>
            <a:pPr>
              <a:spcBef>
                <a:spcPts val="0"/>
              </a:spcBef>
              <a:spcAft>
                <a:spcPts val="500"/>
              </a:spcAft>
              <a:defRPr sz="1100">
                <a:solidFill>
                  <a:srgbClr val="222222"/>
                </a:solidFill>
              </a:defRPr>
            </a:pPr>
            <a:r>
              <a:rPr sz="1100" b="0">
                <a:solidFill>
                  <a:srgbClr val="222222"/>
                </a:solidFill>
                <a:latin typeface="Arial"/>
              </a:rPr>
              <a:t>•  Orchestrator: LangGraph StateGraph with memory persistence</a:t>
            </a:r>
          </a:p>
          <a:p>
            <a:pPr>
              <a:spcBef>
                <a:spcPts val="0"/>
              </a:spcBef>
              <a:spcAft>
                <a:spcPts val="500"/>
              </a:spcAft>
              <a:defRPr sz="1100">
                <a:solidFill>
                  <a:srgbClr val="222222"/>
                </a:solidFill>
              </a:defRPr>
            </a:pPr>
            <a:r>
              <a:rPr sz="1100" b="0">
                <a:solidFill>
                  <a:srgbClr val="222222"/>
                </a:solidFill>
                <a:latin typeface="Arial"/>
              </a:rPr>
              <a:t>•  Telemetry: RESTConf and Mock SDON testbed client adapters</a:t>
            </a:r>
          </a:p>
        </p:txBody>
      </p:sp>
      <p:sp>
        <p:nvSpPr>
          <p:cNvPr id="10" name="Rounded Rectangle 9"/>
          <p:cNvSpPr/>
          <p:nvPr/>
        </p:nvSpPr>
        <p:spPr>
          <a:xfrm>
            <a:off x="6080760" y="1188720"/>
            <a:ext cx="539496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80760" y="1188720"/>
            <a:ext cx="539496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Nobel-Germany 17-Node Optical Core Backbone</a:t>
            </a:r>
          </a:p>
        </p:txBody>
      </p:sp>
      <p:sp>
        <p:nvSpPr>
          <p:cNvPr id="12" name="Rounded Rectangle 11"/>
          <p:cNvSpPr/>
          <p:nvPr/>
        </p:nvSpPr>
        <p:spPr>
          <a:xfrm>
            <a:off x="6263640" y="5532120"/>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 17 ROADMs, 26 amplified fiber links, RESTConf telemetry</a:t>
            </a:r>
          </a:p>
        </p:txBody>
      </p:sp>
      <p:pic>
        <p:nvPicPr>
          <p:cNvPr id="13" name="Picture 12"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44240" cy="502920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442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Architectural Baselines</a:t>
            </a:r>
          </a:p>
        </p:txBody>
      </p:sp>
      <p:sp>
        <p:nvSpPr>
          <p:cNvPr id="9" name="TextBox 8"/>
          <p:cNvSpPr txBox="1"/>
          <p:nvPr/>
        </p:nvSpPr>
        <p:spPr>
          <a:xfrm>
            <a:off x="82296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Baseline A (LLM-Only): Direct prompt-to-configuration generation with heuristic retry</a:t>
            </a:r>
          </a:p>
          <a:p>
            <a:pPr>
              <a:spcBef>
                <a:spcPts val="0"/>
              </a:spcBef>
              <a:spcAft>
                <a:spcPts val="600"/>
              </a:spcAft>
              <a:defRPr sz="1200">
                <a:solidFill>
                  <a:srgbClr val="222222"/>
                </a:solidFill>
              </a:defRPr>
            </a:pPr>
            <a:r>
              <a:rPr sz="1200" b="0">
                <a:solidFill>
                  <a:srgbClr val="222222"/>
                </a:solidFill>
                <a:latin typeface="Arial"/>
              </a:rPr>
              <a:t>•  Baseline B (Static Rule-Based): Strict regex parser with always-on human review</a:t>
            </a:r>
          </a:p>
          <a:p>
            <a:pPr>
              <a:spcBef>
                <a:spcPts val="0"/>
              </a:spcBef>
              <a:spcAft>
                <a:spcPts val="600"/>
              </a:spcAft>
              <a:defRPr sz="1200">
                <a:solidFill>
                  <a:srgbClr val="222222"/>
                </a:solidFill>
              </a:defRPr>
            </a:pPr>
            <a:r>
              <a:rPr sz="1200" b="0">
                <a:solidFill>
                  <a:srgbClr val="222222"/>
                </a:solidFill>
                <a:latin typeface="Arial"/>
              </a:rPr>
              <a:t>•  Proposed (Neurosymbolic RADG): Decoupled translation + sequential risk gates</a:t>
            </a:r>
          </a:p>
          <a:p>
            <a:pPr>
              <a:spcBef>
                <a:spcPts val="0"/>
              </a:spcBef>
              <a:spcAft>
                <a:spcPts val="600"/>
              </a:spcAft>
              <a:defRPr sz="1200">
                <a:solidFill>
                  <a:srgbClr val="222222"/>
                </a:solidFill>
              </a:defRPr>
            </a:pPr>
            <a:r>
              <a:rPr sz="1200" b="0">
                <a:solidFill>
                  <a:srgbClr val="222222"/>
                </a:solidFill>
                <a:latin typeface="Arial"/>
              </a:rPr>
              <a:t>•  Evaluates LLM reasoning limits vs deterministic safety</a:t>
            </a:r>
          </a:p>
        </p:txBody>
      </p:sp>
      <p:sp>
        <p:nvSpPr>
          <p:cNvPr id="10" name="Rounded Rectangle 9"/>
          <p:cNvSpPr/>
          <p:nvPr/>
        </p:nvSpPr>
        <p:spPr>
          <a:xfrm>
            <a:off x="4358640" y="1188720"/>
            <a:ext cx="3444240" cy="50292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8640" y="118872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100 Test Demands (4 Classes)</a:t>
            </a:r>
          </a:p>
        </p:txBody>
      </p:sp>
      <p:sp>
        <p:nvSpPr>
          <p:cNvPr id="12" name="TextBox 11"/>
          <p:cNvSpPr txBox="1"/>
          <p:nvPr/>
        </p:nvSpPr>
        <p:spPr>
          <a:xfrm>
            <a:off x="449580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Nominal Intents [40]: Unambiguous requests with feasible physics</a:t>
            </a:r>
          </a:p>
          <a:p>
            <a:pPr>
              <a:spcBef>
                <a:spcPts val="0"/>
              </a:spcBef>
              <a:spcAft>
                <a:spcPts val="600"/>
              </a:spcAft>
              <a:defRPr sz="1200">
                <a:solidFill>
                  <a:srgbClr val="222222"/>
                </a:solidFill>
              </a:defRPr>
            </a:pPr>
            <a:r>
              <a:rPr sz="1200" b="0">
                <a:solidFill>
                  <a:srgbClr val="222222"/>
                </a:solidFill>
                <a:latin typeface="Arial"/>
              </a:rPr>
              <a:t>•  Ambiguous Intents [20]: Under-specified constraints triggering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600"/>
              </a:spcAft>
              <a:defRPr sz="1200">
                <a:solidFill>
                  <a:srgbClr val="222222"/>
                </a:solidFill>
              </a:defRPr>
            </a:pPr>
            <a:r>
              <a:rPr sz="1200" b="0">
                <a:solidFill>
                  <a:srgbClr val="222222"/>
                </a:solidFill>
                <a:latin typeface="Arial"/>
              </a:rPr>
              <a:t>•  Infeasible Intents [25]: High modulation over long spans (</a:t>
            </a:r>
            <a14:m xmlns:a14="http://schemas.microsoft.com/office/drawing/2010/main" xmlns:m="http://schemas.openxmlformats.org/officeDocument/2006/math">
              <m:oMath>
                <m:sSub>
                  <m:e>
                    <m:r>
                      <m:t>QoT</m:t>
                    </m:r>
                  </m:e>
                  <m:sub>
                    <m:r>
                      <m:t>valid</m:t>
                    </m:r>
                  </m:sub>
                </m:sSub>
                <m:r>
                  <m:t> = 0</m:t>
                </m:r>
              </m:oMath>
            </a14:m>
            <a:r>
              <a:rPr sz="1200" b="0">
                <a:solidFill>
                  <a:srgbClr val="222222"/>
                </a:solidFill>
                <a:latin typeface="Arial"/>
              </a:rPr>
              <a:t>)</a:t>
            </a:r>
          </a:p>
          <a:p>
            <a:pPr>
              <a:spcBef>
                <a:spcPts val="0"/>
              </a:spcBef>
              <a:spcAft>
                <a:spcPts val="600"/>
              </a:spcAft>
              <a:defRPr sz="1200">
                <a:solidFill>
                  <a:srgbClr val="222222"/>
                </a:solidFill>
              </a:defRPr>
            </a:pPr>
            <a:r>
              <a:rPr sz="1200" b="0">
                <a:solidFill>
                  <a:srgbClr val="222222"/>
                </a:solidFill>
                <a:latin typeface="Arial"/>
              </a:rPr>
              <a:t>•  Adversarial Prompts [15]: Hallucinated nodes (</a:t>
            </a:r>
            <a14:m xmlns:a14="http://schemas.microsoft.com/office/drawing/2010/main" xmlns:m="http://schemas.openxmlformats.org/officeDocument/2006/math">
              <m:oMath>
                <m:sSub>
                  <m:e>
                    <m:r>
                      <m:t>v</m:t>
                    </m:r>
                  </m:e>
                  <m:sub>
                    <m:r>
                      <m:t>struct</m:t>
                    </m:r>
                  </m:sub>
                </m:sSub>
                <m:r>
                  <m:t> = 0</m:t>
                </m:r>
              </m:oMath>
            </a14:m>
            <a:r>
              <a:rPr sz="1200" b="0">
                <a:solidFill>
                  <a:srgbClr val="222222"/>
                </a:solidFill>
                <a:latin typeface="Arial"/>
              </a:rPr>
              <a:t>) &amp; syntax violations</a:t>
            </a:r>
          </a:p>
        </p:txBody>
      </p:sp>
      <p:sp>
        <p:nvSpPr>
          <p:cNvPr id="13" name="Rounded Rectangle 12"/>
          <p:cNvSpPr/>
          <p:nvPr/>
        </p:nvSpPr>
        <p:spPr>
          <a:xfrm>
            <a:off x="8031480" y="1188720"/>
            <a:ext cx="3444240" cy="502920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31480" y="118872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Evaluation Metrics</a:t>
            </a:r>
          </a:p>
        </p:txBody>
      </p:sp>
      <p:sp>
        <p:nvSpPr>
          <p:cNvPr id="15" name="TextBox 14"/>
          <p:cNvSpPr txBox="1"/>
          <p:nvPr/>
        </p:nvSpPr>
        <p:spPr>
          <a:xfrm>
            <a:off x="816864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Pre-Deployment Blocking Accuracy: </a:t>
            </a:r>
            <a14:m xmlns:a14="http://schemas.microsoft.com/office/drawing/2010/main" xmlns:m="http://schemas.openxmlformats.org/officeDocument/2006/math">
              <m:oMath>
                <m:r>
                  <m:t>UAR = 100%</m:t>
                </m:r>
              </m:oMath>
            </a14:m>
            <a:r>
              <a:rPr sz="1200" b="0">
                <a:solidFill>
                  <a:srgbClr val="222222"/>
                </a:solidFill>
                <a:latin typeface="Arial"/>
              </a:rPr>
              <a:t> guarantee</a:t>
            </a:r>
          </a:p>
          <a:p>
            <a:pPr>
              <a:spcBef>
                <a:spcPts val="0"/>
              </a:spcBef>
              <a:spcAft>
                <a:spcPts val="600"/>
              </a:spcAft>
              <a:defRPr sz="1200">
                <a:solidFill>
                  <a:srgbClr val="222222"/>
                </a:solidFill>
              </a:defRPr>
            </a:pPr>
            <a:r>
              <a:rPr sz="1200" b="0">
                <a:solidFill>
                  <a:srgbClr val="222222"/>
                </a:solidFill>
                <a:latin typeface="Arial"/>
              </a:rPr>
              <a:t>•  Human Intervention Rate (</a:t>
            </a:r>
            <a14:m xmlns:a14="http://schemas.microsoft.com/office/drawing/2010/main" xmlns:m="http://schemas.openxmlformats.org/officeDocument/2006/math">
              <m:oMath>
                <m:r>
                  <m:t>HIC</m:t>
                </m:r>
              </m:oMath>
            </a14:m>
            <a:r>
              <a:rPr sz="1200" b="0">
                <a:solidFill>
                  <a:srgbClr val="222222"/>
                </a:solidFill>
                <a:latin typeface="Arial"/>
              </a:rPr>
              <a:t>): % demands requiring operator clarification</a:t>
            </a:r>
          </a:p>
          <a:p>
            <a:pPr>
              <a:spcBef>
                <a:spcPts val="0"/>
              </a:spcBef>
              <a:spcAft>
                <a:spcPts val="600"/>
              </a:spcAft>
              <a:defRPr sz="1200">
                <a:solidFill>
                  <a:srgbClr val="222222"/>
                </a:solidFill>
              </a:defRPr>
            </a:pPr>
            <a:r>
              <a:rPr sz="1200" b="0">
                <a:solidFill>
                  <a:srgbClr val="222222"/>
                </a:solidFill>
                <a:latin typeface="Arial"/>
              </a:rPr>
              <a:t>•  End-to-End Latency (</a:t>
            </a:r>
            <a14:m xmlns:a14="http://schemas.microsoft.com/office/drawing/2010/main" xmlns:m="http://schemas.openxmlformats.org/officeDocument/2006/math">
              <m:oMath>
                <m:sSub>
                  <m:e>
                    <m:r>
                      <m:t>T</m:t>
                    </m:r>
                  </m:e>
                  <m:sub>
                    <m:r>
                      <m:t>E2E</m:t>
                    </m:r>
                  </m:sub>
                </m:sSub>
              </m:oMath>
            </a14:m>
            <a:r>
              <a:rPr sz="1200" b="0">
                <a:solidFill>
                  <a:srgbClr val="222222"/>
                </a:solidFill>
                <a:latin typeface="Arial"/>
              </a:rPr>
              <a:t>): NL intent to planning report turnaround</a:t>
            </a:r>
          </a:p>
          <a:p>
            <a:pPr>
              <a:spcBef>
                <a:spcPts val="0"/>
              </a:spcBef>
              <a:spcAft>
                <a:spcPts val="600"/>
              </a:spcAft>
              <a:defRPr sz="1200">
                <a:solidFill>
                  <a:srgbClr val="222222"/>
                </a:solidFill>
              </a:defRPr>
            </a:pPr>
            <a:r>
              <a:rPr sz="1200" b="0">
                <a:solidFill>
                  <a:srgbClr val="222222"/>
                </a:solidFill>
                <a:latin typeface="Arial"/>
              </a:rPr>
              <a:t>•  Token Consumption (</a:t>
            </a:r>
            <a14:m xmlns:a14="http://schemas.microsoft.com/office/drawing/2010/main" xmlns:m="http://schemas.openxmlformats.org/officeDocument/2006/math">
              <m:oMath>
                <m:sSub>
                  <m:e>
                    <m:r>
                      <m:t>T</m:t>
                    </m:r>
                  </m:e>
                  <m:sub>
                    <m:r>
                      <m:t>prompt</m:t>
                    </m:r>
                  </m:sub>
                </m:sSub>
              </m:oMath>
            </a14:m>
            <a:r>
              <a:rPr sz="1200" b="0">
                <a:solidFill>
                  <a:srgbClr val="222222"/>
                </a:solidFill>
                <a:latin typeface="Arial"/>
              </a:rPr>
              <a:t>): Overhead across scoped vs full topologies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61872"/>
            <a:ext cx="4572000" cy="1362456"/>
          </a:xfrm>
          <a:prstGeom prst="rect">
            <a:avLst/>
          </a:prstGeom>
          <a:noFill/>
        </p:spPr>
        <p:txBody>
          <a:bodyPr wrap="square" lIns="45720">
            <a:spAutoFit/>
          </a:bodyPr>
          <a:lstStyle/>
          <a:p>
            <a:pP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defRPr>
            </a:pPr>
            <a14:m xmlns:a14="http://schemas.microsoft.com/office/drawing/2010/main" xmlns:m="http://schemas.openxmlformats.org/officeDocument/2006/math">
              <m:oMath>
                <m:r>
                  <m:t>UAR = 100%</m:t>
                </m:r>
              </m:oMath>
            </a14:m>
            <a:r>
              <a:rPr sz="1000" b="0">
                <a:solidFill>
                  <a:srgbClr val="222222"/>
                </a:solidFill>
                <a:latin typeface="Arial"/>
              </a:rPr>
              <a:t>: Zero unfeasible lightpaths reach controller (vs 34% in baseline)</a:t>
            </a:r>
          </a:p>
        </p:txBody>
      </p:sp>
      <p:sp>
        <p:nvSpPr>
          <p:cNvPr id="9" name="Rounded Rectangle 8"/>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53512"/>
            <a:ext cx="4572000" cy="1362456"/>
          </a:xfrm>
          <a:prstGeom prst="rect">
            <a:avLst/>
          </a:prstGeom>
          <a:noFill/>
        </p:spPr>
        <p:txBody>
          <a:bodyPr wrap="square" lIns="45720">
            <a:spAutoFit/>
          </a:bodyPr>
          <a:lstStyle/>
          <a:p>
            <a:pP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defRPr>
            </a:pPr>
            <a:r>
              <a:rPr sz="1000" b="0">
                <a:solidFill>
                  <a:srgbClr val="222222"/>
                </a:solidFill>
                <a:latin typeface="Arial"/>
              </a:rPr>
              <a:t>Autonomous approval when </a:t>
            </a:r>
            <a14:m xmlns:a14="http://schemas.microsoft.com/office/drawing/2010/main" xmlns:m="http://schemas.openxmlformats.org/officeDocument/2006/math">
              <m:oMath>
                <m:sSub>
                  <m:e>
                    <m:r>
                      <m:t>U</m:t>
                    </m:r>
                  </m:e>
                  <m:sub>
                    <m:r>
                      <m:t>sem</m:t>
                    </m:r>
                  </m:sub>
                </m:sSub>
                <m:r>
                  <m:t> ≤ </m:t>
                </m:r>
                <m:sSub>
                  <m:e>
                    <m:r>
                      <m:t>τ</m:t>
                    </m:r>
                  </m:e>
                  <m:sub>
                    <m:r>
                      <m:t>sem</m:t>
                    </m:r>
                  </m:sub>
                </m:sSub>
              </m:oMath>
            </a14:m>
            <a:r>
              <a:rPr sz="1000" b="0">
                <a:solidFill>
                  <a:srgbClr val="222222"/>
                </a:solidFill>
                <a:latin typeface="Arial"/>
              </a:rPr>
              <a:t> (operator engaged only on high risk)</a:t>
            </a:r>
          </a:p>
        </p:txBody>
      </p:sp>
      <p:sp>
        <p:nvSpPr>
          <p:cNvPr id="11" name="Rounded Rectangle 10"/>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45152"/>
            <a:ext cx="4572000" cy="1362456"/>
          </a:xfrm>
          <a:prstGeom prst="rect">
            <a:avLst/>
          </a:prstGeom>
          <a:noFill/>
        </p:spPr>
        <p:txBody>
          <a:bodyPr wrap="square" lIns="45720">
            <a:spAutoFit/>
          </a:bodyPr>
          <a:lstStyle/>
          <a:p>
            <a:pPr>
              <a:defRPr sz="3200" b="1">
                <a:solidFill>
                  <a:srgbClr val="0F2C53"/>
                </a:solidFill>
                <a:latin typeface="Titillium Web SemiBold"/>
              </a:defRPr>
            </a:pPr>
            <a:r>
              <a:t>&lt; 5 ms</a:t>
            </a:r>
          </a:p>
          <a:p>
            <a:pPr>
              <a:defRPr sz="1300" b="1">
                <a:solidFill>
                  <a:srgbClr val="0F2C53"/>
                </a:solidFill>
                <a:latin typeface="Titillium Web SemiBold"/>
              </a:defRPr>
            </a:pPr>
            <a:r>
              <a:t>Deterministic Physics Latency</a:t>
            </a:r>
          </a:p>
          <a:p>
            <a:pPr>
              <a:defRPr sz="1000">
                <a:solidFill>
                  <a:srgbClr val="222222"/>
                </a:solidFill>
              </a:defRPr>
            </a:pPr>
            <a:r>
              <a:rPr sz="1000" b="0">
                <a:solidFill>
                  <a:srgbClr val="222222"/>
                </a:solidFill>
                <a:latin typeface="Arial"/>
              </a:rPr>
              <a:t>GN model executes in </a:t>
            </a:r>
            <a14:m xmlns:a14="http://schemas.microsoft.com/office/drawing/2010/main" xmlns:m="http://schemas.openxmlformats.org/officeDocument/2006/math">
              <m:oMath>
                <m:sSub>
                  <m:e>
                    <m:r>
                      <m:t>T</m:t>
                    </m:r>
                  </m:e>
                  <m:sub>
                    <m:r>
                      <m:t>phys</m:t>
                    </m:r>
                  </m:sub>
                </m:sSub>
                <m:r>
                  <m:t> &lt; 5 ms</m:t>
                </m:r>
              </m:oMath>
            </a14:m>
            <a:r>
              <a:rPr sz="1000" b="0">
                <a:solidFill>
                  <a:srgbClr val="222222"/>
                </a:solidFill>
                <a:latin typeface="Arial"/>
              </a:rPr>
              <a:t> (</a:t>
            </a:r>
            <a14:m xmlns:a14="http://schemas.microsoft.com/office/drawing/2010/main" xmlns:m="http://schemas.openxmlformats.org/officeDocument/2006/math">
              <m:oMath>
                <m:sSub>
                  <m:e>
                    <m:r>
                      <m:t>T</m:t>
                    </m:r>
                  </m:e>
                  <m:sub>
                    <m:r>
                      <m:t>solver</m:t>
                    </m:r>
                  </m:sub>
                </m:sSub>
                <m:r>
                  <m:t> &lt; 10 ms</m:t>
                </m:r>
              </m:oMath>
            </a14:m>
            <a:r>
              <a:rPr sz="1000" b="0">
                <a:solidFill>
                  <a:srgbClr val="222222"/>
                </a:solidFill>
                <a:latin typeface="Arial"/>
              </a:rPr>
              <a:t>, sub-second total)</a:t>
            </a:r>
          </a:p>
        </p:txBody>
      </p:sp>
      <p:sp>
        <p:nvSpPr>
          <p:cNvPr id="13" name="Rounded Rectangle 12"/>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TextBox 8"/>
          <p:cNvSpPr txBox="1"/>
          <p:nvPr/>
        </p:nvSpPr>
        <p:spPr>
          <a:xfrm>
            <a:off x="82296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Probabilistic LLMs must never calculate physical impairments or route lightpaths</a:t>
            </a:r>
          </a:p>
          <a:p>
            <a:pPr>
              <a:spcBef>
                <a:spcPts val="0"/>
              </a:spcBef>
              <a:spcAft>
                <a:spcPts val="300"/>
              </a:spcAft>
              <a:defRPr sz="1100">
                <a:solidFill>
                  <a:srgbClr val="222222"/>
                </a:solidFill>
              </a:defRPr>
            </a:pPr>
            <a:r>
              <a:rPr sz="1100" b="0">
                <a:solidFill>
                  <a:srgbClr val="222222"/>
                </a:solidFill>
                <a:latin typeface="Arial"/>
              </a:rPr>
              <a:t>•  Natural language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100" b="0">
                <a:solidFill>
                  <a:srgbClr val="222222"/>
                </a:solidFill>
                <a:latin typeface="Arial"/>
              </a:rPr>
              <a:t> bridges to formal planning</a:t>
            </a:r>
          </a:p>
          <a:p>
            <a:pPr>
              <a:spcBef>
                <a:spcPts val="0"/>
              </a:spcBef>
              <a:spcAft>
                <a:spcPts val="300"/>
              </a:spcAft>
              <a:defRPr sz="1100">
                <a:solidFill>
                  <a:srgbClr val="222222"/>
                </a:solidFill>
              </a:defRPr>
            </a:pPr>
            <a:r>
              <a:rPr sz="1100" b="0">
                <a:solidFill>
                  <a:srgbClr val="222222"/>
                </a:solidFill>
                <a:latin typeface="Arial"/>
              </a:rPr>
              <a:t>•  Guarantees formal soundness without constraining operator expressiveness</a:t>
            </a:r>
          </a:p>
        </p:txBody>
      </p:sp>
      <p:sp>
        <p:nvSpPr>
          <p:cNvPr id="10" name="Rounded Rectangle 9"/>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2" name="TextBox 11"/>
          <p:cNvSpPr txBox="1"/>
          <p:nvPr/>
        </p:nvSpPr>
        <p:spPr>
          <a:xfrm>
            <a:off x="635508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Early semantic evaluation (</a:t>
            </a:r>
            <a14:m xmlns:a14="http://schemas.microsoft.com/office/drawing/2010/main" xmlns:m="http://schemas.openxmlformats.org/officeDocument/2006/math">
              <m:oMath>
                <m:sSub>
                  <m:e>
                    <m:r>
                      <m:t>U</m:t>
                    </m:r>
                  </m:e>
                  <m:sub>
                    <m:r>
                      <m:t>sem</m:t>
                    </m:r>
                  </m:sub>
                </m:sSub>
                <m:r>
                  <m:t> ≤ </m:t>
                </m:r>
                <m:sSub>
                  <m:e>
                    <m:r>
                      <m:t>τ</m:t>
                    </m:r>
                  </m:e>
                  <m:sub>
                    <m:r>
                      <m:t>sem</m:t>
                    </m:r>
                  </m:sub>
                </m:sSub>
              </m:oMath>
            </a14:m>
            <a:r>
              <a:rPr sz="1100" b="0">
                <a:solidFill>
                  <a:srgbClr val="222222"/>
                </a:solidFill>
                <a:latin typeface="Arial"/>
              </a:rPr>
              <a:t>) eliminates drift before physics computation</a:t>
            </a:r>
          </a:p>
          <a:p>
            <a:pPr>
              <a:spcBef>
                <a:spcPts val="0"/>
              </a:spcBef>
              <a:spcAft>
                <a:spcPts val="300"/>
              </a:spcAft>
              <a:defRPr sz="1100">
                <a:solidFill>
                  <a:srgbClr val="222222"/>
                </a:solidFill>
              </a:defRPr>
            </a:pPr>
            <a:r>
              <a:rPr sz="1100" b="0">
                <a:solidFill>
                  <a:srgbClr val="222222"/>
                </a:solidFill>
                <a:latin typeface="Arial"/>
              </a:rPr>
              <a:t>•  Deterministic GN-model verification (</a:t>
            </a:r>
            <a14:m xmlns:a14="http://schemas.microsoft.com/office/drawing/2010/main" xmlns:m="http://schemas.openxmlformats.org/officeDocument/2006/math">
              <m:oMath>
                <m:sSub>
                  <m:e>
                    <m:r>
                      <m:t>QoT</m:t>
                    </m:r>
                  </m:e>
                  <m:sub>
                    <m:r>
                      <m:t>valid</m:t>
                    </m:r>
                  </m:sub>
                </m:sSub>
                <m:r>
                  <m:t> = 1</m:t>
                </m:r>
              </m:oMath>
            </a14:m>
            <a:r>
              <a:rPr sz="1100" b="0">
                <a:solidFill>
                  <a:srgbClr val="222222"/>
                </a:solidFill>
                <a:latin typeface="Arial"/>
              </a:rPr>
              <a:t>) ensures 100% physical feasibility</a:t>
            </a:r>
          </a:p>
          <a:p>
            <a:pPr>
              <a:spcBef>
                <a:spcPts val="0"/>
              </a:spcBef>
              <a:spcAft>
                <a:spcPts val="300"/>
              </a:spcAft>
              <a:defRPr sz="1100">
                <a:solidFill>
                  <a:srgbClr val="222222"/>
                </a:solidFill>
              </a:defRPr>
            </a:pPr>
            <a:r>
              <a:rPr sz="1100" b="0">
                <a:solidFill>
                  <a:srgbClr val="222222"/>
                </a:solidFill>
                <a:latin typeface="Arial"/>
              </a:rPr>
              <a:t>•  Zero unverified configurations ever reach the optical controller</a:t>
            </a:r>
          </a:p>
        </p:txBody>
      </p:sp>
      <p:sp>
        <p:nvSpPr>
          <p:cNvPr id="13" name="Rounded Rectangle 12"/>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5" name="TextBox 14"/>
          <p:cNvSpPr txBox="1"/>
          <p:nvPr/>
        </p:nvSpPr>
        <p:spPr>
          <a:xfrm>
            <a:off x="82296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Engaging operators proportionally to risk eliminates fatigue while maintaining safety</a:t>
            </a:r>
          </a:p>
          <a:p>
            <a:pPr>
              <a:spcBef>
                <a:spcPts val="0"/>
              </a:spcBef>
              <a:spcAft>
                <a:spcPts val="300"/>
              </a:spcAft>
              <a:defRPr sz="1100">
                <a:solidFill>
                  <a:srgbClr val="222222"/>
                </a:solidFill>
              </a:defRPr>
            </a:pPr>
            <a:r>
              <a:rPr sz="1100" b="0">
                <a:solidFill>
                  <a:srgbClr val="222222"/>
                </a:solidFill>
                <a:latin typeface="Arial"/>
              </a:rPr>
              <a:t>•  Over 70% reduction in human intervention compared to always-on review</a:t>
            </a:r>
          </a:p>
          <a:p>
            <a:pPr>
              <a:spcBef>
                <a:spcPts val="0"/>
              </a:spcBef>
              <a:spcAft>
                <a:spcPts val="300"/>
              </a:spcAft>
              <a:defRPr sz="1100">
                <a:solidFill>
                  <a:srgbClr val="222222"/>
                </a:solidFill>
              </a:defRPr>
            </a:pPr>
            <a:r>
              <a:rPr sz="1100" b="0">
                <a:solidFill>
                  <a:srgbClr val="222222"/>
                </a:solidFill>
                <a:latin typeface="Arial"/>
              </a:rPr>
              <a:t>•  Sub-second planning latency enables rapid dynamic lightpath turn-up</a:t>
            </a:r>
          </a:p>
        </p:txBody>
      </p:sp>
      <p:sp>
        <p:nvSpPr>
          <p:cNvPr id="16" name="Rounded Rectangle 15"/>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
        <p:nvSpPr>
          <p:cNvPr id="18" name="TextBox 17"/>
          <p:cNvSpPr txBox="1"/>
          <p:nvPr/>
        </p:nvSpPr>
        <p:spPr>
          <a:xfrm>
            <a:off x="635508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Fully implemented LangGraph state machine with memory checkpoints</a:t>
            </a:r>
          </a:p>
          <a:p>
            <a:pPr>
              <a:spcBef>
                <a:spcPts val="0"/>
              </a:spcBef>
              <a:spcAft>
                <a:spcPts val="300"/>
              </a:spcAft>
              <a:defRPr sz="1100">
                <a:solidFill>
                  <a:srgbClr val="222222"/>
                </a:solidFill>
              </a:defRPr>
            </a:pPr>
            <a:r>
              <a:rPr sz="1100" b="0">
                <a:solidFill>
                  <a:srgbClr val="222222"/>
                </a:solidFill>
                <a:latin typeface="Arial"/>
              </a:rPr>
              <a:t>•  Benchmarked on realistic </a:t>
            </a:r>
            <a14:m xmlns:a14="http://schemas.microsoft.com/office/drawing/2010/main" xmlns:m="http://schemas.openxmlformats.org/officeDocument/2006/math">
              <m:oMath>
                <m:r>
                  <m:t>|V| = 17, |E| = 26</m:t>
                </m:r>
              </m:oMath>
            </a14:m>
            <a:r>
              <a:rPr sz="1100" b="0">
                <a:solidFill>
                  <a:srgbClr val="222222"/>
                </a:solidFill>
                <a:latin typeface="Arial"/>
              </a:rPr>
              <a:t> German topology and RESTConf testbed</a:t>
            </a:r>
          </a:p>
          <a:p>
            <a:pPr>
              <a:spcBef>
                <a:spcPts val="0"/>
              </a:spcBef>
              <a:spcAft>
                <a:spcPts val="300"/>
              </a:spcAft>
              <a:defRPr sz="1100">
                <a:solidFill>
                  <a:srgbClr val="222222"/>
                </a:solidFill>
              </a:defRPr>
            </a:pPr>
            <a:r>
              <a:rPr sz="1100" b="0">
                <a:solidFill>
                  <a:srgbClr val="222222"/>
                </a:solidFill>
                <a:latin typeface="Arial"/>
              </a:rPr>
              <a:t>•  Establishes a reproducible foundation for autonomous optical networking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